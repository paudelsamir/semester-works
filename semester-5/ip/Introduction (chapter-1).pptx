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2"/>
  </p:notes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  <p:sldId id="326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  <p:sldId id="340" r:id="rId83"/>
    <p:sldId id="341" r:id="rId84"/>
    <p:sldId id="342" r:id="rId85"/>
    <p:sldId id="343" r:id="rId86"/>
    <p:sldId id="344" r:id="rId87"/>
    <p:sldId id="345" r:id="rId88"/>
    <p:sldId id="346" r:id="rId89"/>
    <p:sldId id="347" r:id="rId90"/>
    <p:sldId id="348" r:id="rId91"/>
    <p:sldId id="349" r:id="rId92"/>
    <p:sldId id="350" r:id="rId93"/>
    <p:sldId id="351" r:id="rId94"/>
    <p:sldId id="352" r:id="rId95"/>
    <p:sldId id="353" r:id="rId96"/>
    <p:sldId id="354" r:id="rId97"/>
    <p:sldId id="355" r:id="rId98"/>
    <p:sldId id="356" r:id="rId99"/>
    <p:sldId id="357" r:id="rId100"/>
    <p:sldId id="358" r:id="rId101"/>
    <p:sldId id="359" r:id="rId102"/>
    <p:sldId id="360" r:id="rId103"/>
    <p:sldId id="361" r:id="rId104"/>
    <p:sldId id="362" r:id="rId105"/>
    <p:sldId id="363" r:id="rId106"/>
    <p:sldId id="364" r:id="rId107"/>
    <p:sldId id="365" r:id="rId108"/>
    <p:sldId id="366" r:id="rId109"/>
    <p:sldId id="367" r:id="rId110"/>
    <p:sldId id="368" r:id="rId111"/>
    <p:sldId id="369" r:id="rId112"/>
    <p:sldId id="370" r:id="rId113"/>
    <p:sldId id="371" r:id="rId114"/>
    <p:sldId id="372" r:id="rId115"/>
    <p:sldId id="373" r:id="rId116"/>
    <p:sldId id="374" r:id="rId117"/>
    <p:sldId id="375" r:id="rId118"/>
    <p:sldId id="376" r:id="rId119"/>
    <p:sldId id="377" r:id="rId120"/>
    <p:sldId id="378" r:id="rId121"/>
    <p:sldId id="379" r:id="rId122"/>
    <p:sldId id="380" r:id="rId123"/>
    <p:sldId id="381" r:id="rId124"/>
    <p:sldId id="382" r:id="rId125"/>
    <p:sldId id="383" r:id="rId126"/>
    <p:sldId id="384" r:id="rId127"/>
    <p:sldId id="385" r:id="rId128"/>
    <p:sldId id="386" r:id="rId129"/>
    <p:sldId id="387" r:id="rId130"/>
    <p:sldId id="388" r:id="rId1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73" d="100"/>
          <a:sy n="73" d="100"/>
        </p:scale>
        <p:origin x="5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viewProps" Target="viewProp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theme" Target="theme/theme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notesMaster" Target="notesMasters/notesMaster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F709CE-2981-4789-8894-88C0BA36ECC9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F6A790-3022-4C70-A064-ECBEE3DE190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40921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3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4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D177E915-3D49-4FB0-B293-50CF0DBE098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B3BCBAF-A8CC-4411-92EC-396B294AA6C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17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7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7475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7E725EB-CCA8-49CE-9FD1-7AFD6636597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1F8F49F-38DD-4F26-94E1-40EB879E106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22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22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75825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1E5C74C8-CFB3-4C7E-BE94-0B071CB7285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6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8F58D8C-1A33-4557-875E-2FA35C61948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26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26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400329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2B65820-C5B9-446C-9A75-1C8A9B7138E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31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5E5BC0E-A784-4582-A6CC-BF11C6E8C53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331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31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Real world is continuous – an image is simply a digital approximation of this.</a:t>
            </a:r>
          </a:p>
        </p:txBody>
      </p:sp>
    </p:spTree>
    <p:extLst>
      <p:ext uri="{BB962C8B-B14F-4D97-AF65-F5344CB8AC3E}">
        <p14:creationId xmlns:p14="http://schemas.microsoft.com/office/powerpoint/2010/main" val="7381857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783161A-3BCE-4B15-80F7-DF9D7D2EB14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9467916-3447-4260-9CD4-F9BDF7D0374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36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36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180759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2B47113-7401-4CA4-83DF-8B2B02F132D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6C6C047-C048-4C3B-880B-13B44EC171D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41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46800" cy="3457575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41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898525" y="4359275"/>
            <a:ext cx="5011738" cy="4132263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90070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77E8D85-3AF8-4FD0-8A64-3041DE649B8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5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6B4C350-AE85-4309-B83D-03E959C66AC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946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946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740122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71053B9-5AB3-4439-BF2B-35806386E50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4947E29-6599-4544-9C39-425BCEBE15E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150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150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Give the analogy of the character recognition system.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Low Level: Cleaning up the image of some text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Mid level: Segmenting the text from the background and recognising individual characters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latin typeface="Arial" panose="020B0604020202020204" pitchFamily="34" charset="0"/>
                <a:ea typeface="ＭＳ Ｐゴシック" panose="020B0600070205080204" pitchFamily="34" charset="-128"/>
              </a:rPr>
              <a:t>High level: Understanding what the text says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IE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4005276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3B389B5-3279-4043-8148-FC614E0D8BA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DB1C810-EAA4-4090-8705-093CE8CCE77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355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355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87583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EB4942C9-DA4C-4134-A936-7FEDD556EA8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60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87037D0-6B2F-4D3A-8D17-6F85C506A8F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560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560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78308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F0CF4A1-42AE-4EAC-8AF9-75B8CAE7BF6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5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44E08E9-1BBA-4756-892C-9B04DCAADBB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765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65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5188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CDA099E-496F-4EC9-ADE9-C7C0AB37C2D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969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BA9961A-42A6-4F4E-B53C-DC74F10DE88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2970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970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0040494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1DCDCAA-F0DC-41AF-A1BD-117E070800D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6870FBB-2A9A-47F1-AC71-305A106109E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174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174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965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26EF1E7-17D4-484D-BDD8-E9E37A83C0E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79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D0DFC94-5BEB-4858-8624-467C1ACAB57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379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379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582032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09EF5E4-17C1-4D8C-9BE9-1A0A95D8112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84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D85C770-BEB3-49E3-80E8-3BFED555378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584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584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957426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690676F-F9D6-420E-B7C4-C166C95F0AE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4FD7216-B24B-4022-8D49-D491E2D07DF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789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789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075434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EDB018C9-619F-449A-8757-2E899DA9E86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A39A443-17E4-4886-9478-6960BB7C315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3994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994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37942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BD02E1AB-D981-4069-B58D-5C31DFFBA65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3172627-95EA-438E-82B7-A9EA757860D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198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198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5470764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C9B1466-39F9-4E66-AD92-BF0E462DF96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19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403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E283B4A-B6A3-426F-BC38-35DAE136094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19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403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403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953464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1A4DA6B9-4E6D-4136-B1E4-9E36F9BAE8A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02CE8CB0-B1DA-4892-B8B5-8216DC675FD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608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608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90124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64526BC-9A76-47B1-9346-1CF9C55377B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4C05EA2-0694-4559-90F2-3B6E6043CF1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4813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4813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948537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AEBB6E1-ACC3-4083-93CA-D732486D961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17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6F0EF3C-F5B6-4548-B153-FC531994108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018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018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4805330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CDAD6C2-5DE0-47C8-BC31-495A49FEC62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222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2B15F19-D340-4791-802C-1898A47C840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222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222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7415519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E1AEEEB5-3772-4C79-9B0E-1822478AA192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A7C2664-1183-4B79-8B5B-30D90D44F21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427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427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4657397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62BF7A3-ABCC-44DE-A423-FB4EBA4F034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632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93D65C9-A8F6-4B29-A750-DA5BE17C794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632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632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82234184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CEDEED8-6AB6-4F69-A4BF-F547B1D7FED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583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A12B84D-ECEA-47AE-BD56-C02AF1977D4E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5837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5837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318704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35E5F196-E0C1-4F63-A9EF-F8C328B7CDD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41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D9EBB59B-B2EB-450B-A670-32BFA398F4B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042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042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450768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E395DA6-0AF2-4C1B-98CD-BB779290950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246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A725AC8-A238-4691-BD5B-BEB9FF221B2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246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246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9167948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BF1DD5F-36BE-451F-BB72-B024A14D98F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29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F56EE54-1B9D-4734-B867-E5563B0EE4E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29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451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451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283053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17243691-C727-47B8-AC19-ECD3D3AF095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9E7F81B-1FD8-4DE6-95C2-FB878B3BC7B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656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656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7933190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8B974B2-F2BC-4ED8-8D5C-6C6C0BA8704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861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02427E0-ADF4-4A35-A9EF-0E79A833AF8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6861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6861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7117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08AB47C-2D33-4314-8D1E-E5628BEEA8B2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65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6B49085-B426-4FB6-B199-909E0C5109B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066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066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4590266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EFE6C1F0-77B1-4EFC-AAF8-0E80FA15D8E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270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6085477-97D2-4ECE-8699-F4861C8DCDE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270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270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198674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CC6BF014-EBB8-4598-BA52-ED2042D6F8B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475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68C3413-12ED-47EE-8AAB-6433DF2AA65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475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475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GB" altLang="en-US" smtClean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3887082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0C601F0-4FEF-4E3E-A96F-4944DE0E6CF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18026D0-D14E-4D31-8D2D-9326C339220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680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680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2095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108B5C2A-61B0-4921-9256-CBD3A918D90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788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64775F1-1492-49C2-B178-275E890DF65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7885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885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19337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7ECCA076-220E-40AC-AC96-6B92356AB2A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08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BE5775D-2083-485C-B9BC-57C06109705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090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090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Cornea and sclera keep everything in!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The choroid contains all of the blood vessels that serve as nutrition to the eye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The iris contains the pigment that gives our eyes their colour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Rods for general vison cones for details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Blind spot is where the optic nerve connects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BLIND SPOT EXPERIMENT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Women have extra cones which means they can see more colours</a:t>
            </a:r>
          </a:p>
        </p:txBody>
      </p:sp>
    </p:spTree>
    <p:extLst>
      <p:ext uri="{BB962C8B-B14F-4D97-AF65-F5344CB8AC3E}">
        <p14:creationId xmlns:p14="http://schemas.microsoft.com/office/powerpoint/2010/main" val="33703953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A062DC5-0BD4-494E-BFB2-CE7A5BA75BB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9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875DAF7-9F99-45CB-9FD6-36872F73160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294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294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604904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B9AD7C5-D2AD-4ABF-9312-FCB1210A071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39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49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2DCB657-E551-4E7D-BC81-DBD881BB8DC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39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499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499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946797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CD38CA5E-071E-408D-86AB-9AEB4D46A8A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704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C5E25D0-5E86-4558-A1D6-EECC843742B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704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704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478772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01ED330-F845-4A5A-A6D4-9D8076AB992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CC2E7CE-7DB0-4FBC-8D68-2335047DBE6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8909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8909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Mach bands were named after Ernst Mach who described the phenomenon in 1865</a:t>
            </a:r>
          </a:p>
        </p:txBody>
      </p:sp>
    </p:spTree>
    <p:extLst>
      <p:ext uri="{BB962C8B-B14F-4D97-AF65-F5344CB8AC3E}">
        <p14:creationId xmlns:p14="http://schemas.microsoft.com/office/powerpoint/2010/main" val="229621891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F3730B3-13DB-4DB8-AC79-B8434F4EC6A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11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ED932A2-C59E-4650-A9DF-DB8134D8011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114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114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Mach bands were named after Ernst Mach who described the phenomenon in 1865</a:t>
            </a:r>
          </a:p>
        </p:txBody>
      </p:sp>
    </p:spTree>
    <p:extLst>
      <p:ext uri="{BB962C8B-B14F-4D97-AF65-F5344CB8AC3E}">
        <p14:creationId xmlns:p14="http://schemas.microsoft.com/office/powerpoint/2010/main" val="26011478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761887A-6845-4EB0-B1BD-6E67E6688D9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18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F78F9C9-C8E4-49DC-B69E-5665115A20D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318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3189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Mach bands were named after Ernst Mach who described the phenomenon in 1865</a:t>
            </a:r>
          </a:p>
        </p:txBody>
      </p:sp>
    </p:spTree>
    <p:extLst>
      <p:ext uri="{BB962C8B-B14F-4D97-AF65-F5344CB8AC3E}">
        <p14:creationId xmlns:p14="http://schemas.microsoft.com/office/powerpoint/2010/main" val="410644190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8F1FD0F-D805-454C-BE85-BF920FDE539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52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31958E6-4C88-41CE-A473-03A3C2E164F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523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523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Mach bands were named after Ernst Mach who described the phenomenon in 1865</a:t>
            </a:r>
          </a:p>
        </p:txBody>
      </p:sp>
    </p:spTree>
    <p:extLst>
      <p:ext uri="{BB962C8B-B14F-4D97-AF65-F5344CB8AC3E}">
        <p14:creationId xmlns:p14="http://schemas.microsoft.com/office/powerpoint/2010/main" val="1090815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B66806F-1A37-4841-8900-DDC4C3AE84E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728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728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  <p:sp>
        <p:nvSpPr>
          <p:cNvPr id="97285" name="Text Box 3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9854689-BD62-445B-A95A-808CA60A86B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45</a:t>
            </a:fld>
            <a:endParaRPr lang="en-US" altLang="en-US" sz="1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8933450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7200AC3-3623-4D34-9C47-7DF334D1492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9933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F7B5D5D-4564-4807-A1A8-275DF92BF4E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9933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9933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68116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18847DA-FE96-49D4-BAA1-9720A54C58F3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137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DA9699D-12F9-4633-9C40-B22A8B71E38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138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1381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In 1666 Sir Isaac Newton discovered that light passed through a prism splits into a continuous spectrum of colours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Many image applications use electromagnetic radiation that is far outside the visual spectrum – x-ray images, infra-red images – we genrate images of these images by mapping them to the visual spectrum</a:t>
            </a:r>
          </a:p>
        </p:txBody>
      </p:sp>
    </p:spTree>
    <p:extLst>
      <p:ext uri="{BB962C8B-B14F-4D97-AF65-F5344CB8AC3E}">
        <p14:creationId xmlns:p14="http://schemas.microsoft.com/office/powerpoint/2010/main" val="30817494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EB240610-F344-4D4E-B24B-36A7ADEA9B9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42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8391007-9D7D-4DE5-9F91-16D6A6E5EB9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342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342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84590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5DC7B7B-E7F2-4FB0-B13D-F2F772C9CD4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49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547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A0D4824-16A4-41C5-BCB6-CB5CDD40168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49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547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547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44576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577D2FA-4A06-4040-B959-4DAEF3AF6AEB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752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A3C81067-6CA6-4770-9FD8-D01D1062B387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752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752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956912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741F6E90-EC0E-42FE-B1A7-8104B832C0B4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95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43DDBF0-BA38-4440-9BB3-ED6B3926A1C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0957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0957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96411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D654262-B393-4586-89D7-647BDF61E327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16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B8476E4-5B1D-4418-88DB-5D4E250EAC4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162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162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510505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FD4C448-EB06-4403-9D5A-4089B76B042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36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640786D-1C08-4193-BF14-93061F15961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366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366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958543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056B725-4507-4954-BDC2-B159ABE3046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57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68FBB05-B5DB-44AB-93B5-0BE84D09D8C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571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5717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Analogue Vs digital</a:t>
            </a:r>
          </a:p>
          <a:p>
            <a:pPr eaLnBrk="1" hangingPunct="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Think of the volume knob on your stereo</a:t>
            </a:r>
          </a:p>
          <a:p>
            <a:pPr eaLnBrk="1" hangingPunct="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Records Vs CDs Vs Mp3s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IE" altLang="en-US" smtClean="0">
              <a:cs typeface="Arial Unicode MS" charset="0"/>
            </a:endParaRP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Nyquist theory etc talks about how much sampling we need to do</a:t>
            </a:r>
          </a:p>
        </p:txBody>
      </p:sp>
    </p:spTree>
    <p:extLst>
      <p:ext uri="{BB962C8B-B14F-4D97-AF65-F5344CB8AC3E}">
        <p14:creationId xmlns:p14="http://schemas.microsoft.com/office/powerpoint/2010/main" val="69711294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C3DD97B-43E2-4653-8A76-BEF6827482D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776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3BE144C-4FD1-40A5-977C-E5514137DC3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776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7765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Analogue Vs digital</a:t>
            </a:r>
          </a:p>
          <a:p>
            <a:pPr eaLnBrk="1" hangingPunct="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Think of the volume knob on your stereo</a:t>
            </a:r>
          </a:p>
          <a:p>
            <a:pPr eaLnBrk="1" hangingPunct="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Records Vs CDs Vs Mp3s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IE" altLang="en-US" smtClean="0">
              <a:cs typeface="Arial Unicode MS" charset="0"/>
            </a:endParaRP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Nyquist theory etc talks about how much sampling we need to do</a:t>
            </a:r>
          </a:p>
        </p:txBody>
      </p:sp>
    </p:spTree>
    <p:extLst>
      <p:ext uri="{BB962C8B-B14F-4D97-AF65-F5344CB8AC3E}">
        <p14:creationId xmlns:p14="http://schemas.microsoft.com/office/powerpoint/2010/main" val="14962816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F9D5A9F-1B60-4493-B217-0C6EC4C2D48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98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E856E3A-5FC1-4754-9971-9464316350E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1981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19813" name="Text Box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Analogue Vs digital</a:t>
            </a:r>
          </a:p>
          <a:p>
            <a:pPr eaLnBrk="1" hangingPunct="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Think of the volume knob on your stereo</a:t>
            </a:r>
          </a:p>
          <a:p>
            <a:pPr eaLnBrk="1" hangingPunct="1">
              <a:spcBef>
                <a:spcPts val="450"/>
              </a:spcBef>
              <a:buFont typeface="Arial" panose="020B0604020202020204" pitchFamily="34" charset="0"/>
              <a:buChar char="•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Records Vs CDs Vs Mp3s</a:t>
            </a: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IE" altLang="en-US" smtClean="0">
              <a:cs typeface="Arial Unicode MS" charset="0"/>
            </a:endParaRPr>
          </a:p>
          <a:p>
            <a:pPr eaLnBrk="1" hangingPunct="1"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IE" altLang="en-US" smtClean="0">
                <a:cs typeface="Arial Unicode MS" charset="0"/>
              </a:rPr>
              <a:t>Nyquist theory etc talks about how much sampling we need to do</a:t>
            </a:r>
          </a:p>
        </p:txBody>
      </p:sp>
    </p:spTree>
    <p:extLst>
      <p:ext uri="{BB962C8B-B14F-4D97-AF65-F5344CB8AC3E}">
        <p14:creationId xmlns:p14="http://schemas.microsoft.com/office/powerpoint/2010/main" val="3734242159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DA35C2A7-188B-4488-994E-5D3B821685E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18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4C45C2D-C519-4484-8A77-8784454AE01A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57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2186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186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399392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847BE2B-EE24-41D8-9980-C8AEC3ADCD5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907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3908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665696309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AEEBA5C-900A-4B86-AE27-002F2A9A6CA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59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5955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5956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2174563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DC79BE5-E677-4A3C-AAFC-1DE14A08362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800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2800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482397326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28A2243-32CD-4DC4-8389-99378673479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0051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0052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272766514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96E63F7-9B57-4964-B5C9-F3585D22ABB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20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85C20AB4-F73A-4B2C-B34F-DBE2B6BA556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3210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210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7869284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C60A4778-ED97-47C7-B084-B6433EFE6342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414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5EAC028-1B82-40D0-B601-6D2C41D7BC1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3414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414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2690070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28BF824-963D-455A-8A39-23D43EF5D0A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619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EEB086C-39CA-44C7-B3C0-CF395B0C4FB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3619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619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575036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73BC899-EFAB-44B7-BDA2-AA5ED3402F42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824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BAB5DF35-0261-4078-AB70-CB72943B62E9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3824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3824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765380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DF3D5698-C4FA-4CD1-BC6D-F5BE84C627BA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029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2A6CFF4-F016-4B72-A7F1-69FB1BEC505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4029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029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4837516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192626A3-4237-43ED-B859-CBE35F3054F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233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5843F38-ECEE-4D8F-AE01-3523B055E0FF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4234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234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4879675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9042E12-9BA8-40F0-B73F-66A6466DAEE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438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767E12CA-9665-4DBF-B5AA-3B83BC28935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4438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438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584997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F369E144-8894-48A2-A8C3-6A997A38B830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69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643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98FB98C-1DAA-4AB4-950C-E1E40D2BEFF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69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4643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643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3726752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3BE423E-0B9C-4ADE-888F-8810DDE59B9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848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BE3FB23-19A0-4ACA-A681-007DD87E16F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70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4848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4848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951716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4D473E0-B104-467E-9E00-C0FB81CD8D4F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053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561004F-1526-43BE-99B7-82AAE6B2C2B8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053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053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44831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975D24C-3EBC-4F31-B96D-C64C7F38351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257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75A1B90-AD7F-464E-9BEA-0D1A25ABCE0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258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258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498702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ECD7930-E679-43DF-8DEC-FDF756219A3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462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13F813A9-E0AB-40CD-9B50-9A8938AE8D5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462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462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238283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74AEE9FB-6974-4EEF-8759-68EE72C6B12D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667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0776684-7DA0-4379-AEDD-4F32932BC7D4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667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667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964492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0FBDB57-427E-49B8-BFB0-BFEE8896E9AC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872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D5DFE83-20D7-430A-BBE2-4A5E34754542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5872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5872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254665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4317B42E-3C4D-49F0-B381-1A16688D9D3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077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7479694-C970-470A-99E7-E1A63C72E14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6077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077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801459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CA5392A4-2B27-44DD-AAA7-BEED6E40592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281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C8B34FB-78CE-48FE-AF04-E91B4BCA8926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6282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282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89864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0A154C4-2B4C-4825-9B14-74F62C92C5E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78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486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4415DA3-05CD-4BC8-8521-1FD9C97418BB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78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6486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486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3520069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D0C44787-7F6B-40DC-A720-278ADB6B8726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79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691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AC545A8-EE33-4C59-8E12-1EB115229581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79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6691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691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0099607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2B38521A-62B7-4CBB-86E8-B38BA2AD786E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80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8963" name="Rectangle 1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68964" name="Rectangle 2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79630542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BD269C2E-0C24-43EB-B2E8-31E0534B039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81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101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E4A41EC2-3BD0-4435-B3D3-4CF86F01A60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81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101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101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4931193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A5462262-A6EC-4F27-A003-935735243F75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82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305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BE8B4B-8A9B-40E1-A55A-E1EF3C0877F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82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306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306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8055377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697573ED-498F-43B6-842C-E0E57FFE62D2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83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5107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9217F04-C257-4F95-BBD3-917F13CC0B95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83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5108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5109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792591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1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812A8839-DA72-4546-B0F8-199F4E4A7FA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84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7155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F817FD0A-A66C-4132-A734-1DBB31A5FBEC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84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7156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7157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6760086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20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0767213B-C60E-4786-8D94-FEAC9A1DE1A1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85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9203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CEA20AAE-1B3D-450A-AE23-5FB552928BBD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85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79204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79205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4585432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98D82F4B-F0E9-4D31-A487-0D1CBA2BC1A9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86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1251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56E761CE-6BFF-48FC-BF6D-5F37D5DE5D83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86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81252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1253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5533935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Tx/>
              <a:buFontTx/>
              <a:buNone/>
            </a:pPr>
            <a:fld id="{536AE693-3F66-4811-8FF1-AAA0CDD1BE28}" type="slidenum">
              <a:rPr lang="en-US" alt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>
                <a:buClrTx/>
                <a:buFontTx/>
                <a:buNone/>
              </a:pPr>
              <a:t>87</a:t>
            </a:fld>
            <a:endParaRPr lang="en-US" alt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3299" name="Text Box 1"/>
          <p:cNvSpPr txBox="1">
            <a:spLocks noChangeArrowheads="1"/>
          </p:cNvSpPr>
          <p:nvPr/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fld id="{257A0B9A-6B7E-4270-AB28-B170CB822D40}" type="slidenum">
              <a:rPr lang="en-US" altLang="en-US" sz="1200">
                <a:solidFill>
                  <a:srgbClr val="000000"/>
                </a:solidFill>
              </a:rPr>
              <a:pPr algn="r" eaLnBrk="1" hangingPunct="1">
                <a:buClrTx/>
                <a:buFontTx/>
                <a:buNone/>
              </a:pPr>
              <a:t>87</a:t>
            </a:fld>
            <a:endParaRPr lang="en-US" altLang="en-US" sz="1200">
              <a:solidFill>
                <a:srgbClr val="000000"/>
              </a:solidFill>
            </a:endParaRPr>
          </a:p>
        </p:txBody>
      </p:sp>
      <p:sp>
        <p:nvSpPr>
          <p:cNvPr id="183300" name="Rectangle 2"/>
          <p:cNvSpPr txBox="1">
            <a:spLocks noGrp="1" noRot="1" noChangeAspect="1" noChangeArrowheads="1" noTextEdit="1"/>
          </p:cNvSpPr>
          <p:nvPr>
            <p:ph type="sldImg"/>
          </p:nvPr>
        </p:nvSpPr>
        <p:spPr>
          <a:xfrm>
            <a:off x="2286000" y="514350"/>
            <a:ext cx="4572000" cy="25717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183301" name="Rectangle 3"/>
          <p:cNvSpPr txBox="1">
            <a:spLocks noGrp="1" noChangeArrowheads="1"/>
          </p:cNvSpPr>
          <p:nvPr>
            <p:ph type="body" idx="1"/>
          </p:nvPr>
        </p:nvSpPr>
        <p:spPr>
          <a:xfrm>
            <a:off x="914400" y="3257550"/>
            <a:ext cx="7315200" cy="3086100"/>
          </a:xfrm>
          <a:noFill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spcBef>
                <a:spcPts val="450"/>
              </a:spcBef>
              <a:buClrTx/>
              <a:buFontTx/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altLang="en-US" smtClean="0">
              <a:cs typeface="Arial Unicode M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161382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F8556A7-CCFF-465C-AC4C-91D7390D4E7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88</a:t>
            </a:fld>
            <a:endParaRPr lang="en-US" altLang="en-US"/>
          </a:p>
        </p:txBody>
      </p:sp>
      <p:sp>
        <p:nvSpPr>
          <p:cNvPr id="71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3A921BB-6F6D-48DA-8B43-ABC756D2FA05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9933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9933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eaLnBrk="1" hangingPunct="1">
              <a:spcBef>
                <a:spcPts val="450"/>
              </a:spcBef>
              <a:buClrTx/>
              <a:buFontTx/>
              <a:buNone/>
              <a:defRPr/>
            </a:pPr>
            <a:endParaRPr lang="en-GB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4703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5F2C729-0DB0-41B9-9CDB-2E78D5E33E5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89</a:t>
            </a:fld>
            <a:endParaRPr lang="en-US" altLang="en-US"/>
          </a:p>
        </p:txBody>
      </p:sp>
      <p:sp>
        <p:nvSpPr>
          <p:cNvPr id="921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06D8143-D6E7-4C74-B98B-DFF62BF180A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89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035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035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8712180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65F1E86-C459-4D96-B7B1-E65F95C4DEF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90</a:t>
            </a:fld>
            <a:endParaRPr lang="en-US" altLang="en-US"/>
          </a:p>
        </p:txBody>
      </p:sp>
      <p:sp>
        <p:nvSpPr>
          <p:cNvPr id="1126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2C486D8-2C41-4D70-B90B-F6E500719B8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137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137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3730327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6B59C94-FBC9-4DA2-AA0A-6553844D08AC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91</a:t>
            </a:fld>
            <a:endParaRPr lang="en-US" altLang="en-US"/>
          </a:p>
        </p:txBody>
      </p:sp>
      <p:sp>
        <p:nvSpPr>
          <p:cNvPr id="1331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9BAC50A-EE5D-4073-B38D-C6C507DCED1A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240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240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4080935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1B0F18-3ED6-4C1A-9247-54AB19D2CC9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92</a:t>
            </a:fld>
            <a:endParaRPr lang="en-US" altLang="en-US"/>
          </a:p>
        </p:txBody>
      </p:sp>
      <p:sp>
        <p:nvSpPr>
          <p:cNvPr id="1536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73275AC-963D-4A00-932B-926319AF9809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342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342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8508926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3922D86-9829-4950-8502-7430C2E519B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93</a:t>
            </a:fld>
            <a:endParaRPr lang="en-US" altLang="en-US"/>
          </a:p>
        </p:txBody>
      </p:sp>
      <p:sp>
        <p:nvSpPr>
          <p:cNvPr id="1741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A5323C7-8A91-49B0-BC3F-804AA6CA147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445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445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591368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FE9F01C-E7EC-4DC3-95C6-F1B3B0AC71C0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94</a:t>
            </a:fld>
            <a:endParaRPr lang="en-US" altLang="en-US"/>
          </a:p>
        </p:txBody>
      </p:sp>
      <p:sp>
        <p:nvSpPr>
          <p:cNvPr id="1945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2728A3C-8E36-47E2-BA21-496ECF46A93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547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547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130353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FD591A4-E5F7-4E70-9EBC-0186D2957742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95</a:t>
            </a:fld>
            <a:endParaRPr lang="en-US" altLang="en-US"/>
          </a:p>
        </p:txBody>
      </p:sp>
      <p:sp>
        <p:nvSpPr>
          <p:cNvPr id="2150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08CBCFB-12B4-4D5B-8DCB-39245096E955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649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649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296353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10A0AC3-B4F2-4E7E-A372-BD1CD69E4552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96</a:t>
            </a:fld>
            <a:endParaRPr lang="en-US" altLang="en-US"/>
          </a:p>
        </p:txBody>
      </p:sp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B094E3A-2D6F-4175-8199-89F2CD1295F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752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752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316653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BFCEE78-937A-4148-BBA9-15C633EEAAB6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97</a:t>
            </a:fld>
            <a:endParaRPr lang="en-US" altLang="en-US"/>
          </a:p>
        </p:txBody>
      </p:sp>
      <p:sp>
        <p:nvSpPr>
          <p:cNvPr id="2560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F7AF2BA-DC14-4128-943C-13B5B1844AB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854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854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965082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B4CE4B1-8BDA-470A-9D53-7FF0FAD9290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98</a:t>
            </a:fld>
            <a:endParaRPr lang="en-US" altLang="en-US"/>
          </a:p>
        </p:txBody>
      </p:sp>
      <p:sp>
        <p:nvSpPr>
          <p:cNvPr id="2765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34A92BF-76B4-4B78-A33E-39013642E03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0957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0957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2038937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20427E2-1CC6-459D-A108-9208B89F7BD2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99</a:t>
            </a:fld>
            <a:endParaRPr lang="en-US" altLang="en-US"/>
          </a:p>
        </p:txBody>
      </p:sp>
      <p:sp>
        <p:nvSpPr>
          <p:cNvPr id="2969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153ED31-A127-45F9-BA91-E9EF543C919A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99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059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059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434181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342265A-84CE-468D-8666-81E80A40854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100</a:t>
            </a:fld>
            <a:endParaRPr lang="en-US" altLang="en-US"/>
          </a:p>
        </p:txBody>
      </p:sp>
      <p:sp>
        <p:nvSpPr>
          <p:cNvPr id="3174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C62C08E-8A73-497C-AFED-6B22B69CC30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161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161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1590729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91C587C-F2B5-41BB-93B1-C7C2634B8B0C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101</a:t>
            </a:fld>
            <a:endParaRPr lang="en-US" altLang="en-US"/>
          </a:p>
        </p:txBody>
      </p:sp>
      <p:sp>
        <p:nvSpPr>
          <p:cNvPr id="3379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AFD246D-C992-47B5-B673-9A001F189D55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264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264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627873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0CD7FA2-5D43-4F3E-9C44-8269CB6A1EC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102</a:t>
            </a:fld>
            <a:endParaRPr lang="en-US" altLang="en-US"/>
          </a:p>
        </p:txBody>
      </p:sp>
      <p:sp>
        <p:nvSpPr>
          <p:cNvPr id="3584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CA37E041-E2BE-452E-8709-563B0E429ED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366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366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2177619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606C0DB-7B6E-40B7-9082-F864CE57468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103</a:t>
            </a:fld>
            <a:endParaRPr lang="en-US" altLang="en-US"/>
          </a:p>
        </p:txBody>
      </p:sp>
      <p:sp>
        <p:nvSpPr>
          <p:cNvPr id="3789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216D621-23DF-4374-82CB-80375434A2B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469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469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8990098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4C39E60-51D2-4887-889B-70FBC3FFA45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104</a:t>
            </a:fld>
            <a:endParaRPr lang="en-US" altLang="en-US"/>
          </a:p>
        </p:txBody>
      </p:sp>
      <p:sp>
        <p:nvSpPr>
          <p:cNvPr id="3993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0FE14BD-2751-4B14-B537-1D05E1C5922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571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571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496623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0CF6E1F5-37E1-4768-811E-896E26605C2C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105</a:t>
            </a:fld>
            <a:endParaRPr lang="en-US" altLang="en-US"/>
          </a:p>
        </p:txBody>
      </p:sp>
      <p:sp>
        <p:nvSpPr>
          <p:cNvPr id="4198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195B3C7-6E62-40AE-A72B-3FBBD2A3BDC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673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673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123185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88E98A7-34B6-4A54-8C08-E37680050AB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106</a:t>
            </a:fld>
            <a:endParaRPr lang="en-US" altLang="en-US"/>
          </a:p>
        </p:txBody>
      </p:sp>
      <p:sp>
        <p:nvSpPr>
          <p:cNvPr id="4403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3EC0A69-B3C8-4CDA-9394-36C29472F1C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776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776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0830766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AF47AEB-BE28-469B-A6A6-984FC7E4062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107</a:t>
            </a:fld>
            <a:endParaRPr lang="en-US" altLang="en-US"/>
          </a:p>
        </p:txBody>
      </p:sp>
      <p:sp>
        <p:nvSpPr>
          <p:cNvPr id="4608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84BCB61-47A2-4E19-8649-CC8973BE5FE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878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878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45831856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33CD533-B3C8-438A-9B23-110BFEC94D84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108</a:t>
            </a:fld>
            <a:endParaRPr lang="en-US" altLang="en-US"/>
          </a:p>
        </p:txBody>
      </p:sp>
      <p:sp>
        <p:nvSpPr>
          <p:cNvPr id="4813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6BD3A9EC-22C2-4229-91D0-443E62E06EDA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1981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1981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9921403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3886B8-3D74-4BFA-9BAA-739493FA294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109</a:t>
            </a:fld>
            <a:endParaRPr lang="en-US" altLang="en-US"/>
          </a:p>
        </p:txBody>
      </p:sp>
      <p:sp>
        <p:nvSpPr>
          <p:cNvPr id="5017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766D801-3DE6-4BF5-A998-CAC9D709B35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109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083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083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2321487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73CFACC-511B-47D1-AF05-FB2FA0746D2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110</a:t>
            </a:fld>
            <a:endParaRPr lang="en-US" altLang="en-US"/>
          </a:p>
        </p:txBody>
      </p:sp>
      <p:sp>
        <p:nvSpPr>
          <p:cNvPr id="5222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2BD88C28-994C-4F10-AA2E-17518BB08689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185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185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7514047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D9CEC11-4E47-4196-8D6F-A23E6573F72A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111</a:t>
            </a:fld>
            <a:endParaRPr lang="en-US" altLang="en-US"/>
          </a:p>
        </p:txBody>
      </p:sp>
      <p:sp>
        <p:nvSpPr>
          <p:cNvPr id="5427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4F60414-6FB8-49AA-BE34-941784A187C5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288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288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56652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2CB28C-61A1-4BA9-A283-2986177D7DB2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112</a:t>
            </a:fld>
            <a:endParaRPr lang="en-US" altLang="en-US"/>
          </a:p>
        </p:txBody>
      </p:sp>
      <p:sp>
        <p:nvSpPr>
          <p:cNvPr id="5632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FC71366D-2E50-4E0E-8EDE-5BB50DD1F3A1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390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390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298547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DC56E378-257B-4871-A472-F50F6097DB0B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113</a:t>
            </a:fld>
            <a:endParaRPr lang="en-US" altLang="en-US"/>
          </a:p>
        </p:txBody>
      </p:sp>
      <p:sp>
        <p:nvSpPr>
          <p:cNvPr id="583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8E4D5DF0-1E87-4DC3-A3C9-B02617D7C96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493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493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515426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82E6B1EA-0BE0-4CB4-B578-7F87B5888F6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114</a:t>
            </a:fld>
            <a:endParaRPr lang="en-US" altLang="en-US"/>
          </a:p>
        </p:txBody>
      </p:sp>
      <p:sp>
        <p:nvSpPr>
          <p:cNvPr id="6041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CB8774D-1A0E-40BF-987D-44163CA543D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595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595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086566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2A3EFA2B-D374-4FCF-9F71-72437602925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115</a:t>
            </a:fld>
            <a:endParaRPr lang="en-US" altLang="en-US"/>
          </a:p>
        </p:txBody>
      </p:sp>
      <p:sp>
        <p:nvSpPr>
          <p:cNvPr id="6246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3722667-DA28-4A02-A169-C3071B140CF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697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697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7021515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EA4C18CB-24CC-4967-8E9C-F8D19222F170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116</a:t>
            </a:fld>
            <a:endParaRPr lang="en-US" altLang="en-US"/>
          </a:p>
        </p:txBody>
      </p:sp>
      <p:sp>
        <p:nvSpPr>
          <p:cNvPr id="6451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6236B73-5CB6-4208-B130-D04BD595A9F6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800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800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768288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828936A-D05A-4F88-BA54-4F6F63D876D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117</a:t>
            </a:fld>
            <a:endParaRPr lang="en-US" altLang="en-US"/>
          </a:p>
        </p:txBody>
      </p:sp>
      <p:sp>
        <p:nvSpPr>
          <p:cNvPr id="6656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265A77D-F6BE-44BA-93C0-91C77FD03C7E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2902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2902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887730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72AFBC2-01CB-4A3F-B71B-3EDE877F21D5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118</a:t>
            </a:fld>
            <a:endParaRPr lang="en-US" altLang="en-US"/>
          </a:p>
        </p:txBody>
      </p:sp>
      <p:sp>
        <p:nvSpPr>
          <p:cNvPr id="6861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D4A66FCF-B740-450A-AD14-6F3570F46A1D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005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005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3234584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30F3EC7-0D18-4B26-96D4-3E1ECA823C84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119</a:t>
            </a:fld>
            <a:endParaRPr lang="en-US" altLang="en-US"/>
          </a:p>
        </p:txBody>
      </p:sp>
      <p:sp>
        <p:nvSpPr>
          <p:cNvPr id="7065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5BE03B75-D050-49FE-986E-8B3019EDEB0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119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107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107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721479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4ECF9AD-7B61-4CF8-B665-5ECD30EB114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120</a:t>
            </a:fld>
            <a:endParaRPr lang="en-US" altLang="en-US"/>
          </a:p>
        </p:txBody>
      </p:sp>
      <p:sp>
        <p:nvSpPr>
          <p:cNvPr id="7270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4541E771-E073-453D-B4A2-5F58E88DEB27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209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209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0584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CAA47454-DA2D-4FDA-8257-EBBEB6129CB8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121</a:t>
            </a:fld>
            <a:endParaRPr lang="en-US" altLang="en-US"/>
          </a:p>
        </p:txBody>
      </p:sp>
      <p:sp>
        <p:nvSpPr>
          <p:cNvPr id="7475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8063A8E-390E-4496-93E0-219F0E0FF729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121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312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312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7287788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704FC0B-C7FB-4D74-BED3-39D18ACBB46A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122</a:t>
            </a:fld>
            <a:endParaRPr lang="en-US" altLang="en-US"/>
          </a:p>
        </p:txBody>
      </p:sp>
      <p:sp>
        <p:nvSpPr>
          <p:cNvPr id="7680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10DA60DA-3A53-4812-B383-78EF19485DA8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122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414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414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9144806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66F71FCE-235A-42B4-85A4-EB1905A55E57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123</a:t>
            </a:fld>
            <a:endParaRPr lang="en-US" altLang="en-US"/>
          </a:p>
        </p:txBody>
      </p:sp>
      <p:sp>
        <p:nvSpPr>
          <p:cNvPr id="7885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BB2B97E6-7421-4741-9C25-5EF88B0B9AC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123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517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517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164429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42663C96-9545-420C-957D-A8BF82599D3A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124</a:t>
            </a:fld>
            <a:endParaRPr lang="en-US" altLang="en-US"/>
          </a:p>
        </p:txBody>
      </p:sp>
      <p:sp>
        <p:nvSpPr>
          <p:cNvPr id="8089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4CFD27D-71CD-43DE-864E-E93964D37AF0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124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619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619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253425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FABF1F8-365F-40F3-BC30-C3AAB80E514E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125</a:t>
            </a:fld>
            <a:endParaRPr lang="en-US" altLang="en-US"/>
          </a:p>
        </p:txBody>
      </p:sp>
      <p:sp>
        <p:nvSpPr>
          <p:cNvPr id="8294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4460ED2-6718-4CC5-B022-45F0E704095C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125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721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721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562504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7DBF445F-2CE4-41C0-A8C1-45367725A8DC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126</a:t>
            </a:fld>
            <a:endParaRPr lang="en-US" altLang="en-US"/>
          </a:p>
        </p:txBody>
      </p:sp>
      <p:sp>
        <p:nvSpPr>
          <p:cNvPr id="84995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5D5A914-FFE6-4614-BED0-10E99958A9E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126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8242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8243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469342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276D3AF-91BB-4DBE-9D27-31FAEC47E0DA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127</a:t>
            </a:fld>
            <a:endParaRPr lang="en-US" altLang="en-US"/>
          </a:p>
        </p:txBody>
      </p:sp>
      <p:sp>
        <p:nvSpPr>
          <p:cNvPr id="87043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34D043F1-F74B-4495-8FCC-1BEA9D62BCD4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127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39266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39267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8127624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8777FB7-6CEF-4C32-91F2-738965BAAB1F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128</a:t>
            </a:fld>
            <a:endParaRPr lang="en-US" altLang="en-US"/>
          </a:p>
        </p:txBody>
      </p:sp>
      <p:sp>
        <p:nvSpPr>
          <p:cNvPr id="8909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EF8D0D8E-A89C-4E6A-BC8D-FABDA5E7AA63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128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0290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0291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8962013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B408B201-DC11-497C-A6FA-57729128A0BB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129</a:t>
            </a:fld>
            <a:endParaRPr lang="en-US" altLang="en-US"/>
          </a:p>
        </p:txBody>
      </p:sp>
      <p:sp>
        <p:nvSpPr>
          <p:cNvPr id="91139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A4E3E933-7AAE-4D3A-8AD9-0DBD10B61172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129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1314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1315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2463633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1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723900" algn="l"/>
                <a:tab pos="1447800" algn="l"/>
                <a:tab pos="2171700" algn="l"/>
                <a:tab pos="28956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52AC400-2766-47B0-9EF0-201551090BB1}" type="slidenum">
              <a:rPr lang="en-US" altLang="en-US"/>
              <a:pPr>
                <a:spcBef>
                  <a:spcPct val="0"/>
                </a:spcBef>
                <a:buClrTx/>
                <a:buFontTx/>
                <a:buNone/>
              </a:pPr>
              <a:t>130</a:t>
            </a:fld>
            <a:endParaRPr lang="en-US" altLang="en-US"/>
          </a:p>
        </p:txBody>
      </p:sp>
      <p:sp>
        <p:nvSpPr>
          <p:cNvPr id="93187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6800" rIns="90000" bIns="46800" anchor="b"/>
          <a:lstStyle>
            <a:lvl1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1pPr>
            <a:lvl2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2pPr>
            <a:lvl3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3pPr>
            <a:lvl4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4pPr>
            <a:lvl5pPr>
              <a:spcBef>
                <a:spcPct val="300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Tx/>
              <a:buNone/>
            </a:pPr>
            <a:fld id="{9CFB96E5-AF53-4F02-B407-92FE141AE9AA}" type="slidenum">
              <a:rPr lang="en-US" altLang="en-US">
                <a:latin typeface="Arial" panose="020B0604020202020204" pitchFamily="34" charset="0"/>
              </a:rPr>
              <a:pPr algn="r" eaLnBrk="1" hangingPunct="1">
                <a:spcBef>
                  <a:spcPct val="0"/>
                </a:spcBef>
                <a:buClrTx/>
                <a:buFontTx/>
                <a:buNone/>
              </a:pPr>
              <a:t>130</a:t>
            </a:fld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142338" name="Text Box 2"/>
          <p:cNvSpPr>
            <a:spLocks noGrp="1" noRot="1" noChangeAspect="1" noChangeArrowheads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solidFill>
            <a:srgbClr val="FFFFFF"/>
          </a:solidFill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</p:sp>
      <p:sp>
        <p:nvSpPr>
          <p:cNvPr id="142339" name="Text Box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7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1pPr>
            <a:lvl2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2pPr>
            <a:lvl3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3pPr>
            <a:lvl4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4pPr>
            <a:lvl5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1200">
                <a:solidFill>
                  <a:srgbClr val="000000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450"/>
              </a:spcBef>
              <a:buClrTx/>
              <a:buFontTx/>
              <a:buNone/>
              <a:defRPr/>
            </a:pPr>
            <a:endParaRPr lang="en-US" smtClean="0"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92490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5870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9153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8753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7240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40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48503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1125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7037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7931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735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35062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AF966D-DE66-4FE6-8C9D-CEB0E69CA4B2}" type="datetimeFigureOut">
              <a:rPr lang="en-GB" smtClean="0"/>
              <a:t>28/01/2023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001430-A5C3-4C8D-85D4-B92A1157D11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00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49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0.wmf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3.png"/><Relationship Id="rId4" Type="http://schemas.openxmlformats.org/officeDocument/2006/relationships/hyperlink" Target="http://web.mit.edu/persci/gaz/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5" Type="http://schemas.openxmlformats.org/officeDocument/2006/relationships/hyperlink" Target="http://www.lottolab.org/Visual%20Demos/Demo%2015.html" TargetMode="External"/><Relationship Id="rId4" Type="http://schemas.openxmlformats.org/officeDocument/2006/relationships/image" Target="../media/image5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w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png"/><Relationship Id="rId4" Type="http://schemas.openxmlformats.org/officeDocument/2006/relationships/image" Target="../media/image68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5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1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2.png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wmf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6.wmf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01.xml"/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02.xml"/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notesSlide" Target="../notesSlides/notesSlide103.xml"/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104.xml"/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notesSlide" Target="../notesSlides/notesSlide105.xml"/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6.xml"/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notesSlide" Target="../notesSlides/notesSlide107.xml"/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8.xml"/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notesSlide" Target="../notesSlides/notesSlide109.xml"/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0.xml"/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111.xml"/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112.xml"/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notesSlide" Target="../notesSlides/notesSlide113.xml"/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4.xml"/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115.xml"/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116.xml"/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17.xml"/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118.xml"/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1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3.png"/></Relationships>
</file>

<file path=ppt/slides/_rels/slide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notesSlide" Target="../notesSlides/notesSlide1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5.png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1.xml"/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notesSlide" Target="../notesSlides/notesSlide122.xml"/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123.xml"/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4.xml"/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5.xml"/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126.xml"/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notesSlide" Target="../notesSlides/notesSlide127.xml"/><Relationship Id="rId1" Type="http://schemas.openxmlformats.org/officeDocument/2006/relationships/slideLayout" Target="../slideLayouts/slideLayout7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8.xml"/><Relationship Id="rId1" Type="http://schemas.openxmlformats.org/officeDocument/2006/relationships/slideLayout" Target="../slideLayouts/slideLayout7.xml"/></Relationships>
</file>

<file path=ppt/slides/_rels/slide1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12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1.png"/></Relationships>
</file>

<file path=ppt/slides/_rels/slide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13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981200" y="3155951"/>
            <a:ext cx="8229600" cy="2244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</a:rPr>
              <a:t>“One picture is worth more than ten thousand words”</a:t>
            </a:r>
          </a:p>
          <a:p>
            <a:pPr algn="r"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Anonymous</a:t>
            </a:r>
          </a:p>
          <a:p>
            <a:pPr algn="r"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9178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40105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1163638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  <a:tab pos="105156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	“Digital Image Processing”, Rafael C.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	Gonzalez &amp; Richard E. Woods,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	Addison-Wesley, 2002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Much of the material that follows is taken from this book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	</a:t>
            </a:r>
          </a:p>
        </p:txBody>
      </p:sp>
      <p:pic>
        <p:nvPicPr>
          <p:cNvPr id="81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413" y="1419225"/>
            <a:ext cx="1103312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978732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This lecture will cover: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What is a digital image?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What is digital image processing?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History of digital image processing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State of the art examples of digital image processing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Key stages in digital image processing</a:t>
            </a:r>
          </a:p>
        </p:txBody>
      </p:sp>
    </p:spTree>
    <p:extLst>
      <p:ext uri="{BB962C8B-B14F-4D97-AF65-F5344CB8AC3E}">
        <p14:creationId xmlns:p14="http://schemas.microsoft.com/office/powerpoint/2010/main" val="369574624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What is a Digital Image?</a:t>
            </a: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US" altLang="en-US" sz="3200">
                <a:solidFill>
                  <a:srgbClr val="000000"/>
                </a:solidFill>
              </a:rPr>
              <a:t>A </a:t>
            </a:r>
            <a:r>
              <a:rPr lang="en-US" altLang="en-US" sz="3200" b="1">
                <a:solidFill>
                  <a:srgbClr val="000000"/>
                </a:solidFill>
              </a:rPr>
              <a:t>digital image</a:t>
            </a:r>
            <a:r>
              <a:rPr lang="en-US" altLang="en-US" sz="3200">
                <a:solidFill>
                  <a:srgbClr val="000000"/>
                </a:solidFill>
              </a:rPr>
              <a:t> is a representation of a two-dimensional image as a finite set of digital values, called picture elements or pixels</a:t>
            </a:r>
          </a:p>
        </p:txBody>
      </p:sp>
      <p:pic>
        <p:nvPicPr>
          <p:cNvPr id="122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872"/>
          <a:stretch>
            <a:fillRect/>
          </a:stretch>
        </p:blipFill>
        <p:spPr bwMode="auto">
          <a:xfrm>
            <a:off x="2838450" y="3103564"/>
            <a:ext cx="6515100" cy="368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1887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2293" name="Group 4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12294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295" name="Rectangle 6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487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What is a Digital Image? (cont…)</a:t>
            </a: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US" altLang="en-US" sz="3200">
                <a:solidFill>
                  <a:srgbClr val="000000"/>
                </a:solidFill>
              </a:rPr>
              <a:t>Pixel values typically represent gray levels, colours, heights, opacities etc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 b="1">
                <a:solidFill>
                  <a:srgbClr val="000000"/>
                </a:solidFill>
              </a:rPr>
              <a:t>Remember</a:t>
            </a:r>
            <a:r>
              <a:rPr lang="en-IE" altLang="en-US" sz="3200">
                <a:solidFill>
                  <a:srgbClr val="000000"/>
                </a:solidFill>
              </a:rPr>
              <a:t> </a:t>
            </a:r>
            <a:r>
              <a:rPr lang="en-IE" altLang="en-US" sz="3200" i="1">
                <a:solidFill>
                  <a:srgbClr val="000000"/>
                </a:solidFill>
              </a:rPr>
              <a:t>digitization</a:t>
            </a:r>
            <a:r>
              <a:rPr lang="en-IE" altLang="en-US" sz="3200">
                <a:solidFill>
                  <a:srgbClr val="000000"/>
                </a:solidFill>
              </a:rPr>
              <a:t> implies that a digital image is an </a:t>
            </a:r>
            <a:r>
              <a:rPr lang="en-IE" altLang="en-US" sz="3200" i="1">
                <a:solidFill>
                  <a:srgbClr val="000000"/>
                </a:solidFill>
              </a:rPr>
              <a:t>approximation</a:t>
            </a:r>
            <a:r>
              <a:rPr lang="en-IE" altLang="en-US" sz="3200">
                <a:solidFill>
                  <a:srgbClr val="000000"/>
                </a:solidFill>
              </a:rPr>
              <a:t> of a real scene</a:t>
            </a:r>
          </a:p>
        </p:txBody>
      </p:sp>
      <p:pic>
        <p:nvPicPr>
          <p:cNvPr id="143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899"/>
          <a:stretch>
            <a:fillRect/>
          </a:stretch>
        </p:blipFill>
        <p:spPr bwMode="auto">
          <a:xfrm>
            <a:off x="1809751" y="3881438"/>
            <a:ext cx="3940175" cy="2266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1989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4341" name="Group 4"/>
          <p:cNvGrpSpPr>
            <a:grpSpLocks/>
          </p:cNvGrpSpPr>
          <p:nvPr/>
        </p:nvGrpSpPr>
        <p:grpSpPr bwMode="auto">
          <a:xfrm>
            <a:off x="5819776" y="3860800"/>
            <a:ext cx="4549775" cy="2300288"/>
            <a:chOff x="2706" y="2432"/>
            <a:chExt cx="2866" cy="1449"/>
          </a:xfrm>
        </p:grpSpPr>
        <p:pic>
          <p:nvPicPr>
            <p:cNvPr id="14345" name="Picture 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6" y="2432"/>
              <a:ext cx="2866" cy="14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346" name="Rectangle 6"/>
            <p:cNvSpPr>
              <a:spLocks noChangeArrowheads="1"/>
            </p:cNvSpPr>
            <p:nvPr/>
          </p:nvSpPr>
          <p:spPr bwMode="auto">
            <a:xfrm>
              <a:off x="3467" y="2838"/>
              <a:ext cx="123" cy="117"/>
            </a:xfrm>
            <a:prstGeom prst="rect">
              <a:avLst/>
            </a:prstGeom>
            <a:noFill/>
            <a:ln w="126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4347" name="Rectangle 7"/>
            <p:cNvSpPr>
              <a:spLocks noChangeArrowheads="1"/>
            </p:cNvSpPr>
            <p:nvPr/>
          </p:nvSpPr>
          <p:spPr bwMode="auto">
            <a:xfrm>
              <a:off x="4082" y="2458"/>
              <a:ext cx="1455" cy="1397"/>
            </a:xfrm>
            <a:prstGeom prst="rect">
              <a:avLst/>
            </a:prstGeom>
            <a:noFill/>
            <a:ln w="126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4348" name="Line 8"/>
            <p:cNvSpPr>
              <a:spLocks noChangeShapeType="1"/>
            </p:cNvSpPr>
            <p:nvPr/>
          </p:nvSpPr>
          <p:spPr bwMode="auto">
            <a:xfrm flipV="1">
              <a:off x="3590" y="2788"/>
              <a:ext cx="479" cy="109"/>
            </a:xfrm>
            <a:prstGeom prst="line">
              <a:avLst/>
            </a:prstGeom>
            <a:noFill/>
            <a:ln w="1908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4349" name="Rectangle 9"/>
            <p:cNvSpPr>
              <a:spLocks noChangeArrowheads="1"/>
            </p:cNvSpPr>
            <p:nvPr/>
          </p:nvSpPr>
          <p:spPr bwMode="auto">
            <a:xfrm>
              <a:off x="4467" y="2822"/>
              <a:ext cx="51" cy="52"/>
            </a:xfrm>
            <a:prstGeom prst="rect">
              <a:avLst/>
            </a:prstGeom>
            <a:noFill/>
            <a:ln w="12600">
              <a:solidFill>
                <a:srgbClr val="FF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14350" name="Text Box 10"/>
            <p:cNvSpPr txBox="1">
              <a:spLocks noChangeArrowheads="1"/>
            </p:cNvSpPr>
            <p:nvPr/>
          </p:nvSpPr>
          <p:spPr bwMode="auto">
            <a:xfrm>
              <a:off x="4657" y="2650"/>
              <a:ext cx="347" cy="1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000">
                  <a:solidFill>
                    <a:srgbClr val="CC0000"/>
                  </a:solidFill>
                </a:rPr>
                <a:t>1 pixel</a:t>
              </a:r>
            </a:p>
          </p:txBody>
        </p:sp>
        <p:sp>
          <p:nvSpPr>
            <p:cNvPr id="14351" name="Line 11"/>
            <p:cNvSpPr>
              <a:spLocks noChangeShapeType="1"/>
            </p:cNvSpPr>
            <p:nvPr/>
          </p:nvSpPr>
          <p:spPr bwMode="auto">
            <a:xfrm flipH="1">
              <a:off x="4533" y="2737"/>
              <a:ext cx="173" cy="87"/>
            </a:xfrm>
            <a:prstGeom prst="line">
              <a:avLst/>
            </a:prstGeom>
            <a:noFill/>
            <a:ln w="19080">
              <a:solidFill>
                <a:srgbClr val="FF0000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342" name="Group 12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14343" name="Picture 13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344" name="Rectangle 14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848966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What is a Digital Image? (cont…)</a:t>
            </a: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700"/>
              </a:spcBef>
              <a:buClrTx/>
            </a:pPr>
            <a:r>
              <a:rPr lang="en-US" altLang="en-US" sz="2800">
                <a:solidFill>
                  <a:srgbClr val="000000"/>
                </a:solidFill>
              </a:rPr>
              <a:t>Common image formats include: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1 sample per point (B&amp;W or Grayscale)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3 samples per point (Red, Green, and Blue)</a:t>
            </a:r>
          </a:p>
          <a:p>
            <a:pPr lvl="1">
              <a:spcBef>
                <a:spcPts val="600"/>
              </a:spcBef>
              <a:buFont typeface="Arial" panose="020B0604020202020204" pitchFamily="34" charset="0"/>
              <a:buChar char="–"/>
            </a:pPr>
            <a:r>
              <a:rPr lang="en-US" altLang="en-US">
                <a:solidFill>
                  <a:srgbClr val="000000"/>
                </a:solidFill>
              </a:rPr>
              <a:t>4 samples per point (Red, Green, Blue, and “Alpha”, a.k.a. Opacity)</a:t>
            </a:r>
          </a:p>
          <a:p>
            <a:pPr lvl="1">
              <a:spcBef>
                <a:spcPts val="600"/>
              </a:spcBef>
              <a:buClrTx/>
            </a:pPr>
            <a:endParaRPr lang="en-IE" altLang="en-US">
              <a:solidFill>
                <a:srgbClr val="000000"/>
              </a:solidFill>
            </a:endParaRPr>
          </a:p>
          <a:p>
            <a:pPr lvl="1">
              <a:spcBef>
                <a:spcPts val="600"/>
              </a:spcBef>
              <a:buClrTx/>
            </a:pPr>
            <a:endParaRPr lang="en-IE" altLang="en-US">
              <a:solidFill>
                <a:srgbClr val="000000"/>
              </a:solidFill>
            </a:endParaRPr>
          </a:p>
          <a:p>
            <a:pPr lvl="1">
              <a:spcBef>
                <a:spcPts val="600"/>
              </a:spcBef>
              <a:buClrTx/>
            </a:pPr>
            <a:endParaRPr lang="en-IE" altLang="en-US">
              <a:solidFill>
                <a:srgbClr val="000000"/>
              </a:solidFill>
            </a:endParaRPr>
          </a:p>
          <a:p>
            <a:pPr lvl="1">
              <a:spcBef>
                <a:spcPts val="600"/>
              </a:spcBef>
              <a:buClrTx/>
            </a:pPr>
            <a:endParaRPr lang="en-IE" altLang="en-US">
              <a:solidFill>
                <a:srgbClr val="000000"/>
              </a:solidFill>
            </a:endParaRPr>
          </a:p>
          <a:p>
            <a:pPr>
              <a:spcBef>
                <a:spcPts val="700"/>
              </a:spcBef>
              <a:buClrTx/>
            </a:pPr>
            <a:endParaRPr lang="en-IE" altLang="en-US" sz="2800">
              <a:solidFill>
                <a:srgbClr val="000000"/>
              </a:solidFill>
            </a:endParaRPr>
          </a:p>
          <a:p>
            <a:pPr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For most of this course we will focus on grey-scale images</a:t>
            </a:r>
          </a:p>
        </p:txBody>
      </p:sp>
      <p:grpSp>
        <p:nvGrpSpPr>
          <p:cNvPr id="16388" name="Group 3"/>
          <p:cNvGrpSpPr>
            <a:grpSpLocks/>
          </p:cNvGrpSpPr>
          <p:nvPr/>
        </p:nvGrpSpPr>
        <p:grpSpPr bwMode="auto">
          <a:xfrm>
            <a:off x="4860925" y="3630614"/>
            <a:ext cx="2408238" cy="2079625"/>
            <a:chOff x="2102" y="2287"/>
            <a:chExt cx="1517" cy="1310"/>
          </a:xfrm>
        </p:grpSpPr>
        <p:pic>
          <p:nvPicPr>
            <p:cNvPr id="16391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102" y="2287"/>
              <a:ext cx="1517" cy="1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392" name="Text Box 5"/>
            <p:cNvSpPr txBox="1">
              <a:spLocks noChangeArrowheads="1"/>
            </p:cNvSpPr>
            <p:nvPr/>
          </p:nvSpPr>
          <p:spPr bwMode="auto">
            <a:xfrm>
              <a:off x="2102" y="2287"/>
              <a:ext cx="1517" cy="13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pic>
        <p:nvPicPr>
          <p:cNvPr id="16389" name="Picture 6"/>
          <p:cNvPicPr>
            <a:picLocks noChangeAspect="1" noChangeArrowheads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9151" y="3630613"/>
            <a:ext cx="24161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grayscl/>
                  </a:blip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6390" name="Picture 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4289" y="3630613"/>
            <a:ext cx="2416175" cy="2087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70016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What is Digital Image Processing?</a:t>
            </a:r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Digital image processing focuses on two major tasks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Improvement of pictorial information for human interpretation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Processing of image data for storage, transmission and representation for autonomous machine perception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Some argument about where image processing ends and fields such as image analysis and computer vision start</a:t>
            </a:r>
          </a:p>
        </p:txBody>
      </p:sp>
    </p:spTree>
    <p:extLst>
      <p:ext uri="{BB962C8B-B14F-4D97-AF65-F5344CB8AC3E}">
        <p14:creationId xmlns:p14="http://schemas.microsoft.com/office/powerpoint/2010/main" val="18173031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AutoShape 1"/>
          <p:cNvSpPr>
            <a:spLocks noChangeArrowheads="1"/>
          </p:cNvSpPr>
          <p:nvPr/>
        </p:nvSpPr>
        <p:spPr bwMode="auto">
          <a:xfrm>
            <a:off x="1695451" y="4032251"/>
            <a:ext cx="8786813" cy="885825"/>
          </a:xfrm>
          <a:prstGeom prst="rightArrow">
            <a:avLst>
              <a:gd name="adj1" fmla="val 53046"/>
              <a:gd name="adj2" fmla="val 82937"/>
            </a:avLst>
          </a:prstGeom>
          <a:solidFill>
            <a:srgbClr val="BBE0E3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What is DIP? (cont…)</a:t>
            </a:r>
          </a:p>
        </p:txBody>
      </p:sp>
      <p:sp>
        <p:nvSpPr>
          <p:cNvPr id="20484" name="Text Box 3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continuum from image processing to computer vision can be broken up into low-, mid- and high-level processes</a:t>
            </a:r>
          </a:p>
        </p:txBody>
      </p:sp>
      <p:grpSp>
        <p:nvGrpSpPr>
          <p:cNvPr id="20485" name="Group 4"/>
          <p:cNvGrpSpPr>
            <a:grpSpLocks/>
          </p:cNvGrpSpPr>
          <p:nvPr/>
        </p:nvGrpSpPr>
        <p:grpSpPr bwMode="auto">
          <a:xfrm>
            <a:off x="1995489" y="3203576"/>
            <a:ext cx="2579687" cy="2487613"/>
            <a:chOff x="297" y="2018"/>
            <a:chExt cx="1625" cy="1567"/>
          </a:xfrm>
        </p:grpSpPr>
        <p:sp>
          <p:nvSpPr>
            <p:cNvPr id="20494" name="Text Box 5"/>
            <p:cNvSpPr txBox="1">
              <a:spLocks noChangeArrowheads="1"/>
            </p:cNvSpPr>
            <p:nvPr/>
          </p:nvSpPr>
          <p:spPr bwMode="auto">
            <a:xfrm>
              <a:off x="297" y="2018"/>
              <a:ext cx="1625" cy="234"/>
            </a:xfrm>
            <a:prstGeom prst="rect">
              <a:avLst/>
            </a:prstGeom>
            <a:solidFill>
              <a:srgbClr val="FFFFFF">
                <a:alpha val="70195"/>
              </a:srgbClr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Low Level Process</a:t>
              </a:r>
            </a:p>
          </p:txBody>
        </p:sp>
        <p:sp>
          <p:nvSpPr>
            <p:cNvPr id="20495" name="Text Box 6"/>
            <p:cNvSpPr txBox="1">
              <a:spLocks noChangeArrowheads="1"/>
            </p:cNvSpPr>
            <p:nvPr/>
          </p:nvSpPr>
          <p:spPr bwMode="auto">
            <a:xfrm>
              <a:off x="297" y="2253"/>
              <a:ext cx="1625" cy="1332"/>
            </a:xfrm>
            <a:prstGeom prst="rect">
              <a:avLst/>
            </a:prstGeom>
            <a:solidFill>
              <a:srgbClr val="FFFFFF">
                <a:alpha val="70195"/>
              </a:srgbClr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Input:</a:t>
              </a:r>
              <a:r>
                <a:rPr lang="en-IE" altLang="en-US" sz="1800">
                  <a:solidFill>
                    <a:srgbClr val="000000"/>
                  </a:solidFill>
                </a:rPr>
                <a:t> Image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 b="1">
                  <a:solidFill>
                    <a:srgbClr val="000000"/>
                  </a:solidFill>
                </a:rPr>
                <a:t>Output:</a:t>
              </a:r>
              <a:r>
                <a:rPr lang="en-IE" altLang="en-US" sz="1800">
                  <a:solidFill>
                    <a:srgbClr val="000000"/>
                  </a:solidFill>
                </a:rPr>
                <a:t> Image</a:t>
              </a:r>
            </a:p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Examples:</a:t>
              </a:r>
              <a:r>
                <a:rPr lang="en-IE" altLang="en-US" sz="1800">
                  <a:solidFill>
                    <a:srgbClr val="000000"/>
                  </a:solidFill>
                </a:rPr>
                <a:t> Noise removal, image sharpening</a:t>
              </a:r>
            </a:p>
          </p:txBody>
        </p:sp>
      </p:grpSp>
      <p:grpSp>
        <p:nvGrpSpPr>
          <p:cNvPr id="20486" name="Group 7"/>
          <p:cNvGrpSpPr>
            <a:grpSpLocks/>
          </p:cNvGrpSpPr>
          <p:nvPr/>
        </p:nvGrpSpPr>
        <p:grpSpPr bwMode="auto">
          <a:xfrm>
            <a:off x="4803775" y="3203576"/>
            <a:ext cx="2579688" cy="2487613"/>
            <a:chOff x="2066" y="2018"/>
            <a:chExt cx="1625" cy="1567"/>
          </a:xfrm>
        </p:grpSpPr>
        <p:sp>
          <p:nvSpPr>
            <p:cNvPr id="20492" name="Text Box 8"/>
            <p:cNvSpPr txBox="1">
              <a:spLocks noChangeArrowheads="1"/>
            </p:cNvSpPr>
            <p:nvPr/>
          </p:nvSpPr>
          <p:spPr bwMode="auto">
            <a:xfrm>
              <a:off x="2066" y="2018"/>
              <a:ext cx="1625" cy="234"/>
            </a:xfrm>
            <a:prstGeom prst="rect">
              <a:avLst/>
            </a:prstGeom>
            <a:solidFill>
              <a:srgbClr val="FFFFFF">
                <a:alpha val="70195"/>
              </a:srgbClr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Mid Level Process</a:t>
              </a:r>
            </a:p>
          </p:txBody>
        </p:sp>
        <p:sp>
          <p:nvSpPr>
            <p:cNvPr id="20493" name="Text Box 9"/>
            <p:cNvSpPr txBox="1">
              <a:spLocks noChangeArrowheads="1"/>
            </p:cNvSpPr>
            <p:nvPr/>
          </p:nvSpPr>
          <p:spPr bwMode="auto">
            <a:xfrm>
              <a:off x="2066" y="2253"/>
              <a:ext cx="1625" cy="1332"/>
            </a:xfrm>
            <a:prstGeom prst="rect">
              <a:avLst/>
            </a:prstGeom>
            <a:solidFill>
              <a:srgbClr val="FFFFFF">
                <a:alpha val="70195"/>
              </a:srgbClr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Input:</a:t>
              </a:r>
              <a:r>
                <a:rPr lang="en-IE" altLang="en-US" sz="1800">
                  <a:solidFill>
                    <a:srgbClr val="000000"/>
                  </a:solidFill>
                </a:rPr>
                <a:t> Image </a:t>
              </a:r>
              <a:br>
                <a:rPr lang="en-IE" altLang="en-US" sz="1800">
                  <a:solidFill>
                    <a:srgbClr val="000000"/>
                  </a:solidFill>
                </a:rPr>
              </a:br>
              <a:r>
                <a:rPr lang="en-IE" altLang="en-US" sz="1800" b="1">
                  <a:solidFill>
                    <a:srgbClr val="000000"/>
                  </a:solidFill>
                </a:rPr>
                <a:t>Output:</a:t>
              </a:r>
              <a:r>
                <a:rPr lang="en-IE" altLang="en-US" sz="1800">
                  <a:solidFill>
                    <a:srgbClr val="000000"/>
                  </a:solidFill>
                </a:rPr>
                <a:t> Attributes</a:t>
              </a:r>
            </a:p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Examples:</a:t>
              </a:r>
              <a:r>
                <a:rPr lang="en-IE" altLang="en-US" sz="1800">
                  <a:solidFill>
                    <a:srgbClr val="000000"/>
                  </a:solidFill>
                </a:rPr>
                <a:t> Object recognition, segmentation</a:t>
              </a:r>
            </a:p>
          </p:txBody>
        </p:sp>
      </p:grpSp>
      <p:grpSp>
        <p:nvGrpSpPr>
          <p:cNvPr id="20487" name="Group 10"/>
          <p:cNvGrpSpPr>
            <a:grpSpLocks/>
          </p:cNvGrpSpPr>
          <p:nvPr/>
        </p:nvGrpSpPr>
        <p:grpSpPr bwMode="auto">
          <a:xfrm>
            <a:off x="7613650" y="3203576"/>
            <a:ext cx="2578100" cy="2487613"/>
            <a:chOff x="3836" y="2018"/>
            <a:chExt cx="1624" cy="1567"/>
          </a:xfrm>
        </p:grpSpPr>
        <p:sp>
          <p:nvSpPr>
            <p:cNvPr id="20490" name="Text Box 11"/>
            <p:cNvSpPr txBox="1">
              <a:spLocks noChangeArrowheads="1"/>
            </p:cNvSpPr>
            <p:nvPr/>
          </p:nvSpPr>
          <p:spPr bwMode="auto">
            <a:xfrm>
              <a:off x="3836" y="2018"/>
              <a:ext cx="1624" cy="234"/>
            </a:xfrm>
            <a:prstGeom prst="rect">
              <a:avLst/>
            </a:prstGeom>
            <a:solidFill>
              <a:srgbClr val="FFFFFF">
                <a:alpha val="70195"/>
              </a:srgbClr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High Level Process</a:t>
              </a:r>
            </a:p>
          </p:txBody>
        </p:sp>
        <p:sp>
          <p:nvSpPr>
            <p:cNvPr id="20491" name="Text Box 12"/>
            <p:cNvSpPr txBox="1">
              <a:spLocks noChangeArrowheads="1"/>
            </p:cNvSpPr>
            <p:nvPr/>
          </p:nvSpPr>
          <p:spPr bwMode="auto">
            <a:xfrm>
              <a:off x="3836" y="2253"/>
              <a:ext cx="1624" cy="1332"/>
            </a:xfrm>
            <a:prstGeom prst="rect">
              <a:avLst/>
            </a:prstGeom>
            <a:solidFill>
              <a:srgbClr val="FFFFFF">
                <a:alpha val="70195"/>
              </a:srgbClr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Input: </a:t>
              </a:r>
              <a:r>
                <a:rPr lang="en-IE" altLang="en-US" sz="1800">
                  <a:solidFill>
                    <a:srgbClr val="000000"/>
                  </a:solidFill>
                </a:rPr>
                <a:t>Attributes </a:t>
              </a:r>
              <a:r>
                <a:rPr lang="en-IE" altLang="en-US" sz="1800" b="1">
                  <a:solidFill>
                    <a:srgbClr val="000000"/>
                  </a:solidFill>
                </a:rPr>
                <a:t>Output:</a:t>
              </a:r>
              <a:r>
                <a:rPr lang="en-IE" altLang="en-US" sz="1800">
                  <a:solidFill>
                    <a:srgbClr val="000000"/>
                  </a:solidFill>
                </a:rPr>
                <a:t> Understanding</a:t>
              </a:r>
            </a:p>
            <a:p>
              <a:pPr>
                <a:spcBef>
                  <a:spcPts val="1125"/>
                </a:spcBef>
                <a:buClrTx/>
              </a:pPr>
              <a:r>
                <a:rPr lang="en-IE" altLang="en-US" sz="1800" b="1">
                  <a:solidFill>
                    <a:srgbClr val="000000"/>
                  </a:solidFill>
                </a:rPr>
                <a:t>Examples: </a:t>
              </a:r>
              <a:r>
                <a:rPr lang="en-IE" altLang="en-US" sz="1800">
                  <a:solidFill>
                    <a:srgbClr val="000000"/>
                  </a:solidFill>
                </a:rPr>
                <a:t>Scene understanding, autonomous navigation</a:t>
              </a:r>
            </a:p>
          </p:txBody>
        </p:sp>
      </p:grpSp>
      <p:sp>
        <p:nvSpPr>
          <p:cNvPr id="20488" name="Line 13"/>
          <p:cNvSpPr>
            <a:spLocks noChangeShapeType="1"/>
          </p:cNvSpPr>
          <p:nvPr/>
        </p:nvSpPr>
        <p:spPr bwMode="auto">
          <a:xfrm>
            <a:off x="7496175" y="2860675"/>
            <a:ext cx="1588" cy="3086100"/>
          </a:xfrm>
          <a:prstGeom prst="line">
            <a:avLst/>
          </a:prstGeom>
          <a:noFill/>
          <a:ln w="381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0489" name="Text Box 14"/>
          <p:cNvSpPr txBox="1">
            <a:spLocks noChangeArrowheads="1"/>
          </p:cNvSpPr>
          <p:nvPr/>
        </p:nvSpPr>
        <p:spPr bwMode="auto">
          <a:xfrm>
            <a:off x="6132513" y="5964239"/>
            <a:ext cx="2686050" cy="6429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In this course we will stop here</a:t>
            </a:r>
          </a:p>
        </p:txBody>
      </p:sp>
    </p:spTree>
    <p:extLst>
      <p:ext uri="{BB962C8B-B14F-4D97-AF65-F5344CB8AC3E}">
        <p14:creationId xmlns:p14="http://schemas.microsoft.com/office/powerpoint/2010/main" val="307915330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History of Digital Image Processing</a:t>
            </a:r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 b="1">
                <a:solidFill>
                  <a:srgbClr val="000000"/>
                </a:solidFill>
              </a:rPr>
              <a:t>Early 1920s: </a:t>
            </a:r>
            <a:r>
              <a:rPr lang="en-IE" altLang="en-US" sz="3200">
                <a:solidFill>
                  <a:srgbClr val="000000"/>
                </a:solidFill>
              </a:rPr>
              <a:t>One of the first applications of digital imaging was in the news-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paper industry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The Bartlane cable picture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transmission service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Images were transferred by submarine cable between London and New York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Pictures were coded for cable transfer and reconstructed at the receiving end on a telegraph printer</a:t>
            </a:r>
          </a:p>
          <a:p>
            <a:pPr lvl="1">
              <a:spcBef>
                <a:spcPts val="700"/>
              </a:spcBef>
              <a:buClrTx/>
            </a:pPr>
            <a:endParaRPr lang="en-IE" altLang="en-US" sz="2800">
              <a:solidFill>
                <a:srgbClr val="000000"/>
              </a:solidFill>
            </a:endParaRPr>
          </a:p>
        </p:txBody>
      </p:sp>
      <p:grpSp>
        <p:nvGrpSpPr>
          <p:cNvPr id="22532" name="Group 3"/>
          <p:cNvGrpSpPr>
            <a:grpSpLocks/>
          </p:cNvGrpSpPr>
          <p:nvPr/>
        </p:nvGrpSpPr>
        <p:grpSpPr bwMode="auto">
          <a:xfrm>
            <a:off x="7924801" y="1952625"/>
            <a:ext cx="2251075" cy="1868488"/>
            <a:chOff x="4032" y="1230"/>
            <a:chExt cx="1418" cy="1177"/>
          </a:xfrm>
        </p:grpSpPr>
        <p:graphicFrame>
          <p:nvGraphicFramePr>
            <p:cNvPr id="22536" name="Object 4"/>
            <p:cNvGraphicFramePr>
              <a:graphicFrameLocks noChangeAspect="1"/>
            </p:cNvGraphicFramePr>
            <p:nvPr/>
          </p:nvGraphicFramePr>
          <p:xfrm>
            <a:off x="4055" y="1230"/>
            <a:ext cx="1373" cy="9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29" r:id="rId4" imgW="2186667" imgH="1463167" progId="">
                    <p:embed/>
                  </p:oleObj>
                </mc:Choice>
                <mc:Fallback>
                  <p:oleObj r:id="rId4" imgW="2186667" imgH="1463167" progId="">
                    <p:embed/>
                    <p:pic>
                      <p:nvPicPr>
                        <p:cNvPr id="2253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5" y="1230"/>
                          <a:ext cx="1373" cy="9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blipFill dpi="0" rotWithShape="0">
                                <a:blip/>
                                <a:srcRect/>
                                <a:stretch>
                                  <a:fillRect/>
                                </a:stretch>
                              </a:blip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537" name="Text Box 5"/>
            <p:cNvSpPr txBox="1">
              <a:spLocks noChangeArrowheads="1"/>
            </p:cNvSpPr>
            <p:nvPr/>
          </p:nvSpPr>
          <p:spPr bwMode="auto">
            <a:xfrm>
              <a:off x="4099" y="2162"/>
              <a:ext cx="1302" cy="2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Early digital image</a:t>
              </a:r>
            </a:p>
          </p:txBody>
        </p:sp>
        <p:grpSp>
          <p:nvGrpSpPr>
            <p:cNvPr id="22538" name="Group 6"/>
            <p:cNvGrpSpPr>
              <a:grpSpLocks/>
            </p:cNvGrpSpPr>
            <p:nvPr/>
          </p:nvGrpSpPr>
          <p:grpSpPr bwMode="auto">
            <a:xfrm>
              <a:off x="4032" y="1233"/>
              <a:ext cx="1418" cy="1174"/>
              <a:chOff x="4032" y="1233"/>
              <a:chExt cx="1418" cy="1174"/>
            </a:xfrm>
          </p:grpSpPr>
          <p:sp>
            <p:nvSpPr>
              <p:cNvPr id="22539" name="Rectangle 7"/>
              <p:cNvSpPr>
                <a:spLocks noChangeArrowheads="1"/>
              </p:cNvSpPr>
              <p:nvPr/>
            </p:nvSpPr>
            <p:spPr bwMode="auto">
              <a:xfrm>
                <a:off x="4032" y="1233"/>
                <a:ext cx="1417" cy="922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  <p:sp>
            <p:nvSpPr>
              <p:cNvPr id="22540" name="Rectangle 8"/>
              <p:cNvSpPr>
                <a:spLocks noChangeArrowheads="1"/>
              </p:cNvSpPr>
              <p:nvPr/>
            </p:nvSpPr>
            <p:spPr bwMode="auto">
              <a:xfrm>
                <a:off x="4033" y="2160"/>
                <a:ext cx="1417" cy="247"/>
              </a:xfrm>
              <a:prstGeom prst="rect">
                <a:avLst/>
              </a:prstGeom>
              <a:noFill/>
              <a:ln w="1260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eaLnBrk="1" hangingPunct="1">
                  <a:buClr>
                    <a:srgbClr val="000000"/>
                  </a:buClr>
                  <a:buSzPct val="100000"/>
                  <a:buFont typeface="Times New Roman" panose="02020603050405020304" pitchFamily="18" charset="0"/>
                  <a:buNone/>
                </a:pPr>
                <a:endParaRPr lang="en-US" altLang="en-US"/>
              </a:p>
            </p:txBody>
          </p:sp>
        </p:grpSp>
      </p:grpSp>
      <p:grpSp>
        <p:nvGrpSpPr>
          <p:cNvPr id="22533" name="Group 9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22534" name="Picture 10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2535" name="Rectangle 11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2350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History of DIP (cont…)</a:t>
            </a: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 b="1">
                <a:solidFill>
                  <a:srgbClr val="000000"/>
                </a:solidFill>
              </a:rPr>
              <a:t>Mid to late 1920s: </a:t>
            </a:r>
            <a:r>
              <a:rPr lang="en-IE" altLang="en-US" sz="3200">
                <a:solidFill>
                  <a:srgbClr val="000000"/>
                </a:solidFill>
              </a:rPr>
              <a:t>Improvements to the Bartlane system resulted in higher quality images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New reproduction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processes based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on photographic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techniques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Increased number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of tones in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reproduced images</a:t>
            </a:r>
          </a:p>
        </p:txBody>
      </p:sp>
      <p:grpSp>
        <p:nvGrpSpPr>
          <p:cNvPr id="24580" name="Group 3"/>
          <p:cNvGrpSpPr>
            <a:grpSpLocks/>
          </p:cNvGrpSpPr>
          <p:nvPr/>
        </p:nvGrpSpPr>
        <p:grpSpPr bwMode="auto">
          <a:xfrm>
            <a:off x="5953125" y="3316289"/>
            <a:ext cx="1517650" cy="2509838"/>
            <a:chOff x="2790" y="2089"/>
            <a:chExt cx="956" cy="1581"/>
          </a:xfrm>
        </p:grpSpPr>
        <p:pic>
          <p:nvPicPr>
            <p:cNvPr id="24589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818"/>
            <a:stretch>
              <a:fillRect/>
            </a:stretch>
          </p:blipFill>
          <p:spPr bwMode="auto">
            <a:xfrm>
              <a:off x="2894" y="2107"/>
              <a:ext cx="749" cy="11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72818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4590" name="Text Box 5"/>
            <p:cNvSpPr txBox="1">
              <a:spLocks noChangeArrowheads="1"/>
            </p:cNvSpPr>
            <p:nvPr/>
          </p:nvSpPr>
          <p:spPr bwMode="auto">
            <a:xfrm>
              <a:off x="2790" y="3261"/>
              <a:ext cx="956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Improved digital image</a:t>
              </a:r>
            </a:p>
          </p:txBody>
        </p:sp>
        <p:sp>
          <p:nvSpPr>
            <p:cNvPr id="24591" name="Rectangle 6"/>
            <p:cNvSpPr>
              <a:spLocks noChangeArrowheads="1"/>
            </p:cNvSpPr>
            <p:nvPr/>
          </p:nvSpPr>
          <p:spPr bwMode="auto">
            <a:xfrm>
              <a:off x="2843" y="2089"/>
              <a:ext cx="850" cy="1192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4592" name="Rectangle 7"/>
            <p:cNvSpPr>
              <a:spLocks noChangeArrowheads="1"/>
            </p:cNvSpPr>
            <p:nvPr/>
          </p:nvSpPr>
          <p:spPr bwMode="auto">
            <a:xfrm>
              <a:off x="2843" y="3286"/>
              <a:ext cx="850" cy="373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24581" name="Group 8"/>
          <p:cNvGrpSpPr>
            <a:grpSpLocks/>
          </p:cNvGrpSpPr>
          <p:nvPr/>
        </p:nvGrpSpPr>
        <p:grpSpPr bwMode="auto">
          <a:xfrm>
            <a:off x="7562851" y="3044826"/>
            <a:ext cx="2735263" cy="3052763"/>
            <a:chOff x="3804" y="1918"/>
            <a:chExt cx="1723" cy="1923"/>
          </a:xfrm>
        </p:grpSpPr>
        <p:pic>
          <p:nvPicPr>
            <p:cNvPr id="24585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7650"/>
            <a:stretch>
              <a:fillRect/>
            </a:stretch>
          </p:blipFill>
          <p:spPr bwMode="auto">
            <a:xfrm>
              <a:off x="3832" y="1938"/>
              <a:ext cx="1686" cy="150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47650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4586" name="Text Box 10"/>
            <p:cNvSpPr txBox="1">
              <a:spLocks noChangeArrowheads="1"/>
            </p:cNvSpPr>
            <p:nvPr/>
          </p:nvSpPr>
          <p:spPr bwMode="auto">
            <a:xfrm>
              <a:off x="3805" y="3432"/>
              <a:ext cx="1721" cy="4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Early 15 tone digital image</a:t>
              </a:r>
            </a:p>
          </p:txBody>
        </p:sp>
        <p:sp>
          <p:nvSpPr>
            <p:cNvPr id="24587" name="Rectangle 11"/>
            <p:cNvSpPr>
              <a:spLocks noChangeArrowheads="1"/>
            </p:cNvSpPr>
            <p:nvPr/>
          </p:nvSpPr>
          <p:spPr bwMode="auto">
            <a:xfrm>
              <a:off x="3804" y="1918"/>
              <a:ext cx="1723" cy="1525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4588" name="Rectangle 12"/>
            <p:cNvSpPr>
              <a:spLocks noChangeArrowheads="1"/>
            </p:cNvSpPr>
            <p:nvPr/>
          </p:nvSpPr>
          <p:spPr bwMode="auto">
            <a:xfrm>
              <a:off x="3804" y="3448"/>
              <a:ext cx="1723" cy="373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24582" name="Group 13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24583" name="Picture 14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4584" name="Rectangle 15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05130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History of DIP (cont…)</a:t>
            </a: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 b="1">
                <a:solidFill>
                  <a:srgbClr val="000000"/>
                </a:solidFill>
              </a:rPr>
              <a:t>1960s:</a:t>
            </a:r>
            <a:r>
              <a:rPr lang="en-IE" altLang="en-US" sz="3200">
                <a:solidFill>
                  <a:srgbClr val="000000"/>
                </a:solidFill>
              </a:rPr>
              <a:t> Improvements in computing technology and the onset of the space race led to a surge of work in digital image processing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 b="1">
                <a:solidFill>
                  <a:srgbClr val="000000"/>
                </a:solidFill>
              </a:rPr>
              <a:t>1964: </a:t>
            </a:r>
            <a:r>
              <a:rPr lang="en-IE" altLang="en-US" sz="2800">
                <a:solidFill>
                  <a:srgbClr val="000000"/>
                </a:solidFill>
              </a:rPr>
              <a:t>Computers used to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improve the quality of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images of the moon taken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by the </a:t>
            </a:r>
            <a:r>
              <a:rPr lang="en-IE" altLang="en-US" sz="2800" i="1">
                <a:solidFill>
                  <a:srgbClr val="000000"/>
                </a:solidFill>
              </a:rPr>
              <a:t>Ranger 7</a:t>
            </a:r>
            <a:r>
              <a:rPr lang="en-IE" altLang="en-US" sz="2800">
                <a:solidFill>
                  <a:srgbClr val="000000"/>
                </a:solidFill>
              </a:rPr>
              <a:t> probe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Such techniques were used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in other space missions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including the Apollo landings</a:t>
            </a:r>
          </a:p>
        </p:txBody>
      </p:sp>
      <p:grpSp>
        <p:nvGrpSpPr>
          <p:cNvPr id="26628" name="Group 3"/>
          <p:cNvGrpSpPr>
            <a:grpSpLocks/>
          </p:cNvGrpSpPr>
          <p:nvPr/>
        </p:nvGrpSpPr>
        <p:grpSpPr bwMode="auto">
          <a:xfrm>
            <a:off x="7458075" y="2900364"/>
            <a:ext cx="2960688" cy="3578225"/>
            <a:chOff x="3738" y="1827"/>
            <a:chExt cx="1865" cy="2254"/>
          </a:xfrm>
        </p:grpSpPr>
        <p:pic>
          <p:nvPicPr>
            <p:cNvPr id="26632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574"/>
            <a:stretch>
              <a:fillRect/>
            </a:stretch>
          </p:blipFill>
          <p:spPr bwMode="auto">
            <a:xfrm>
              <a:off x="3816" y="1847"/>
              <a:ext cx="1691" cy="16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r="47574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633" name="Text Box 5"/>
            <p:cNvSpPr txBox="1">
              <a:spLocks noChangeArrowheads="1"/>
            </p:cNvSpPr>
            <p:nvPr/>
          </p:nvSpPr>
          <p:spPr bwMode="auto">
            <a:xfrm>
              <a:off x="3738" y="3548"/>
              <a:ext cx="1865" cy="5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A picture of the moon taken by the Ranger 7 probe minutes before landing</a:t>
              </a:r>
            </a:p>
          </p:txBody>
        </p:sp>
        <p:sp>
          <p:nvSpPr>
            <p:cNvPr id="26634" name="Rectangle 6"/>
            <p:cNvSpPr>
              <a:spLocks noChangeArrowheads="1"/>
            </p:cNvSpPr>
            <p:nvPr/>
          </p:nvSpPr>
          <p:spPr bwMode="auto">
            <a:xfrm>
              <a:off x="3768" y="1827"/>
              <a:ext cx="1804" cy="1705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6635" name="Rectangle 7"/>
            <p:cNvSpPr>
              <a:spLocks noChangeArrowheads="1"/>
            </p:cNvSpPr>
            <p:nvPr/>
          </p:nvSpPr>
          <p:spPr bwMode="auto">
            <a:xfrm>
              <a:off x="3768" y="3537"/>
              <a:ext cx="1804" cy="544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26629" name="Group 8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26630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6631" name="Rectangle 10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531807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History of DIP (cont…)</a:t>
            </a: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 b="1">
                <a:solidFill>
                  <a:srgbClr val="000000"/>
                </a:solidFill>
              </a:rPr>
              <a:t>1970s:</a:t>
            </a:r>
            <a:r>
              <a:rPr lang="en-IE" altLang="en-US" sz="3200">
                <a:solidFill>
                  <a:srgbClr val="000000"/>
                </a:solidFill>
              </a:rPr>
              <a:t> Digital image processing begins to be used in medical applications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 b="1">
                <a:solidFill>
                  <a:srgbClr val="000000"/>
                </a:solidFill>
              </a:rPr>
              <a:t>1979:</a:t>
            </a:r>
            <a:r>
              <a:rPr lang="en-IE" altLang="en-US" sz="2800">
                <a:solidFill>
                  <a:srgbClr val="000000"/>
                </a:solidFill>
              </a:rPr>
              <a:t> Sir Godfrey N.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Hounsfield &amp; Prof. Allan M.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Cormack share the Nobel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Prize in medicine for the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invention of tomography,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the technology behind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Computerised Axial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Tomography (CAT) scans</a:t>
            </a:r>
          </a:p>
        </p:txBody>
      </p:sp>
      <p:grpSp>
        <p:nvGrpSpPr>
          <p:cNvPr id="28676" name="Group 3"/>
          <p:cNvGrpSpPr>
            <a:grpSpLocks/>
          </p:cNvGrpSpPr>
          <p:nvPr/>
        </p:nvGrpSpPr>
        <p:grpSpPr bwMode="auto">
          <a:xfrm>
            <a:off x="7100889" y="2486026"/>
            <a:ext cx="2960687" cy="3306763"/>
            <a:chOff x="3513" y="1566"/>
            <a:chExt cx="1865" cy="2083"/>
          </a:xfrm>
        </p:grpSpPr>
        <p:pic>
          <p:nvPicPr>
            <p:cNvPr id="28680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230" t="59567" r="46556" b="11528"/>
            <a:stretch>
              <a:fillRect/>
            </a:stretch>
          </p:blipFill>
          <p:spPr bwMode="auto">
            <a:xfrm>
              <a:off x="3642" y="1614"/>
              <a:ext cx="1606" cy="16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9230" t="59567" r="46556" b="11528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681" name="Text Box 5"/>
            <p:cNvSpPr txBox="1">
              <a:spLocks noChangeArrowheads="1"/>
            </p:cNvSpPr>
            <p:nvPr/>
          </p:nvSpPr>
          <p:spPr bwMode="auto">
            <a:xfrm>
              <a:off x="3513" y="3269"/>
              <a:ext cx="1865" cy="3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>
              <a:spAutoFit/>
            </a:bodyPr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Typical head slice CAT image</a:t>
              </a:r>
            </a:p>
          </p:txBody>
        </p:sp>
        <p:sp>
          <p:nvSpPr>
            <p:cNvPr id="28682" name="Rectangle 6"/>
            <p:cNvSpPr>
              <a:spLocks noChangeArrowheads="1"/>
            </p:cNvSpPr>
            <p:nvPr/>
          </p:nvSpPr>
          <p:spPr bwMode="auto">
            <a:xfrm>
              <a:off x="3602" y="1566"/>
              <a:ext cx="1687" cy="1687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28683" name="Rectangle 7"/>
            <p:cNvSpPr>
              <a:spLocks noChangeArrowheads="1"/>
            </p:cNvSpPr>
            <p:nvPr/>
          </p:nvSpPr>
          <p:spPr bwMode="auto">
            <a:xfrm>
              <a:off x="3602" y="3258"/>
              <a:ext cx="1687" cy="391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28677" name="Group 8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28678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28679" name="Rectangle 10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86876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History of DIP (cont…)</a:t>
            </a: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 b="1">
                <a:solidFill>
                  <a:srgbClr val="000000"/>
                </a:solidFill>
              </a:rPr>
              <a:t>1980s - Today:</a:t>
            </a:r>
            <a:r>
              <a:rPr lang="en-IE" altLang="en-US" sz="3200">
                <a:solidFill>
                  <a:srgbClr val="000000"/>
                </a:solidFill>
              </a:rPr>
              <a:t> The use of digital image processing techniques has exploded and they are now used for all kinds of tasks in all kinds of areas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Image enhancement/restoration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Artistic effects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Medical visualisation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Industrial inspection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Law enforcement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Human computer interfaces</a:t>
            </a:r>
          </a:p>
        </p:txBody>
      </p:sp>
    </p:spTree>
    <p:extLst>
      <p:ext uri="{BB962C8B-B14F-4D97-AF65-F5344CB8AC3E}">
        <p14:creationId xmlns:p14="http://schemas.microsoft.com/office/powerpoint/2010/main" val="109823529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Image Enhancement</a:t>
            </a: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One of the most common uses of DIP techniques: improve quality, remove noise etc</a:t>
            </a:r>
          </a:p>
        </p:txBody>
      </p:sp>
      <p:grpSp>
        <p:nvGrpSpPr>
          <p:cNvPr id="32772" name="Group 3"/>
          <p:cNvGrpSpPr>
            <a:grpSpLocks/>
          </p:cNvGrpSpPr>
          <p:nvPr/>
        </p:nvGrpSpPr>
        <p:grpSpPr bwMode="auto">
          <a:xfrm>
            <a:off x="5081588" y="4708525"/>
            <a:ext cx="4857750" cy="2109788"/>
            <a:chOff x="2241" y="2966"/>
            <a:chExt cx="3060" cy="1329"/>
          </a:xfrm>
        </p:grpSpPr>
        <p:pic>
          <p:nvPicPr>
            <p:cNvPr id="32784" name="Picture 4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980" r="40210" b="50194"/>
            <a:stretch>
              <a:fillRect/>
            </a:stretch>
          </p:blipFill>
          <p:spPr bwMode="auto">
            <a:xfrm>
              <a:off x="2241" y="2971"/>
              <a:ext cx="1316" cy="13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19980" r="40210" b="50194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2785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9720" t="49875"/>
            <a:stretch>
              <a:fillRect/>
            </a:stretch>
          </p:blipFill>
          <p:spPr bwMode="auto">
            <a:xfrm>
              <a:off x="3969" y="2966"/>
              <a:ext cx="1332" cy="13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59720" t="49875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86" name="AutoShape 6"/>
            <p:cNvSpPr>
              <a:spLocks noChangeArrowheads="1"/>
            </p:cNvSpPr>
            <p:nvPr/>
          </p:nvSpPr>
          <p:spPr bwMode="auto">
            <a:xfrm>
              <a:off x="3599" y="3522"/>
              <a:ext cx="338" cy="217"/>
            </a:xfrm>
            <a:prstGeom prst="rightArrow">
              <a:avLst>
                <a:gd name="adj1" fmla="val 50000"/>
                <a:gd name="adj2" fmla="val 38940"/>
              </a:avLst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32773" name="Group 7"/>
          <p:cNvGrpSpPr>
            <a:grpSpLocks/>
          </p:cNvGrpSpPr>
          <p:nvPr/>
        </p:nvGrpSpPr>
        <p:grpSpPr bwMode="auto">
          <a:xfrm>
            <a:off x="5256213" y="2825751"/>
            <a:ext cx="4489450" cy="1865313"/>
            <a:chOff x="2351" y="1780"/>
            <a:chExt cx="2828" cy="1175"/>
          </a:xfrm>
        </p:grpSpPr>
        <p:pic>
          <p:nvPicPr>
            <p:cNvPr id="32781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6158" b="29173"/>
            <a:stretch>
              <a:fillRect/>
            </a:stretch>
          </p:blipFill>
          <p:spPr bwMode="auto">
            <a:xfrm>
              <a:off x="2351" y="1780"/>
              <a:ext cx="1226" cy="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r="66158" b="29173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2782" name="Picture 9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389" r="226" b="29173"/>
            <a:stretch>
              <a:fillRect/>
            </a:stretch>
          </p:blipFill>
          <p:spPr bwMode="auto">
            <a:xfrm>
              <a:off x="3969" y="1780"/>
              <a:ext cx="1210" cy="11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66389" r="226" b="29173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83" name="AutoShape 10"/>
            <p:cNvSpPr>
              <a:spLocks noChangeArrowheads="1"/>
            </p:cNvSpPr>
            <p:nvPr/>
          </p:nvSpPr>
          <p:spPr bwMode="auto">
            <a:xfrm>
              <a:off x="3600" y="2259"/>
              <a:ext cx="338" cy="217"/>
            </a:xfrm>
            <a:prstGeom prst="rightArrow">
              <a:avLst>
                <a:gd name="adj1" fmla="val 50000"/>
                <a:gd name="adj2" fmla="val 38940"/>
              </a:avLst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32774" name="Group 11"/>
          <p:cNvGrpSpPr>
            <a:grpSpLocks/>
          </p:cNvGrpSpPr>
          <p:nvPr/>
        </p:nvGrpSpPr>
        <p:grpSpPr bwMode="auto">
          <a:xfrm>
            <a:off x="2373314" y="2878139"/>
            <a:ext cx="2547937" cy="3938587"/>
            <a:chOff x="535" y="1813"/>
            <a:chExt cx="1605" cy="2481"/>
          </a:xfrm>
        </p:grpSpPr>
        <p:pic>
          <p:nvPicPr>
            <p:cNvPr id="32778" name="Picture 12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0219" b="51291"/>
            <a:stretch>
              <a:fillRect/>
            </a:stretch>
          </p:blipFill>
          <p:spPr bwMode="auto">
            <a:xfrm>
              <a:off x="545" y="1813"/>
              <a:ext cx="1584" cy="10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r="60219" b="51291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pic>
          <p:nvPicPr>
            <p:cNvPr id="32779" name="Picture 13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461" t="48575" r="20230" b="2271"/>
            <a:stretch>
              <a:fillRect/>
            </a:stretch>
          </p:blipFill>
          <p:spPr bwMode="auto">
            <a:xfrm>
              <a:off x="535" y="3195"/>
              <a:ext cx="1605" cy="10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l="39461" t="48575" r="20230" b="2271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80" name="AutoShape 14"/>
            <p:cNvSpPr>
              <a:spLocks noChangeArrowheads="1"/>
            </p:cNvSpPr>
            <p:nvPr/>
          </p:nvSpPr>
          <p:spPr bwMode="auto">
            <a:xfrm>
              <a:off x="1198" y="2941"/>
              <a:ext cx="278" cy="247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333399">
                <a:alpha val="89803"/>
              </a:srgbClr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grpSp>
        <p:nvGrpSpPr>
          <p:cNvPr id="32775" name="Group 15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32776" name="Picture 16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2777" name="Rectangle 17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226305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The Hubble Telescope</a:t>
            </a: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Launched in 1990 the Hubble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telescope can take images of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very distant objects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However, an incorrect mirror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made many of Hubble’s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images useless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Image processing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techniques were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used to fix this</a:t>
            </a:r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31100" y="1443039"/>
            <a:ext cx="2909888" cy="235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482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8614" y="3871913"/>
            <a:ext cx="5081587" cy="2722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4822" name="AutoShape 5"/>
          <p:cNvSpPr>
            <a:spLocks noChangeArrowheads="1"/>
          </p:cNvSpPr>
          <p:nvPr/>
        </p:nvSpPr>
        <p:spPr bwMode="auto">
          <a:xfrm>
            <a:off x="7635876" y="5149851"/>
            <a:ext cx="625475" cy="417513"/>
          </a:xfrm>
          <a:prstGeom prst="rightArrow">
            <a:avLst>
              <a:gd name="adj1" fmla="val 50000"/>
              <a:gd name="adj2" fmla="val 37452"/>
            </a:avLst>
          </a:prstGeom>
          <a:solidFill>
            <a:srgbClr val="00CCFF"/>
          </a:solidFill>
          <a:ln w="126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010754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Artistic Effects</a:t>
            </a: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3786188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Artistic effects are used to make images more visually appealing, to add special effects and to make composite images</a:t>
            </a:r>
          </a:p>
        </p:txBody>
      </p:sp>
      <p:pic>
        <p:nvPicPr>
          <p:cNvPr id="368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1739" y="4962526"/>
            <a:ext cx="2973387" cy="17510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6869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8825" y="1511301"/>
            <a:ext cx="4686300" cy="3351213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6870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6326" y="4962525"/>
            <a:ext cx="2530475" cy="1754188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687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6" y="4962525"/>
            <a:ext cx="3116263" cy="1752600"/>
          </a:xfrm>
          <a:prstGeom prst="rect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823790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Medicine</a:t>
            </a:r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US" altLang="en-US" sz="3200">
                <a:solidFill>
                  <a:srgbClr val="000000"/>
                </a:solidFill>
              </a:rPr>
              <a:t>Take slice from MRI scan of canine heart, and find boundaries between types of tissue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Image with gray levels representing tissue density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US" altLang="en-US" sz="2800">
                <a:solidFill>
                  <a:srgbClr val="000000"/>
                </a:solidFill>
              </a:rPr>
              <a:t>Use a suitable filter to highlight edges</a:t>
            </a:r>
          </a:p>
        </p:txBody>
      </p:sp>
      <p:pic>
        <p:nvPicPr>
          <p:cNvPr id="389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271" b="7062"/>
          <a:stretch>
            <a:fillRect/>
          </a:stretch>
        </p:blipFill>
        <p:spPr bwMode="auto">
          <a:xfrm>
            <a:off x="6445251" y="3989388"/>
            <a:ext cx="3281363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53271" b="706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3891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333"/>
          <a:stretch>
            <a:fillRect/>
          </a:stretch>
        </p:blipFill>
        <p:spPr bwMode="auto">
          <a:xfrm>
            <a:off x="2544763" y="3989388"/>
            <a:ext cx="3281362" cy="2500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6033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38918" name="Text Box 5"/>
          <p:cNvSpPr txBox="1">
            <a:spLocks noChangeArrowheads="1"/>
          </p:cNvSpPr>
          <p:nvPr/>
        </p:nvSpPr>
        <p:spPr bwMode="auto">
          <a:xfrm>
            <a:off x="2459038" y="6356351"/>
            <a:ext cx="3454400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1000"/>
              </a:spcBef>
              <a:buClrTx/>
            </a:pPr>
            <a:r>
              <a:rPr lang="en-US" alt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Original MRI Image of a Dog Heart</a:t>
            </a:r>
          </a:p>
        </p:txBody>
      </p:sp>
      <p:sp>
        <p:nvSpPr>
          <p:cNvPr id="38919" name="Text Box 6"/>
          <p:cNvSpPr txBox="1">
            <a:spLocks noChangeArrowheads="1"/>
          </p:cNvSpPr>
          <p:nvPr/>
        </p:nvSpPr>
        <p:spPr bwMode="auto">
          <a:xfrm>
            <a:off x="6359525" y="6413501"/>
            <a:ext cx="3454400" cy="340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1000"/>
              </a:spcBef>
              <a:buClrTx/>
            </a:pPr>
            <a:r>
              <a:rPr lang="en-US" altLang="en-US" sz="1600">
                <a:solidFill>
                  <a:srgbClr val="000000"/>
                </a:solidFill>
                <a:latin typeface="Times New Roman" panose="02020603050405020304" pitchFamily="18" charset="0"/>
              </a:rPr>
              <a:t>Edge Detection Image</a:t>
            </a:r>
          </a:p>
        </p:txBody>
      </p:sp>
      <p:cxnSp>
        <p:nvCxnSpPr>
          <p:cNvPr id="38920" name="AutoShape 7"/>
          <p:cNvCxnSpPr>
            <a:cxnSpLocks noChangeShapeType="1"/>
          </p:cNvCxnSpPr>
          <p:nvPr/>
        </p:nvCxnSpPr>
        <p:spPr bwMode="auto">
          <a:xfrm>
            <a:off x="5826125" y="5240339"/>
            <a:ext cx="623888" cy="3175"/>
          </a:xfrm>
          <a:prstGeom prst="straightConnector1">
            <a:avLst/>
          </a:prstGeom>
          <a:noFill/>
          <a:ln w="6336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38921" name="Group 8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38922" name="Picture 9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38923" name="Rectangle 10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949097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GIS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Geographic Information Systems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Digital image processing techniques are used extensively to manipulate satellite imagery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Terrain classification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Meteorology</a:t>
            </a:r>
          </a:p>
        </p:txBody>
      </p:sp>
      <p:pic>
        <p:nvPicPr>
          <p:cNvPr id="409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298"/>
          <a:stretch>
            <a:fillRect/>
          </a:stretch>
        </p:blipFill>
        <p:spPr bwMode="auto">
          <a:xfrm>
            <a:off x="1747838" y="4024314"/>
            <a:ext cx="5135562" cy="264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1129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096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505"/>
          <a:stretch>
            <a:fillRect/>
          </a:stretch>
        </p:blipFill>
        <p:spPr bwMode="auto">
          <a:xfrm>
            <a:off x="7321551" y="3902076"/>
            <a:ext cx="2898775" cy="288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3350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0966" name="Group 5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40967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0968" name="Rectangle 7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891815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GIS (cont…)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1981201" y="1333500"/>
            <a:ext cx="4348163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</a:rPr>
              <a:t>Night-Time Lights of the World</a:t>
            </a:r>
            <a:r>
              <a:rPr lang="en-IE" altLang="en-US" sz="3200">
                <a:solidFill>
                  <a:srgbClr val="000000"/>
                </a:solidFill>
              </a:rPr>
              <a:t> data set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Global inventory of human settlement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Not hard to imagine the kind of analysis that might be done using this data</a:t>
            </a:r>
          </a:p>
        </p:txBody>
      </p:sp>
      <p:pic>
        <p:nvPicPr>
          <p:cNvPr id="4301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57"/>
          <a:stretch>
            <a:fillRect/>
          </a:stretch>
        </p:blipFill>
        <p:spPr bwMode="auto">
          <a:xfrm>
            <a:off x="6253164" y="1397000"/>
            <a:ext cx="3970337" cy="533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845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3013" name="Group 4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43014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3015" name="Rectangle 6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5676742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Industrial Inspection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1981201" y="1333500"/>
            <a:ext cx="4621213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Human operators are expensive, slow and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unreliable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Make machines do the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job instead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Industrial vision systems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are used in all kinds of industries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Can we trust them?</a:t>
            </a:r>
          </a:p>
        </p:txBody>
      </p:sp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40"/>
          <a:stretch>
            <a:fillRect/>
          </a:stretch>
        </p:blipFill>
        <p:spPr bwMode="auto">
          <a:xfrm>
            <a:off x="6548438" y="1436688"/>
            <a:ext cx="3960812" cy="5211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54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5061" name="Group 4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45062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5063" name="Rectangle 6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28401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PCB Inspection</a:t>
            </a: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Printed Circuit Board (PCB) inspection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Machine inspection is used to determine that all components are present and that all solder joints are acceptable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Both conventional imaging and x-ray imaging are used</a:t>
            </a:r>
          </a:p>
        </p:txBody>
      </p:sp>
      <p:pic>
        <p:nvPicPr>
          <p:cNvPr id="471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01013" y="3871914"/>
            <a:ext cx="2057400" cy="287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09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28825" y="3870326"/>
            <a:ext cx="3022600" cy="287972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0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7950" y="4899026"/>
            <a:ext cx="2774950" cy="1863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1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313" y="3870325"/>
            <a:ext cx="1238250" cy="9286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7112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9889" y="3870325"/>
            <a:ext cx="1235075" cy="92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13057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Law Enforcement</a:t>
            </a: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46228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Image processing techniques are used extensively by law enforcers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Number plate recognition for speed cameras/automated toll systems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Fingerprint recognition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Enhancement of CCTV images</a:t>
            </a:r>
          </a:p>
        </p:txBody>
      </p:sp>
      <p:pic>
        <p:nvPicPr>
          <p:cNvPr id="491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011" r="19789"/>
          <a:stretch>
            <a:fillRect/>
          </a:stretch>
        </p:blipFill>
        <p:spPr bwMode="auto">
          <a:xfrm>
            <a:off x="6551613" y="1355725"/>
            <a:ext cx="3898900" cy="303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27011" r="1978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49157" name="Picture 4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70"/>
          <a:stretch>
            <a:fillRect/>
          </a:stretch>
        </p:blipFill>
        <p:spPr bwMode="auto">
          <a:xfrm>
            <a:off x="7196138" y="4440238"/>
            <a:ext cx="2609850" cy="2386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1937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49158" name="Group 5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49159" name="Picture 6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49160" name="Rectangle 7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680572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Examples: HCI</a:t>
            </a: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820863" y="1333500"/>
            <a:ext cx="54864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Try to make human computer interfaces more natural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Face recognition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Gesture recognition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Does anyone remember the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user interface from “Minority Report”?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These tasks can be extremely difficult</a:t>
            </a:r>
          </a:p>
        </p:txBody>
      </p:sp>
      <p:pic>
        <p:nvPicPr>
          <p:cNvPr id="5120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1214" y="4492625"/>
            <a:ext cx="1366837" cy="2039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120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6639" y="3984626"/>
            <a:ext cx="3125787" cy="256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120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25" y="1597025"/>
            <a:ext cx="3143250" cy="2247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4210542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</a:t>
            </a: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3252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53253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53254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53255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53256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53257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53258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53259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53260" name="AutoShape 11"/>
          <p:cNvCxnSpPr>
            <a:cxnSpLocks noChangeShapeType="1"/>
            <a:stCxn id="53259" idx="0"/>
            <a:endCxn id="53252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1" name="AutoShape 12"/>
          <p:cNvCxnSpPr>
            <a:cxnSpLocks noChangeShapeType="1"/>
            <a:stCxn id="53252" idx="0"/>
            <a:endCxn id="53257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2" name="AutoShape 13"/>
          <p:cNvCxnSpPr>
            <a:cxnSpLocks noChangeShapeType="1"/>
            <a:stCxn id="53258" idx="2"/>
            <a:endCxn id="53256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3" name="AutoShape 14"/>
          <p:cNvCxnSpPr>
            <a:cxnSpLocks noChangeShapeType="1"/>
            <a:stCxn id="53255" idx="2"/>
            <a:endCxn id="53258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4" name="AutoShape 15"/>
          <p:cNvCxnSpPr>
            <a:cxnSpLocks noChangeShapeType="1"/>
            <a:stCxn id="53254" idx="3"/>
            <a:endCxn id="53255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5" name="AutoShape 16"/>
          <p:cNvCxnSpPr>
            <a:cxnSpLocks noChangeShapeType="1"/>
            <a:stCxn id="53253" idx="3"/>
            <a:endCxn id="53254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3266" name="AutoShape 17"/>
          <p:cNvCxnSpPr>
            <a:cxnSpLocks noChangeShapeType="1"/>
            <a:stCxn id="53257" idx="0"/>
            <a:endCxn id="53253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3267" name="Rectangle 18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53268" name="Rectangle 19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</p:spTree>
    <p:extLst>
      <p:ext uri="{BB962C8B-B14F-4D97-AF65-F5344CB8AC3E}">
        <p14:creationId xmlns:p14="http://schemas.microsoft.com/office/powerpoint/2010/main" val="39604463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Image Aquisition</a:t>
            </a: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5300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55302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55303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55304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55305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55306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55307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55308" name="AutoShape 11"/>
          <p:cNvCxnSpPr>
            <a:cxnSpLocks noChangeShapeType="1"/>
            <a:stCxn id="55307" idx="0"/>
            <a:endCxn id="55300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09" name="AutoShape 12"/>
          <p:cNvCxnSpPr>
            <a:cxnSpLocks noChangeShapeType="1"/>
            <a:stCxn id="55300" idx="0"/>
            <a:endCxn id="55305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0" name="AutoShape 13"/>
          <p:cNvCxnSpPr>
            <a:cxnSpLocks noChangeShapeType="1"/>
            <a:stCxn id="55306" idx="2"/>
            <a:endCxn id="55304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1" name="AutoShape 14"/>
          <p:cNvCxnSpPr>
            <a:cxnSpLocks noChangeShapeType="1"/>
            <a:stCxn id="55303" idx="2"/>
            <a:endCxn id="55306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2" name="AutoShape 15"/>
          <p:cNvCxnSpPr>
            <a:cxnSpLocks noChangeShapeType="1"/>
            <a:stCxn id="55302" idx="3"/>
            <a:endCxn id="55303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3" name="AutoShape 16"/>
          <p:cNvCxnSpPr>
            <a:cxnSpLocks noChangeShapeType="1"/>
            <a:stCxn id="55301" idx="3"/>
            <a:endCxn id="55302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5314" name="AutoShape 17"/>
          <p:cNvCxnSpPr>
            <a:cxnSpLocks noChangeShapeType="1"/>
            <a:stCxn id="55305" idx="0"/>
            <a:endCxn id="55301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pic>
        <p:nvPicPr>
          <p:cNvPr id="55315" name="Picture 1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403"/>
          <a:stretch>
            <a:fillRect/>
          </a:stretch>
        </p:blipFill>
        <p:spPr bwMode="auto">
          <a:xfrm>
            <a:off x="4076701" y="2894013"/>
            <a:ext cx="4043363" cy="2271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1940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5316" name="Rectangle 19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55317" name="Rectangle 20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grpSp>
        <p:nvGrpSpPr>
          <p:cNvPr id="55318" name="Group 21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55319" name="Picture 2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5320" name="Rectangle 23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58368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AutoShape 1"/>
          <p:cNvSpPr>
            <a:spLocks noChangeArrowheads="1"/>
          </p:cNvSpPr>
          <p:nvPr/>
        </p:nvSpPr>
        <p:spPr bwMode="auto">
          <a:xfrm>
            <a:off x="5895975" y="3608389"/>
            <a:ext cx="400050" cy="414337"/>
          </a:xfrm>
          <a:prstGeom prst="rightArrow">
            <a:avLst>
              <a:gd name="adj1" fmla="val 50000"/>
              <a:gd name="adj2" fmla="val 25000"/>
            </a:avLst>
          </a:prstGeom>
          <a:solidFill>
            <a:srgbClr val="BBE0E3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Image Enhancement</a:t>
            </a:r>
          </a:p>
        </p:txBody>
      </p:sp>
      <p:sp>
        <p:nvSpPr>
          <p:cNvPr id="57348" name="Text Box 3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7349" name="Rectangle 4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57350" name="Rectangle 5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57351" name="Rectangle 6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57352" name="Rectangle 7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57353" name="Rectangle 8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57354" name="Rectangle 9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57355" name="Rectangle 10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57356" name="Text Box 11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57357" name="AutoShape 12"/>
          <p:cNvCxnSpPr>
            <a:cxnSpLocks noChangeShapeType="1"/>
            <a:stCxn id="57356" idx="0"/>
            <a:endCxn id="57349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8" name="AutoShape 13"/>
          <p:cNvCxnSpPr>
            <a:cxnSpLocks noChangeShapeType="1"/>
            <a:stCxn id="57349" idx="0"/>
            <a:endCxn id="57354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59" name="AutoShape 14"/>
          <p:cNvCxnSpPr>
            <a:cxnSpLocks noChangeShapeType="1"/>
            <a:stCxn id="57355" idx="2"/>
            <a:endCxn id="57353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0" name="AutoShape 15"/>
          <p:cNvCxnSpPr>
            <a:cxnSpLocks noChangeShapeType="1"/>
            <a:stCxn id="57352" idx="2"/>
            <a:endCxn id="57355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1" name="AutoShape 16"/>
          <p:cNvCxnSpPr>
            <a:cxnSpLocks noChangeShapeType="1"/>
            <a:stCxn id="57351" idx="3"/>
            <a:endCxn id="57352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2" name="AutoShape 17"/>
          <p:cNvCxnSpPr>
            <a:cxnSpLocks noChangeShapeType="1"/>
            <a:stCxn id="57350" idx="3"/>
            <a:endCxn id="57351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7363" name="AutoShape 18"/>
          <p:cNvCxnSpPr>
            <a:cxnSpLocks noChangeShapeType="1"/>
            <a:stCxn id="57354" idx="0"/>
            <a:endCxn id="57350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7364" name="Rectangle 19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57365" name="Rectangle 20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pic>
        <p:nvPicPr>
          <p:cNvPr id="57366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883" t="1311" r="19798" b="50453"/>
          <a:stretch>
            <a:fillRect/>
          </a:stretch>
        </p:blipFill>
        <p:spPr bwMode="auto">
          <a:xfrm>
            <a:off x="3921125" y="2860676"/>
            <a:ext cx="2001838" cy="1978025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0883" t="1311" r="19798" b="50453"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7367" name="Picture 2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7" t="50766" r="59984"/>
          <a:stretch>
            <a:fillRect/>
          </a:stretch>
        </p:blipFill>
        <p:spPr bwMode="auto">
          <a:xfrm>
            <a:off x="6292850" y="2889251"/>
            <a:ext cx="1968500" cy="20177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37" t="50766" r="59984"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7368" name="Group 23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57369" name="Picture 2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7370" name="Rectangle 25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5229073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Image Restoration</a:t>
            </a: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9396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59397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59398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59399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59400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59401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59402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59403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59404" name="AutoShape 11"/>
          <p:cNvCxnSpPr>
            <a:cxnSpLocks noChangeShapeType="1"/>
            <a:stCxn id="59403" idx="0"/>
            <a:endCxn id="59396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5" name="AutoShape 12"/>
          <p:cNvCxnSpPr>
            <a:cxnSpLocks noChangeShapeType="1"/>
            <a:stCxn id="59396" idx="0"/>
            <a:endCxn id="59401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6" name="AutoShape 13"/>
          <p:cNvCxnSpPr>
            <a:cxnSpLocks noChangeShapeType="1"/>
            <a:stCxn id="59402" idx="2"/>
            <a:endCxn id="59400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7" name="AutoShape 14"/>
          <p:cNvCxnSpPr>
            <a:cxnSpLocks noChangeShapeType="1"/>
            <a:stCxn id="59399" idx="2"/>
            <a:endCxn id="59402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8" name="AutoShape 15"/>
          <p:cNvCxnSpPr>
            <a:cxnSpLocks noChangeShapeType="1"/>
            <a:stCxn id="59398" idx="3"/>
            <a:endCxn id="59399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09" name="AutoShape 16"/>
          <p:cNvCxnSpPr>
            <a:cxnSpLocks noChangeShapeType="1"/>
            <a:stCxn id="59397" idx="3"/>
            <a:endCxn id="59398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59410" name="AutoShape 17"/>
          <p:cNvCxnSpPr>
            <a:cxnSpLocks noChangeShapeType="1"/>
            <a:stCxn id="59401" idx="0"/>
            <a:endCxn id="59397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59411" name="Rectangle 18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59412" name="Rectangle 19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pic>
        <p:nvPicPr>
          <p:cNvPr id="59413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735" t="50383" r="21086"/>
          <a:stretch>
            <a:fillRect/>
          </a:stretch>
        </p:blipFill>
        <p:spPr bwMode="auto">
          <a:xfrm>
            <a:off x="5845175" y="3765550"/>
            <a:ext cx="2427288" cy="1849438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9735" t="50383" r="21086"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9414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0274" b="50421"/>
          <a:stretch>
            <a:fillRect/>
          </a:stretch>
        </p:blipFill>
        <p:spPr bwMode="auto">
          <a:xfrm>
            <a:off x="3887788" y="2674938"/>
            <a:ext cx="2462212" cy="184785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60274" b="50421"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59415" name="Group 22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59416" name="Picture 2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59417" name="Rectangle 24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40752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Morphological Processing</a:t>
            </a: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1444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61445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61446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61447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61448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61449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61450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61451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61452" name="AutoShape 11"/>
          <p:cNvCxnSpPr>
            <a:cxnSpLocks noChangeShapeType="1"/>
            <a:stCxn id="61451" idx="0"/>
            <a:endCxn id="61444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3" name="AutoShape 12"/>
          <p:cNvCxnSpPr>
            <a:cxnSpLocks noChangeShapeType="1"/>
            <a:stCxn id="61444" idx="0"/>
            <a:endCxn id="61449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4" name="AutoShape 13"/>
          <p:cNvCxnSpPr>
            <a:cxnSpLocks noChangeShapeType="1"/>
            <a:stCxn id="61450" idx="2"/>
            <a:endCxn id="61448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5" name="AutoShape 14"/>
          <p:cNvCxnSpPr>
            <a:cxnSpLocks noChangeShapeType="1"/>
            <a:stCxn id="61447" idx="2"/>
            <a:endCxn id="61450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6" name="AutoShape 15"/>
          <p:cNvCxnSpPr>
            <a:cxnSpLocks noChangeShapeType="1"/>
            <a:stCxn id="61446" idx="3"/>
            <a:endCxn id="61447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7" name="AutoShape 16"/>
          <p:cNvCxnSpPr>
            <a:cxnSpLocks noChangeShapeType="1"/>
            <a:stCxn id="61445" idx="3"/>
            <a:endCxn id="61446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1458" name="AutoShape 17"/>
          <p:cNvCxnSpPr>
            <a:cxnSpLocks noChangeShapeType="1"/>
            <a:stCxn id="61449" idx="0"/>
            <a:endCxn id="61445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1459" name="Rectangle 18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61460" name="Rectangle 19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pic>
        <p:nvPicPr>
          <p:cNvPr id="61461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70"/>
          <a:stretch>
            <a:fillRect/>
          </a:stretch>
        </p:blipFill>
        <p:spPr bwMode="auto">
          <a:xfrm>
            <a:off x="4351338" y="2563814"/>
            <a:ext cx="3460750" cy="3163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1937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1462" name="Group 21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61463" name="Picture 2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1464" name="Rectangle 23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463868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Segmentation</a:t>
            </a:r>
          </a:p>
        </p:txBody>
      </p:sp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3492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63493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63494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63495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63496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63497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63498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63499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63500" name="AutoShape 11"/>
          <p:cNvCxnSpPr>
            <a:cxnSpLocks noChangeShapeType="1"/>
            <a:stCxn id="63499" idx="0"/>
            <a:endCxn id="63492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1" name="AutoShape 12"/>
          <p:cNvCxnSpPr>
            <a:cxnSpLocks noChangeShapeType="1"/>
            <a:stCxn id="63492" idx="0"/>
            <a:endCxn id="63497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2" name="AutoShape 13"/>
          <p:cNvCxnSpPr>
            <a:cxnSpLocks noChangeShapeType="1"/>
            <a:stCxn id="63498" idx="2"/>
            <a:endCxn id="63496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3" name="AutoShape 14"/>
          <p:cNvCxnSpPr>
            <a:cxnSpLocks noChangeShapeType="1"/>
            <a:stCxn id="63495" idx="2"/>
            <a:endCxn id="63498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4" name="AutoShape 15"/>
          <p:cNvCxnSpPr>
            <a:cxnSpLocks noChangeShapeType="1"/>
            <a:stCxn id="63494" idx="3"/>
            <a:endCxn id="63495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5" name="AutoShape 16"/>
          <p:cNvCxnSpPr>
            <a:cxnSpLocks noChangeShapeType="1"/>
            <a:stCxn id="63493" idx="3"/>
            <a:endCxn id="63494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3506" name="AutoShape 17"/>
          <p:cNvCxnSpPr>
            <a:cxnSpLocks noChangeShapeType="1"/>
            <a:stCxn id="63497" idx="0"/>
            <a:endCxn id="63493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3507" name="Rectangle 18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63508" name="Rectangle 19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pic>
        <p:nvPicPr>
          <p:cNvPr id="63509" name="Picture 20"/>
          <p:cNvPicPr>
            <a:picLocks noChangeAspect="1" noChangeArrowheads="1"/>
          </p:cNvPicPr>
          <p:nvPr/>
        </p:nvPicPr>
        <p:blipFill>
          <a:blip r:embed="rId3">
            <a:lum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219"/>
          <a:stretch>
            <a:fillRect/>
          </a:stretch>
        </p:blipFill>
        <p:spPr bwMode="auto">
          <a:xfrm>
            <a:off x="4405314" y="2559051"/>
            <a:ext cx="3349625" cy="3063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contrast="12000"/>
                  </a:blip>
                  <a:srcRect r="2121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63510" name="Picture 21"/>
          <p:cNvPicPr>
            <a:picLocks noChangeAspect="1" noChangeArrowheads="1"/>
          </p:cNvPicPr>
          <p:nvPr/>
        </p:nvPicPr>
        <p:blipFill>
          <a:blip r:embed="rId3">
            <a:lum bright="-24000" contrast="6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43" r="59158"/>
          <a:stretch>
            <a:fillRect/>
          </a:stretch>
        </p:blipFill>
        <p:spPr bwMode="auto">
          <a:xfrm>
            <a:off x="4368801" y="4183064"/>
            <a:ext cx="1736725" cy="145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bright="-24000" contrast="60000"/>
                  </a:blip>
                  <a:srcRect t="52643" r="5915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3511" name="Group 22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63512" name="Picture 23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3513" name="Rectangle 24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22352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Object Recognition</a:t>
            </a:r>
          </a:p>
        </p:txBody>
      </p:sp>
      <p:sp>
        <p:nvSpPr>
          <p:cNvPr id="6553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5540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65541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65542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65543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65544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65545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65546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65547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65548" name="AutoShape 11"/>
          <p:cNvCxnSpPr>
            <a:cxnSpLocks noChangeShapeType="1"/>
            <a:stCxn id="65547" idx="0"/>
            <a:endCxn id="65540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49" name="AutoShape 12"/>
          <p:cNvCxnSpPr>
            <a:cxnSpLocks noChangeShapeType="1"/>
            <a:stCxn id="65540" idx="0"/>
            <a:endCxn id="65545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0" name="AutoShape 13"/>
          <p:cNvCxnSpPr>
            <a:cxnSpLocks noChangeShapeType="1"/>
            <a:stCxn id="65546" idx="2"/>
            <a:endCxn id="65544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1" name="AutoShape 14"/>
          <p:cNvCxnSpPr>
            <a:cxnSpLocks noChangeShapeType="1"/>
            <a:stCxn id="65543" idx="2"/>
            <a:endCxn id="65546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2" name="AutoShape 15"/>
          <p:cNvCxnSpPr>
            <a:cxnSpLocks noChangeShapeType="1"/>
            <a:stCxn id="65542" idx="3"/>
            <a:endCxn id="65543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3" name="AutoShape 16"/>
          <p:cNvCxnSpPr>
            <a:cxnSpLocks noChangeShapeType="1"/>
            <a:stCxn id="65541" idx="3"/>
            <a:endCxn id="65542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5554" name="AutoShape 17"/>
          <p:cNvCxnSpPr>
            <a:cxnSpLocks noChangeShapeType="1"/>
            <a:stCxn id="65545" idx="0"/>
            <a:endCxn id="65541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5555" name="Rectangle 18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65556" name="Rectangle 19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pic>
        <p:nvPicPr>
          <p:cNvPr id="65557" name="Picture 20"/>
          <p:cNvPicPr>
            <a:picLocks noChangeAspect="1" noChangeArrowheads="1"/>
          </p:cNvPicPr>
          <p:nvPr/>
        </p:nvPicPr>
        <p:blipFill>
          <a:blip r:embed="rId3">
            <a:lum bright="-6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80"/>
          <a:stretch>
            <a:fillRect/>
          </a:stretch>
        </p:blipFill>
        <p:spPr bwMode="auto">
          <a:xfrm>
            <a:off x="4314825" y="2668589"/>
            <a:ext cx="3524250" cy="291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>
                    <a:lum bright="-6000" contrast="30000"/>
                  </a:blip>
                  <a:srcRect l="2608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5558" name="Group 21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65559" name="Picture 2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5560" name="Rectangle 23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654958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Representation &amp; Description</a:t>
            </a:r>
          </a:p>
        </p:txBody>
      </p:sp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7588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67589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67590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67591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67592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67593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67594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67595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67596" name="AutoShape 11"/>
          <p:cNvCxnSpPr>
            <a:cxnSpLocks noChangeShapeType="1"/>
            <a:stCxn id="67595" idx="0"/>
            <a:endCxn id="67588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7" name="AutoShape 12"/>
          <p:cNvCxnSpPr>
            <a:cxnSpLocks noChangeShapeType="1"/>
            <a:stCxn id="67588" idx="0"/>
            <a:endCxn id="67593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8" name="AutoShape 13"/>
          <p:cNvCxnSpPr>
            <a:cxnSpLocks noChangeShapeType="1"/>
            <a:stCxn id="67594" idx="2"/>
            <a:endCxn id="67592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599" name="AutoShape 14"/>
          <p:cNvCxnSpPr>
            <a:cxnSpLocks noChangeShapeType="1"/>
            <a:stCxn id="67591" idx="2"/>
            <a:endCxn id="67594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0" name="AutoShape 15"/>
          <p:cNvCxnSpPr>
            <a:cxnSpLocks noChangeShapeType="1"/>
            <a:stCxn id="67590" idx="3"/>
            <a:endCxn id="67591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1" name="AutoShape 16"/>
          <p:cNvCxnSpPr>
            <a:cxnSpLocks noChangeShapeType="1"/>
            <a:stCxn id="67589" idx="3"/>
            <a:endCxn id="67590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7602" name="AutoShape 17"/>
          <p:cNvCxnSpPr>
            <a:cxnSpLocks noChangeShapeType="1"/>
            <a:stCxn id="67593" idx="0"/>
            <a:endCxn id="67589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7603" name="Rectangle 18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67604" name="Rectangle 19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pic>
        <p:nvPicPr>
          <p:cNvPr id="67605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900"/>
          <a:stretch>
            <a:fillRect/>
          </a:stretch>
        </p:blipFill>
        <p:spPr bwMode="auto">
          <a:xfrm>
            <a:off x="4791076" y="2593975"/>
            <a:ext cx="2593975" cy="3062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2590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7606" name="Group 21"/>
          <p:cNvGrpSpPr>
            <a:grpSpLocks/>
          </p:cNvGrpSpPr>
          <p:nvPr/>
        </p:nvGrpSpPr>
        <p:grpSpPr bwMode="auto">
          <a:xfrm>
            <a:off x="1520826" y="1631950"/>
            <a:ext cx="252413" cy="5221288"/>
            <a:chOff x="-2" y="1028"/>
            <a:chExt cx="159" cy="3289"/>
          </a:xfrm>
        </p:grpSpPr>
        <p:pic>
          <p:nvPicPr>
            <p:cNvPr id="67607" name="Picture 22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59" cy="1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67608" name="Rectangle 23"/>
            <p:cNvSpPr>
              <a:spLocks noChangeArrowheads="1"/>
            </p:cNvSpPr>
            <p:nvPr/>
          </p:nvSpPr>
          <p:spPr bwMode="auto">
            <a:xfrm rot="-5400000">
              <a:off x="-1508" y="2536"/>
              <a:ext cx="3168" cy="154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128758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Image Compression</a:t>
            </a:r>
          </a:p>
        </p:txBody>
      </p:sp>
      <p:sp>
        <p:nvSpPr>
          <p:cNvPr id="6963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69636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69637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69638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69639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69640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69641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69642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69643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69644" name="AutoShape 11"/>
          <p:cNvCxnSpPr>
            <a:cxnSpLocks noChangeShapeType="1"/>
            <a:stCxn id="69643" idx="0"/>
            <a:endCxn id="69636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5" name="AutoShape 12"/>
          <p:cNvCxnSpPr>
            <a:cxnSpLocks noChangeShapeType="1"/>
            <a:stCxn id="69636" idx="0"/>
            <a:endCxn id="69641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6" name="AutoShape 13"/>
          <p:cNvCxnSpPr>
            <a:cxnSpLocks noChangeShapeType="1"/>
            <a:stCxn id="69642" idx="2"/>
            <a:endCxn id="69640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7" name="AutoShape 14"/>
          <p:cNvCxnSpPr>
            <a:cxnSpLocks noChangeShapeType="1"/>
            <a:stCxn id="69639" idx="2"/>
            <a:endCxn id="69642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8" name="AutoShape 15"/>
          <p:cNvCxnSpPr>
            <a:cxnSpLocks noChangeShapeType="1"/>
            <a:stCxn id="69638" idx="3"/>
            <a:endCxn id="69639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49" name="AutoShape 16"/>
          <p:cNvCxnSpPr>
            <a:cxnSpLocks noChangeShapeType="1"/>
            <a:stCxn id="69637" idx="3"/>
            <a:endCxn id="69638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69650" name="AutoShape 17"/>
          <p:cNvCxnSpPr>
            <a:cxnSpLocks noChangeShapeType="1"/>
            <a:stCxn id="69641" idx="0"/>
            <a:endCxn id="69637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69651" name="Rectangle 18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69652" name="Rectangle 19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pic>
        <p:nvPicPr>
          <p:cNvPr id="69653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613" y="2628901"/>
            <a:ext cx="3130550" cy="2963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841255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Key Stages in Digital Image Processing:</a:t>
            </a:r>
            <a:br>
              <a:rPr lang="en-IE" altLang="en-US" sz="3600">
                <a:solidFill>
                  <a:srgbClr val="FFFFFF"/>
                </a:solidFill>
              </a:rPr>
            </a:br>
            <a:r>
              <a:rPr lang="en-IE" altLang="en-US" sz="3600">
                <a:solidFill>
                  <a:srgbClr val="FFFFFF"/>
                </a:solidFill>
              </a:rPr>
              <a:t>Colour Image Processing</a:t>
            </a:r>
          </a:p>
        </p:txBody>
      </p:sp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71684" name="Rectangle 3"/>
          <p:cNvSpPr>
            <a:spLocks noChangeArrowheads="1"/>
          </p:cNvSpPr>
          <p:nvPr/>
        </p:nvSpPr>
        <p:spPr bwMode="auto">
          <a:xfrm>
            <a:off x="2074863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Acquisition</a:t>
            </a:r>
          </a:p>
        </p:txBody>
      </p:sp>
      <p:sp>
        <p:nvSpPr>
          <p:cNvPr id="71685" name="Rectangle 4"/>
          <p:cNvSpPr>
            <a:spLocks noChangeArrowheads="1"/>
          </p:cNvSpPr>
          <p:nvPr/>
        </p:nvSpPr>
        <p:spPr bwMode="auto">
          <a:xfrm>
            <a:off x="4056063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Restoration</a:t>
            </a:r>
          </a:p>
        </p:txBody>
      </p:sp>
      <p:sp>
        <p:nvSpPr>
          <p:cNvPr id="71686" name="Rectangle 5"/>
          <p:cNvSpPr>
            <a:spLocks noChangeArrowheads="1"/>
          </p:cNvSpPr>
          <p:nvPr/>
        </p:nvSpPr>
        <p:spPr bwMode="auto">
          <a:xfrm>
            <a:off x="6434138" y="16795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Morphological Processing</a:t>
            </a:r>
          </a:p>
        </p:txBody>
      </p:sp>
      <p:sp>
        <p:nvSpPr>
          <p:cNvPr id="71687" name="Rectangle 6"/>
          <p:cNvSpPr>
            <a:spLocks noChangeArrowheads="1"/>
          </p:cNvSpPr>
          <p:nvPr/>
        </p:nvSpPr>
        <p:spPr bwMode="auto">
          <a:xfrm>
            <a:off x="8401050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Segmentation</a:t>
            </a:r>
          </a:p>
        </p:txBody>
      </p:sp>
      <p:sp>
        <p:nvSpPr>
          <p:cNvPr id="71688" name="Rectangle 7"/>
          <p:cNvSpPr>
            <a:spLocks noChangeArrowheads="1"/>
          </p:cNvSpPr>
          <p:nvPr/>
        </p:nvSpPr>
        <p:spPr bwMode="auto">
          <a:xfrm>
            <a:off x="8401050" y="51403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Representation &amp; Description</a:t>
            </a:r>
          </a:p>
        </p:txBody>
      </p:sp>
      <p:sp>
        <p:nvSpPr>
          <p:cNvPr id="71689" name="Rectangle 8"/>
          <p:cNvSpPr>
            <a:spLocks noChangeArrowheads="1"/>
          </p:cNvSpPr>
          <p:nvPr/>
        </p:nvSpPr>
        <p:spPr bwMode="auto">
          <a:xfrm>
            <a:off x="2074863" y="289242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Enhancement</a:t>
            </a:r>
          </a:p>
        </p:txBody>
      </p:sp>
      <p:sp>
        <p:nvSpPr>
          <p:cNvPr id="71690" name="Rectangle 9"/>
          <p:cNvSpPr>
            <a:spLocks noChangeArrowheads="1"/>
          </p:cNvSpPr>
          <p:nvPr/>
        </p:nvSpPr>
        <p:spPr bwMode="auto">
          <a:xfrm>
            <a:off x="8401050" y="4016376"/>
            <a:ext cx="1695450" cy="830263"/>
          </a:xfrm>
          <a:prstGeom prst="rect">
            <a:avLst/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700">
                <a:solidFill>
                  <a:srgbClr val="000000"/>
                </a:solidFill>
              </a:rPr>
              <a:t>Object Recognition</a:t>
            </a:r>
          </a:p>
        </p:txBody>
      </p:sp>
      <p:sp>
        <p:nvSpPr>
          <p:cNvPr id="71691" name="Text Box 10"/>
          <p:cNvSpPr txBox="1">
            <a:spLocks noChangeArrowheads="1"/>
          </p:cNvSpPr>
          <p:nvPr/>
        </p:nvSpPr>
        <p:spPr bwMode="auto">
          <a:xfrm>
            <a:off x="1981201" y="5372100"/>
            <a:ext cx="1882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Problem Domain</a:t>
            </a:r>
          </a:p>
        </p:txBody>
      </p:sp>
      <p:cxnSp>
        <p:nvCxnSpPr>
          <p:cNvPr id="71692" name="AutoShape 11"/>
          <p:cNvCxnSpPr>
            <a:cxnSpLocks noChangeShapeType="1"/>
            <a:stCxn id="71691" idx="0"/>
            <a:endCxn id="71684" idx="2"/>
          </p:cNvCxnSpPr>
          <p:nvPr/>
        </p:nvCxnSpPr>
        <p:spPr bwMode="auto">
          <a:xfrm flipV="1">
            <a:off x="2922589" y="4846638"/>
            <a:ext cx="1587" cy="525462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3" name="AutoShape 12"/>
          <p:cNvCxnSpPr>
            <a:cxnSpLocks noChangeShapeType="1"/>
            <a:stCxn id="71684" idx="0"/>
            <a:endCxn id="71689" idx="2"/>
          </p:cNvCxnSpPr>
          <p:nvPr/>
        </p:nvCxnSpPr>
        <p:spPr bwMode="auto">
          <a:xfrm flipV="1">
            <a:off x="2922589" y="3722689"/>
            <a:ext cx="1587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4" name="AutoShape 13"/>
          <p:cNvCxnSpPr>
            <a:cxnSpLocks noChangeShapeType="1"/>
            <a:stCxn id="71690" idx="2"/>
            <a:endCxn id="71688" idx="0"/>
          </p:cNvCxnSpPr>
          <p:nvPr/>
        </p:nvCxnSpPr>
        <p:spPr bwMode="auto">
          <a:xfrm>
            <a:off x="9248775" y="484663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5" name="AutoShape 14"/>
          <p:cNvCxnSpPr>
            <a:cxnSpLocks noChangeShapeType="1"/>
            <a:stCxn id="71687" idx="2"/>
            <a:endCxn id="71690" idx="0"/>
          </p:cNvCxnSpPr>
          <p:nvPr/>
        </p:nvCxnSpPr>
        <p:spPr bwMode="auto">
          <a:xfrm>
            <a:off x="9248775" y="3722689"/>
            <a:ext cx="1588" cy="2936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6" name="AutoShape 15"/>
          <p:cNvCxnSpPr>
            <a:cxnSpLocks noChangeShapeType="1"/>
            <a:stCxn id="71686" idx="3"/>
            <a:endCxn id="71687" idx="0"/>
          </p:cNvCxnSpPr>
          <p:nvPr/>
        </p:nvCxnSpPr>
        <p:spPr bwMode="auto">
          <a:xfrm>
            <a:off x="8129589" y="2093913"/>
            <a:ext cx="1119187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7" name="AutoShape 16"/>
          <p:cNvCxnSpPr>
            <a:cxnSpLocks noChangeShapeType="1"/>
            <a:stCxn id="71685" idx="3"/>
            <a:endCxn id="71686" idx="1"/>
          </p:cNvCxnSpPr>
          <p:nvPr/>
        </p:nvCxnSpPr>
        <p:spPr bwMode="auto">
          <a:xfrm>
            <a:off x="5751514" y="2093914"/>
            <a:ext cx="682625" cy="1587"/>
          </a:xfrm>
          <a:prstGeom prst="straightConnector1">
            <a:avLst/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cxnSp>
        <p:nvCxnSpPr>
          <p:cNvPr id="71698" name="AutoShape 17"/>
          <p:cNvCxnSpPr>
            <a:cxnSpLocks noChangeShapeType="1"/>
            <a:stCxn id="71689" idx="0"/>
            <a:endCxn id="71685" idx="1"/>
          </p:cNvCxnSpPr>
          <p:nvPr/>
        </p:nvCxnSpPr>
        <p:spPr bwMode="auto">
          <a:xfrm flipV="1">
            <a:off x="2922589" y="2093913"/>
            <a:ext cx="1133475" cy="798512"/>
          </a:xfrm>
          <a:prstGeom prst="bentConnector3">
            <a:avLst>
              <a:gd name="adj1" fmla="val 50000"/>
            </a:avLst>
          </a:prstGeom>
          <a:noFill/>
          <a:ln w="12600">
            <a:solidFill>
              <a:srgbClr val="00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sp>
        <p:nvSpPr>
          <p:cNvPr id="71699" name="Rectangle 18"/>
          <p:cNvSpPr>
            <a:spLocks noChangeArrowheads="1"/>
          </p:cNvSpPr>
          <p:nvPr/>
        </p:nvSpPr>
        <p:spPr bwMode="auto">
          <a:xfrm>
            <a:off x="4089400" y="5792788"/>
            <a:ext cx="1695450" cy="830262"/>
          </a:xfrm>
          <a:prstGeom prst="rect">
            <a:avLst/>
          </a:prstGeom>
          <a:solidFill>
            <a:srgbClr val="BBE0E3"/>
          </a:solidFill>
          <a:ln w="381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Colour Image Processing</a:t>
            </a:r>
          </a:p>
        </p:txBody>
      </p:sp>
      <p:sp>
        <p:nvSpPr>
          <p:cNvPr id="71700" name="Rectangle 19"/>
          <p:cNvSpPr>
            <a:spLocks noChangeArrowheads="1"/>
          </p:cNvSpPr>
          <p:nvPr/>
        </p:nvSpPr>
        <p:spPr bwMode="auto">
          <a:xfrm>
            <a:off x="6332538" y="5792788"/>
            <a:ext cx="1695450" cy="830262"/>
          </a:xfrm>
          <a:prstGeom prst="rect">
            <a:avLst/>
          </a:prstGeom>
          <a:solidFill>
            <a:srgbClr val="FFFFFF"/>
          </a:solidFill>
          <a:ln w="25560">
            <a:solidFill>
              <a:srgbClr val="000000"/>
            </a:solidFill>
            <a:prstDash val="dash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Image Compression</a:t>
            </a:r>
          </a:p>
        </p:txBody>
      </p:sp>
      <p:pic>
        <p:nvPicPr>
          <p:cNvPr id="71701" name="Picture 2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695"/>
          <a:stretch>
            <a:fillRect/>
          </a:stretch>
        </p:blipFill>
        <p:spPr bwMode="auto">
          <a:xfrm>
            <a:off x="3840164" y="2801938"/>
            <a:ext cx="4491037" cy="2152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2669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05502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7373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19150" indent="-284163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We have looked at: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What is a digital image?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What is digital image processing?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History of digital image processing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State of the art examples of digital image processing</a:t>
            </a:r>
          </a:p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Key stages in digital image processing</a:t>
            </a:r>
          </a:p>
          <a:p>
            <a:pPr>
              <a:spcBef>
                <a:spcPts val="800"/>
              </a:spcBef>
              <a:buClrTx/>
            </a:pPr>
            <a:endParaRPr lang="en-IE" altLang="en-US" sz="2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17513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Contents</a:t>
            </a:r>
          </a:p>
        </p:txBody>
      </p:sp>
      <p:sp>
        <p:nvSpPr>
          <p:cNvPr id="7577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This lecture will cover: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The human visual system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Light and the electromagnetic spectrum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Image representation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Image sensing and acquisition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Sampling, quantisation and resolution</a:t>
            </a:r>
          </a:p>
          <a:p>
            <a:pPr marL="0" lvl="1">
              <a:spcBef>
                <a:spcPts val="700"/>
              </a:spcBef>
              <a:buClrTx/>
            </a:pPr>
            <a:endParaRPr lang="en-IE" altLang="en-US" sz="2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01379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Human Visual System</a:t>
            </a:r>
          </a:p>
        </p:txBody>
      </p:sp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best vision model we have!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Knowledge of how images form in the eye can help us with processing digital images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We will take just a whirlwind tour of the human visual system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52952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Structure Of The Human Eye</a:t>
            </a:r>
          </a:p>
        </p:txBody>
      </p:sp>
      <p:pic>
        <p:nvPicPr>
          <p:cNvPr id="798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066"/>
          <a:stretch>
            <a:fillRect/>
          </a:stretch>
        </p:blipFill>
        <p:spPr bwMode="auto">
          <a:xfrm>
            <a:off x="6492876" y="1773239"/>
            <a:ext cx="3883025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25066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79876" name="Text Box 3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lens focuses light from objects onto the retina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retina is covered with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light receptors called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 i="1">
                <a:solidFill>
                  <a:srgbClr val="000000"/>
                </a:solidFill>
              </a:rPr>
              <a:t>cones</a:t>
            </a:r>
            <a:r>
              <a:rPr lang="en-IE" altLang="en-US" sz="3200">
                <a:solidFill>
                  <a:srgbClr val="000000"/>
                </a:solidFill>
              </a:rPr>
              <a:t> (6-7 million) and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 i="1">
                <a:solidFill>
                  <a:srgbClr val="000000"/>
                </a:solidFill>
              </a:rPr>
              <a:t>rods</a:t>
            </a:r>
            <a:r>
              <a:rPr lang="en-IE" altLang="en-US" sz="3200">
                <a:solidFill>
                  <a:srgbClr val="000000"/>
                </a:solidFill>
              </a:rPr>
              <a:t> (75-150 million)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Cones are concentrated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around the fovea and are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very sensitive to colour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Rods are more spread out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and are sensitive to low levels of illumination</a:t>
            </a:r>
          </a:p>
        </p:txBody>
      </p:sp>
      <p:grpSp>
        <p:nvGrpSpPr>
          <p:cNvPr id="79877" name="Group 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79878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79879" name="Rectangle 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002665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Blind-Spot Experiment</a:t>
            </a:r>
          </a:p>
        </p:txBody>
      </p:sp>
      <p:sp>
        <p:nvSpPr>
          <p:cNvPr id="8192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Draw an image similar to that below on a piece of paper (the dot and cross are about 6 inches apart)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Close your right eye and focus on the cross with your left eye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Hold the image about 20 inches away from your face and move it slowly towards you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dot should disappear!</a:t>
            </a:r>
          </a:p>
        </p:txBody>
      </p:sp>
      <p:pic>
        <p:nvPicPr>
          <p:cNvPr id="819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0550" y="3038476"/>
            <a:ext cx="5899150" cy="74136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953284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Formation In The Eye</a:t>
            </a:r>
          </a:p>
        </p:txBody>
      </p:sp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Muscles within the eye can be used to change the shape of the lens allowing us focus on objects that are near or far away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An image is focused onto the retina causing rods and cones to become excited which ultimately send signals to the brain</a:t>
            </a: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9"/>
          <a:stretch>
            <a:fillRect/>
          </a:stretch>
        </p:blipFill>
        <p:spPr bwMode="auto">
          <a:xfrm>
            <a:off x="2628900" y="4614863"/>
            <a:ext cx="6775450" cy="2012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814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56906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Brightness Adaptation &amp; Discrimination</a:t>
            </a:r>
          </a:p>
        </p:txBody>
      </p:sp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human visual system can perceive approximately 10</a:t>
            </a:r>
            <a:r>
              <a:rPr lang="en-IE" altLang="en-US" sz="3200" baseline="30000">
                <a:solidFill>
                  <a:srgbClr val="000000"/>
                </a:solidFill>
              </a:rPr>
              <a:t>10</a:t>
            </a:r>
            <a:r>
              <a:rPr lang="en-IE" altLang="en-US" sz="3200">
                <a:solidFill>
                  <a:srgbClr val="000000"/>
                </a:solidFill>
              </a:rPr>
              <a:t> different light intensity levels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However, at any one time we can only discriminate between a much smaller number – </a:t>
            </a:r>
            <a:r>
              <a:rPr lang="en-IE" altLang="en-US" sz="3200" i="1">
                <a:solidFill>
                  <a:srgbClr val="000000"/>
                </a:solidFill>
              </a:rPr>
              <a:t>brightness adaptation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Similarly, the </a:t>
            </a:r>
            <a:r>
              <a:rPr lang="en-IE" altLang="en-US" sz="3200" i="1">
                <a:solidFill>
                  <a:srgbClr val="000000"/>
                </a:solidFill>
              </a:rPr>
              <a:t>perceived intensity</a:t>
            </a:r>
            <a:r>
              <a:rPr lang="en-IE" altLang="en-US" sz="3200">
                <a:solidFill>
                  <a:srgbClr val="000000"/>
                </a:solidFill>
              </a:rPr>
              <a:t> of a region is related to the light intensities of the regions surrounding it</a:t>
            </a:r>
          </a:p>
        </p:txBody>
      </p:sp>
    </p:spTree>
    <p:extLst>
      <p:ext uri="{BB962C8B-B14F-4D97-AF65-F5344CB8AC3E}">
        <p14:creationId xmlns:p14="http://schemas.microsoft.com/office/powerpoint/2010/main" val="349633445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Brightness Adaptation &amp; Discrimination (cont…)</a:t>
            </a:r>
          </a:p>
        </p:txBody>
      </p:sp>
      <p:grpSp>
        <p:nvGrpSpPr>
          <p:cNvPr id="88067" name="Group 2"/>
          <p:cNvGrpSpPr>
            <a:grpSpLocks/>
          </p:cNvGrpSpPr>
          <p:nvPr/>
        </p:nvGrpSpPr>
        <p:grpSpPr bwMode="auto">
          <a:xfrm>
            <a:off x="2997201" y="1365250"/>
            <a:ext cx="6149975" cy="5264150"/>
            <a:chOff x="928" y="860"/>
            <a:chExt cx="3874" cy="3316"/>
          </a:xfrm>
        </p:grpSpPr>
        <p:pic>
          <p:nvPicPr>
            <p:cNvPr id="88072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3799" b="55061"/>
            <a:stretch>
              <a:fillRect/>
            </a:stretch>
          </p:blipFill>
          <p:spPr bwMode="auto">
            <a:xfrm>
              <a:off x="970" y="942"/>
              <a:ext cx="3714" cy="26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r="43799" b="55061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8073" name="Rectangle 4"/>
            <p:cNvSpPr>
              <a:spLocks noChangeArrowheads="1"/>
            </p:cNvSpPr>
            <p:nvPr/>
          </p:nvSpPr>
          <p:spPr bwMode="auto">
            <a:xfrm>
              <a:off x="928" y="860"/>
              <a:ext cx="3874" cy="2790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88074" name="Rectangle 5"/>
            <p:cNvSpPr>
              <a:spLocks noChangeArrowheads="1"/>
            </p:cNvSpPr>
            <p:nvPr/>
          </p:nvSpPr>
          <p:spPr bwMode="auto">
            <a:xfrm>
              <a:off x="928" y="3654"/>
              <a:ext cx="3874" cy="522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An example of Mach bands</a:t>
              </a:r>
            </a:p>
          </p:txBody>
        </p:sp>
      </p:grpSp>
      <p:pic>
        <p:nvPicPr>
          <p:cNvPr id="88068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7051" y="1420813"/>
            <a:ext cx="5980113" cy="4297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88069" name="Group 7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88070" name="Picture 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88071" name="Rectangle 9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1953836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Brightness Adaptation &amp; Discrimination (cont…)</a:t>
            </a:r>
          </a:p>
        </p:txBody>
      </p:sp>
      <p:grpSp>
        <p:nvGrpSpPr>
          <p:cNvPr id="90115" name="Group 2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90117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0118" name="Rectangle 4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90116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7614" y="1357313"/>
            <a:ext cx="4681537" cy="528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34182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Brightness Adaptation &amp; Discrimination (cont…)</a:t>
            </a:r>
          </a:p>
        </p:txBody>
      </p:sp>
      <p:grpSp>
        <p:nvGrpSpPr>
          <p:cNvPr id="92163" name="Group 2"/>
          <p:cNvGrpSpPr>
            <a:grpSpLocks/>
          </p:cNvGrpSpPr>
          <p:nvPr/>
        </p:nvGrpSpPr>
        <p:grpSpPr bwMode="auto">
          <a:xfrm>
            <a:off x="1900238" y="2063751"/>
            <a:ext cx="8361362" cy="3554413"/>
            <a:chOff x="237" y="1300"/>
            <a:chExt cx="5267" cy="2239"/>
          </a:xfrm>
        </p:grpSpPr>
        <p:pic>
          <p:nvPicPr>
            <p:cNvPr id="9216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2031"/>
            <a:stretch>
              <a:fillRect/>
            </a:stretch>
          </p:blipFill>
          <p:spPr bwMode="auto">
            <a:xfrm>
              <a:off x="293" y="1348"/>
              <a:ext cx="5198" cy="170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b="32031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2168" name="Rectangle 4"/>
            <p:cNvSpPr>
              <a:spLocks noChangeArrowheads="1"/>
            </p:cNvSpPr>
            <p:nvPr/>
          </p:nvSpPr>
          <p:spPr bwMode="auto">
            <a:xfrm>
              <a:off x="237" y="1300"/>
              <a:ext cx="5267" cy="1799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  <p:sp>
          <p:nvSpPr>
            <p:cNvPr id="92169" name="Rectangle 5"/>
            <p:cNvSpPr>
              <a:spLocks noChangeArrowheads="1"/>
            </p:cNvSpPr>
            <p:nvPr/>
          </p:nvSpPr>
          <p:spPr bwMode="auto">
            <a:xfrm>
              <a:off x="237" y="3103"/>
              <a:ext cx="5267" cy="436"/>
            </a:xfrm>
            <a:prstGeom prst="rect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buClrTx/>
                <a:buFontTx/>
                <a:buNone/>
              </a:pPr>
              <a:r>
                <a:rPr lang="en-IE" altLang="en-US" sz="1800">
                  <a:solidFill>
                    <a:srgbClr val="000000"/>
                  </a:solidFill>
                </a:rPr>
                <a:t>An example of </a:t>
              </a:r>
              <a:r>
                <a:rPr lang="en-IE" altLang="en-US" sz="1800" i="1">
                  <a:solidFill>
                    <a:srgbClr val="000000"/>
                  </a:solidFill>
                </a:rPr>
                <a:t>simultaneous contrast</a:t>
              </a:r>
            </a:p>
          </p:txBody>
        </p:sp>
      </p:grpSp>
      <p:grpSp>
        <p:nvGrpSpPr>
          <p:cNvPr id="92164" name="Group 6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92165" name="Picture 7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92166" name="Rectangle 8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43790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Brightness Adaptation &amp; Discrimination (cont…)</a:t>
            </a:r>
          </a:p>
        </p:txBody>
      </p:sp>
      <p:pic>
        <p:nvPicPr>
          <p:cNvPr id="942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11"/>
          <a:stretch>
            <a:fillRect/>
          </a:stretch>
        </p:blipFill>
        <p:spPr bwMode="auto">
          <a:xfrm>
            <a:off x="2854325" y="1420813"/>
            <a:ext cx="6465888" cy="487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311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4212" name="Rectangle 3"/>
          <p:cNvSpPr>
            <a:spLocks noChangeArrowheads="1"/>
          </p:cNvSpPr>
          <p:nvPr/>
        </p:nvSpPr>
        <p:spPr bwMode="auto">
          <a:xfrm>
            <a:off x="1524000" y="6411914"/>
            <a:ext cx="9144000" cy="446087"/>
          </a:xfrm>
          <a:prstGeom prst="rect">
            <a:avLst/>
          </a:prstGeom>
          <a:solidFill>
            <a:srgbClr val="00008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GB" altLang="en-US" sz="1800">
                <a:solidFill>
                  <a:srgbClr val="FFFFFF"/>
                </a:solidFill>
                <a:cs typeface="Arial" panose="020B0604020202020204" pitchFamily="34" charset="0"/>
              </a:rPr>
              <a:t>For more great illusion examples take a look at: </a:t>
            </a:r>
            <a:r>
              <a:rPr lang="en-GB" altLang="en-US" sz="1800">
                <a:solidFill>
                  <a:srgbClr val="CCCCFF"/>
                </a:solidFill>
                <a:cs typeface="Arial" panose="020B0604020202020204" pitchFamily="34" charset="0"/>
                <a:hlinkClick r:id="rId4"/>
              </a:rPr>
              <a:t>http://web.mit.edu/persci/gaz/</a:t>
            </a:r>
            <a:r>
              <a:rPr lang="en-GB" altLang="en-US" sz="1800">
                <a:solidFill>
                  <a:srgbClr val="000000"/>
                </a:solidFill>
              </a:rPr>
              <a:t> </a:t>
            </a:r>
          </a:p>
        </p:txBody>
      </p:sp>
      <p:pic>
        <p:nvPicPr>
          <p:cNvPr id="4915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41"/>
          <a:stretch>
            <a:fillRect/>
          </a:stretch>
        </p:blipFill>
        <p:spPr bwMode="auto">
          <a:xfrm>
            <a:off x="2854326" y="1404939"/>
            <a:ext cx="6467475" cy="488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284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859001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962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" t="46063" r="9172" b="12004"/>
          <a:stretch>
            <a:fillRect/>
          </a:stretch>
        </p:blipFill>
        <p:spPr bwMode="auto">
          <a:xfrm>
            <a:off x="2517775" y="1919288"/>
            <a:ext cx="7151688" cy="4056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7185" t="46063" r="9172" b="1200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017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8" t="45842" r="8955" b="12082"/>
          <a:stretch>
            <a:fillRect/>
          </a:stretch>
        </p:blipFill>
        <p:spPr bwMode="auto">
          <a:xfrm>
            <a:off x="2489201" y="1919288"/>
            <a:ext cx="7180263" cy="407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7088" t="45842" r="8955" b="1208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96261" name="Rectangle 4"/>
          <p:cNvSpPr>
            <a:spLocks noChangeArrowheads="1"/>
          </p:cNvSpPr>
          <p:nvPr/>
        </p:nvSpPr>
        <p:spPr bwMode="auto">
          <a:xfrm>
            <a:off x="1524000" y="6411914"/>
            <a:ext cx="9144000" cy="446087"/>
          </a:xfrm>
          <a:prstGeom prst="rect">
            <a:avLst/>
          </a:prstGeom>
          <a:solidFill>
            <a:srgbClr val="000080"/>
          </a:solidFill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GB" altLang="en-US" sz="1800">
                <a:solidFill>
                  <a:srgbClr val="FFFFFF"/>
                </a:solidFill>
                <a:cs typeface="Arial" panose="020B0604020202020204" pitchFamily="34" charset="0"/>
              </a:rPr>
              <a:t>Available here: </a:t>
            </a:r>
            <a:r>
              <a:rPr lang="en-IE" altLang="en-US" sz="1800">
                <a:solidFill>
                  <a:srgbClr val="CCCCFF"/>
                </a:solidFill>
                <a:cs typeface="Arial" panose="020B0604020202020204" pitchFamily="34" charset="0"/>
                <a:hlinkClick r:id="rId5"/>
              </a:rPr>
              <a:t>http://www.lottolab.org/Visual%20Demos/Demo%2015.html</a:t>
            </a:r>
          </a:p>
        </p:txBody>
      </p:sp>
    </p:spTree>
    <p:extLst>
      <p:ext uri="{BB962C8B-B14F-4D97-AF65-F5344CB8AC3E}">
        <p14:creationId xmlns:p14="http://schemas.microsoft.com/office/powerpoint/2010/main" val="292188454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Optical Illusions</a:t>
            </a:r>
          </a:p>
        </p:txBody>
      </p:sp>
      <p:sp>
        <p:nvSpPr>
          <p:cNvPr id="98307" name="Text Box 2"/>
          <p:cNvSpPr txBox="1">
            <a:spLocks noChangeArrowheads="1"/>
          </p:cNvSpPr>
          <p:nvPr/>
        </p:nvSpPr>
        <p:spPr bwMode="auto">
          <a:xfrm>
            <a:off x="1981201" y="1397001"/>
            <a:ext cx="3363913" cy="544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Our visual systems play lots of interesting tricks on us</a:t>
            </a:r>
          </a:p>
          <a:p>
            <a:pPr>
              <a:spcBef>
                <a:spcPts val="800"/>
              </a:spcBef>
              <a:buClrTx/>
            </a:pPr>
            <a:endParaRPr lang="en-IE" altLang="en-US" sz="3200">
              <a:solidFill>
                <a:srgbClr val="000000"/>
              </a:solidFill>
            </a:endParaRPr>
          </a:p>
        </p:txBody>
      </p:sp>
      <p:pic>
        <p:nvPicPr>
          <p:cNvPr id="9830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12"/>
          <a:stretch>
            <a:fillRect/>
          </a:stretch>
        </p:blipFill>
        <p:spPr bwMode="auto">
          <a:xfrm>
            <a:off x="5341939" y="1470025"/>
            <a:ext cx="5153025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41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8927196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Light And The Electromagnetic Spectrum</a:t>
            </a:r>
          </a:p>
        </p:txBody>
      </p:sp>
      <p:sp>
        <p:nvSpPr>
          <p:cNvPr id="10035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Light is just a particular part of the electromagnetic spectrum that can be sensed by the human eye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electromagnetic spectrum is split up according to the wavelengths of different forms of energy</a:t>
            </a:r>
          </a:p>
        </p:txBody>
      </p:sp>
      <p:pic>
        <p:nvPicPr>
          <p:cNvPr id="1003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643"/>
          <a:stretch>
            <a:fillRect/>
          </a:stretch>
        </p:blipFill>
        <p:spPr bwMode="auto">
          <a:xfrm>
            <a:off x="2330450" y="4529138"/>
            <a:ext cx="7442200" cy="2006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2264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75359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Reflected Light</a:t>
            </a:r>
          </a:p>
        </p:txBody>
      </p:sp>
      <p:sp>
        <p:nvSpPr>
          <p:cNvPr id="10240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colours that we perceive are determined by the nature of the light reflected from an object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For example, if white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light is shone onto a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green object most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wavelengths are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absorbed, while green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light is reflected from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the object</a:t>
            </a:r>
          </a:p>
        </p:txBody>
      </p:sp>
      <p:sp>
        <p:nvSpPr>
          <p:cNvPr id="102404" name="AutoShape 3"/>
          <p:cNvSpPr>
            <a:spLocks noChangeArrowheads="1"/>
          </p:cNvSpPr>
          <p:nvPr/>
        </p:nvSpPr>
        <p:spPr bwMode="auto">
          <a:xfrm>
            <a:off x="8926514" y="3422651"/>
            <a:ext cx="1012825" cy="2303463"/>
          </a:xfrm>
          <a:prstGeom prst="can">
            <a:avLst>
              <a:gd name="adj" fmla="val 56857"/>
            </a:avLst>
          </a:prstGeom>
          <a:gradFill rotWithShape="0">
            <a:gsLst>
              <a:gs pos="0">
                <a:srgbClr val="185E18"/>
              </a:gs>
              <a:gs pos="100000">
                <a:srgbClr val="33CC33"/>
              </a:gs>
            </a:gsLst>
            <a:lin ang="10800000" scaled="1"/>
          </a:gra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53252" name="AutoShape 4"/>
          <p:cNvSpPr>
            <a:spLocks noChangeArrowheads="1"/>
          </p:cNvSpPr>
          <p:nvPr/>
        </p:nvSpPr>
        <p:spPr bwMode="auto">
          <a:xfrm rot="1200000">
            <a:off x="7086601" y="3690939"/>
            <a:ext cx="1876425" cy="701675"/>
          </a:xfrm>
          <a:prstGeom prst="rightArrow">
            <a:avLst>
              <a:gd name="adj1" fmla="val 50000"/>
              <a:gd name="adj2" fmla="val 66855"/>
            </a:avLst>
          </a:prstGeom>
          <a:solidFill>
            <a:srgbClr val="FFFFFF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White Light</a:t>
            </a:r>
          </a:p>
        </p:txBody>
      </p:sp>
      <p:sp>
        <p:nvSpPr>
          <p:cNvPr id="53253" name="AutoShape 5"/>
          <p:cNvSpPr>
            <a:spLocks noChangeArrowheads="1"/>
          </p:cNvSpPr>
          <p:nvPr/>
        </p:nvSpPr>
        <p:spPr bwMode="auto">
          <a:xfrm>
            <a:off x="8469314" y="3902075"/>
            <a:ext cx="1239837" cy="1239838"/>
          </a:xfrm>
          <a:prstGeom prst="irregularSeal1">
            <a:avLst/>
          </a:prstGeom>
          <a:gradFill rotWithShape="0">
            <a:gsLst>
              <a:gs pos="0">
                <a:srgbClr val="3366FF"/>
              </a:gs>
              <a:gs pos="100000">
                <a:srgbClr val="FF3399"/>
              </a:gs>
            </a:gsLst>
            <a:lin ang="5400000" scaled="1"/>
          </a:gra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Colours Absorbed</a:t>
            </a:r>
          </a:p>
        </p:txBody>
      </p:sp>
      <p:sp>
        <p:nvSpPr>
          <p:cNvPr id="53254" name="AutoShape 6"/>
          <p:cNvSpPr>
            <a:spLocks noChangeArrowheads="1"/>
          </p:cNvSpPr>
          <p:nvPr/>
        </p:nvSpPr>
        <p:spPr bwMode="auto">
          <a:xfrm rot="20820000">
            <a:off x="7073900" y="4675189"/>
            <a:ext cx="1811338" cy="701675"/>
          </a:xfrm>
          <a:prstGeom prst="leftArrow">
            <a:avLst>
              <a:gd name="adj1" fmla="val 50000"/>
              <a:gd name="adj2" fmla="val 64536"/>
            </a:avLst>
          </a:prstGeom>
          <a:solidFill>
            <a:srgbClr val="33CC33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Green Light</a:t>
            </a:r>
          </a:p>
        </p:txBody>
      </p:sp>
      <p:sp>
        <p:nvSpPr>
          <p:cNvPr id="53255" name="AutoShape 7"/>
          <p:cNvSpPr>
            <a:spLocks noChangeArrowheads="1"/>
          </p:cNvSpPr>
          <p:nvPr/>
        </p:nvSpPr>
        <p:spPr bwMode="auto">
          <a:xfrm rot="21300000">
            <a:off x="6530975" y="3152775"/>
            <a:ext cx="800100" cy="946150"/>
          </a:xfrm>
          <a:prstGeom prst="irregularSeal2">
            <a:avLst/>
          </a:prstGeom>
          <a:gradFill rotWithShape="0">
            <a:gsLst>
              <a:gs pos="0">
                <a:srgbClr val="D1C39F"/>
              </a:gs>
              <a:gs pos="100000">
                <a:srgbClr val="FFEFD1"/>
              </a:gs>
            </a:gsLst>
            <a:path path="shape">
              <a:fillToRect l="50000" t="50000" r="50000" b="50000"/>
            </a:path>
          </a:gra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02409" name="AutoShape 8"/>
          <p:cNvSpPr>
            <a:spLocks noChangeArrowheads="1"/>
          </p:cNvSpPr>
          <p:nvPr/>
        </p:nvSpPr>
        <p:spPr bwMode="auto">
          <a:xfrm rot="6480000">
            <a:off x="6391276" y="3168651"/>
            <a:ext cx="506413" cy="760413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0 60000 65536"/>
              <a:gd name="T9" fmla="*/ 0 60000 65536"/>
              <a:gd name="T10" fmla="*/ 0 60000 65536"/>
              <a:gd name="T11" fmla="*/ 0 60000 65536"/>
              <a:gd name="T12" fmla="*/ 3556 w 21600"/>
              <a:gd name="T13" fmla="*/ 2188 h 21600"/>
              <a:gd name="T14" fmla="*/ 18277 w 21600"/>
              <a:gd name="T15" fmla="*/ 928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0825" y="21723"/>
                </a:moveTo>
                <a:lnTo>
                  <a:pt x="11215" y="21723"/>
                </a:lnTo>
                <a:lnTo>
                  <a:pt x="11552" y="21688"/>
                </a:lnTo>
                <a:lnTo>
                  <a:pt x="11916" y="21617"/>
                </a:lnTo>
                <a:lnTo>
                  <a:pt x="12253" y="21547"/>
                </a:lnTo>
                <a:lnTo>
                  <a:pt x="12617" y="21441"/>
                </a:lnTo>
                <a:lnTo>
                  <a:pt x="12902" y="21317"/>
                </a:lnTo>
                <a:lnTo>
                  <a:pt x="13162" y="21176"/>
                </a:lnTo>
                <a:lnTo>
                  <a:pt x="13396" y="21000"/>
                </a:lnTo>
                <a:lnTo>
                  <a:pt x="13655" y="20841"/>
                </a:lnTo>
                <a:lnTo>
                  <a:pt x="13863" y="20629"/>
                </a:lnTo>
                <a:lnTo>
                  <a:pt x="14045" y="20435"/>
                </a:lnTo>
                <a:lnTo>
                  <a:pt x="14200" y="20223"/>
                </a:lnTo>
                <a:lnTo>
                  <a:pt x="14356" y="19994"/>
                </a:lnTo>
                <a:lnTo>
                  <a:pt x="14460" y="19747"/>
                </a:lnTo>
                <a:lnTo>
                  <a:pt x="14512" y="19482"/>
                </a:lnTo>
                <a:lnTo>
                  <a:pt x="14512" y="19235"/>
                </a:lnTo>
                <a:lnTo>
                  <a:pt x="14512" y="19147"/>
                </a:lnTo>
                <a:lnTo>
                  <a:pt x="14512" y="18900"/>
                </a:lnTo>
                <a:lnTo>
                  <a:pt x="14512" y="18529"/>
                </a:lnTo>
                <a:lnTo>
                  <a:pt x="14512" y="18052"/>
                </a:lnTo>
                <a:lnTo>
                  <a:pt x="14512" y="17505"/>
                </a:lnTo>
                <a:lnTo>
                  <a:pt x="14512" y="16976"/>
                </a:lnTo>
                <a:lnTo>
                  <a:pt x="14512" y="16464"/>
                </a:lnTo>
                <a:lnTo>
                  <a:pt x="14512" y="15952"/>
                </a:lnTo>
                <a:lnTo>
                  <a:pt x="14512" y="15758"/>
                </a:lnTo>
                <a:lnTo>
                  <a:pt x="14616" y="15547"/>
                </a:lnTo>
                <a:lnTo>
                  <a:pt x="14694" y="15352"/>
                </a:lnTo>
                <a:lnTo>
                  <a:pt x="14798" y="15141"/>
                </a:lnTo>
                <a:lnTo>
                  <a:pt x="15161" y="14735"/>
                </a:lnTo>
                <a:lnTo>
                  <a:pt x="15602" y="14329"/>
                </a:lnTo>
                <a:lnTo>
                  <a:pt x="16745" y="13552"/>
                </a:lnTo>
                <a:lnTo>
                  <a:pt x="18043" y="12670"/>
                </a:lnTo>
                <a:lnTo>
                  <a:pt x="18744" y="12194"/>
                </a:lnTo>
                <a:lnTo>
                  <a:pt x="19341" y="11647"/>
                </a:lnTo>
                <a:lnTo>
                  <a:pt x="19938" y="11099"/>
                </a:lnTo>
                <a:lnTo>
                  <a:pt x="20483" y="10464"/>
                </a:lnTo>
                <a:lnTo>
                  <a:pt x="20743" y="10164"/>
                </a:lnTo>
                <a:lnTo>
                  <a:pt x="20950" y="9794"/>
                </a:lnTo>
                <a:lnTo>
                  <a:pt x="21132" y="9441"/>
                </a:lnTo>
                <a:lnTo>
                  <a:pt x="21288" y="9035"/>
                </a:lnTo>
                <a:lnTo>
                  <a:pt x="21444" y="8664"/>
                </a:lnTo>
                <a:lnTo>
                  <a:pt x="21548" y="8223"/>
                </a:lnTo>
                <a:lnTo>
                  <a:pt x="21600" y="7782"/>
                </a:lnTo>
                <a:lnTo>
                  <a:pt x="21600" y="7341"/>
                </a:lnTo>
                <a:lnTo>
                  <a:pt x="21600" y="6935"/>
                </a:lnTo>
                <a:lnTo>
                  <a:pt x="21548" y="6564"/>
                </a:lnTo>
                <a:lnTo>
                  <a:pt x="21496" y="6229"/>
                </a:lnTo>
                <a:lnTo>
                  <a:pt x="21392" y="5858"/>
                </a:lnTo>
                <a:lnTo>
                  <a:pt x="21288" y="5523"/>
                </a:lnTo>
                <a:lnTo>
                  <a:pt x="21132" y="5135"/>
                </a:lnTo>
                <a:lnTo>
                  <a:pt x="20950" y="4800"/>
                </a:lnTo>
                <a:lnTo>
                  <a:pt x="20743" y="4464"/>
                </a:lnTo>
                <a:lnTo>
                  <a:pt x="20535" y="4164"/>
                </a:lnTo>
                <a:lnTo>
                  <a:pt x="20301" y="3847"/>
                </a:lnTo>
                <a:lnTo>
                  <a:pt x="20042" y="3547"/>
                </a:lnTo>
                <a:lnTo>
                  <a:pt x="19782" y="3247"/>
                </a:lnTo>
                <a:lnTo>
                  <a:pt x="19133" y="2664"/>
                </a:lnTo>
                <a:lnTo>
                  <a:pt x="18458" y="2152"/>
                </a:lnTo>
                <a:lnTo>
                  <a:pt x="17705" y="1694"/>
                </a:lnTo>
                <a:lnTo>
                  <a:pt x="16849" y="1252"/>
                </a:lnTo>
                <a:lnTo>
                  <a:pt x="16407" y="1076"/>
                </a:lnTo>
                <a:lnTo>
                  <a:pt x="15940" y="900"/>
                </a:lnTo>
                <a:lnTo>
                  <a:pt x="15499" y="741"/>
                </a:lnTo>
                <a:lnTo>
                  <a:pt x="15057" y="600"/>
                </a:lnTo>
                <a:lnTo>
                  <a:pt x="14564" y="458"/>
                </a:lnTo>
                <a:lnTo>
                  <a:pt x="14045" y="335"/>
                </a:lnTo>
                <a:lnTo>
                  <a:pt x="13500" y="229"/>
                </a:lnTo>
                <a:lnTo>
                  <a:pt x="13006" y="158"/>
                </a:lnTo>
                <a:lnTo>
                  <a:pt x="12461" y="88"/>
                </a:lnTo>
                <a:lnTo>
                  <a:pt x="11968" y="52"/>
                </a:lnTo>
                <a:lnTo>
                  <a:pt x="11423" y="17"/>
                </a:lnTo>
                <a:lnTo>
                  <a:pt x="10825" y="17"/>
                </a:lnTo>
                <a:lnTo>
                  <a:pt x="10254" y="17"/>
                </a:lnTo>
                <a:lnTo>
                  <a:pt x="9709" y="52"/>
                </a:lnTo>
                <a:lnTo>
                  <a:pt x="9216" y="88"/>
                </a:lnTo>
                <a:lnTo>
                  <a:pt x="8671" y="158"/>
                </a:lnTo>
                <a:lnTo>
                  <a:pt x="8177" y="229"/>
                </a:lnTo>
                <a:lnTo>
                  <a:pt x="7632" y="335"/>
                </a:lnTo>
                <a:lnTo>
                  <a:pt x="7113" y="458"/>
                </a:lnTo>
                <a:lnTo>
                  <a:pt x="6620" y="600"/>
                </a:lnTo>
                <a:lnTo>
                  <a:pt x="6178" y="741"/>
                </a:lnTo>
                <a:lnTo>
                  <a:pt x="5737" y="900"/>
                </a:lnTo>
                <a:lnTo>
                  <a:pt x="5270" y="1076"/>
                </a:lnTo>
                <a:lnTo>
                  <a:pt x="4828" y="1252"/>
                </a:lnTo>
                <a:lnTo>
                  <a:pt x="3972" y="1694"/>
                </a:lnTo>
                <a:lnTo>
                  <a:pt x="3219" y="2152"/>
                </a:lnTo>
                <a:lnTo>
                  <a:pt x="2544" y="2664"/>
                </a:lnTo>
                <a:lnTo>
                  <a:pt x="1895" y="3247"/>
                </a:lnTo>
                <a:lnTo>
                  <a:pt x="1635" y="3547"/>
                </a:lnTo>
                <a:lnTo>
                  <a:pt x="1375" y="3847"/>
                </a:lnTo>
                <a:lnTo>
                  <a:pt x="1142" y="4164"/>
                </a:lnTo>
                <a:lnTo>
                  <a:pt x="934" y="4464"/>
                </a:lnTo>
                <a:lnTo>
                  <a:pt x="726" y="4800"/>
                </a:lnTo>
                <a:lnTo>
                  <a:pt x="545" y="5135"/>
                </a:lnTo>
                <a:lnTo>
                  <a:pt x="389" y="5523"/>
                </a:lnTo>
                <a:lnTo>
                  <a:pt x="285" y="5858"/>
                </a:lnTo>
                <a:lnTo>
                  <a:pt x="181" y="6229"/>
                </a:lnTo>
                <a:lnTo>
                  <a:pt x="129" y="6564"/>
                </a:lnTo>
                <a:lnTo>
                  <a:pt x="77" y="6935"/>
                </a:lnTo>
                <a:lnTo>
                  <a:pt x="77" y="7341"/>
                </a:lnTo>
                <a:lnTo>
                  <a:pt x="77" y="7782"/>
                </a:lnTo>
                <a:lnTo>
                  <a:pt x="129" y="8223"/>
                </a:lnTo>
                <a:lnTo>
                  <a:pt x="233" y="8664"/>
                </a:lnTo>
                <a:lnTo>
                  <a:pt x="389" y="9035"/>
                </a:lnTo>
                <a:lnTo>
                  <a:pt x="545" y="9441"/>
                </a:lnTo>
                <a:lnTo>
                  <a:pt x="726" y="9794"/>
                </a:lnTo>
                <a:lnTo>
                  <a:pt x="934" y="10164"/>
                </a:lnTo>
                <a:lnTo>
                  <a:pt x="1194" y="10464"/>
                </a:lnTo>
                <a:lnTo>
                  <a:pt x="1739" y="11099"/>
                </a:lnTo>
                <a:lnTo>
                  <a:pt x="2336" y="11647"/>
                </a:lnTo>
                <a:lnTo>
                  <a:pt x="2933" y="12194"/>
                </a:lnTo>
                <a:lnTo>
                  <a:pt x="3634" y="12670"/>
                </a:lnTo>
                <a:lnTo>
                  <a:pt x="4932" y="13552"/>
                </a:lnTo>
                <a:lnTo>
                  <a:pt x="6075" y="14329"/>
                </a:lnTo>
                <a:lnTo>
                  <a:pt x="6516" y="14735"/>
                </a:lnTo>
                <a:lnTo>
                  <a:pt x="6879" y="15141"/>
                </a:lnTo>
                <a:lnTo>
                  <a:pt x="6983" y="15352"/>
                </a:lnTo>
                <a:lnTo>
                  <a:pt x="7061" y="15547"/>
                </a:lnTo>
                <a:lnTo>
                  <a:pt x="7165" y="15758"/>
                </a:lnTo>
                <a:lnTo>
                  <a:pt x="7165" y="15952"/>
                </a:lnTo>
                <a:lnTo>
                  <a:pt x="7165" y="16464"/>
                </a:lnTo>
                <a:lnTo>
                  <a:pt x="7165" y="16976"/>
                </a:lnTo>
                <a:lnTo>
                  <a:pt x="7165" y="17505"/>
                </a:lnTo>
                <a:lnTo>
                  <a:pt x="7165" y="18052"/>
                </a:lnTo>
                <a:lnTo>
                  <a:pt x="7165" y="18529"/>
                </a:lnTo>
                <a:lnTo>
                  <a:pt x="7165" y="18900"/>
                </a:lnTo>
                <a:lnTo>
                  <a:pt x="7165" y="19147"/>
                </a:lnTo>
                <a:lnTo>
                  <a:pt x="7165" y="19235"/>
                </a:lnTo>
                <a:lnTo>
                  <a:pt x="7165" y="19482"/>
                </a:lnTo>
                <a:lnTo>
                  <a:pt x="7217" y="19747"/>
                </a:lnTo>
                <a:lnTo>
                  <a:pt x="7321" y="19994"/>
                </a:lnTo>
                <a:lnTo>
                  <a:pt x="7476" y="20223"/>
                </a:lnTo>
                <a:lnTo>
                  <a:pt x="7632" y="20435"/>
                </a:lnTo>
                <a:lnTo>
                  <a:pt x="7814" y="20629"/>
                </a:lnTo>
                <a:lnTo>
                  <a:pt x="8022" y="20841"/>
                </a:lnTo>
                <a:lnTo>
                  <a:pt x="8281" y="21000"/>
                </a:lnTo>
                <a:lnTo>
                  <a:pt x="8515" y="21176"/>
                </a:lnTo>
                <a:lnTo>
                  <a:pt x="8775" y="21317"/>
                </a:lnTo>
                <a:lnTo>
                  <a:pt x="9060" y="21441"/>
                </a:lnTo>
                <a:lnTo>
                  <a:pt x="9424" y="21547"/>
                </a:lnTo>
                <a:lnTo>
                  <a:pt x="9761" y="21617"/>
                </a:lnTo>
                <a:lnTo>
                  <a:pt x="10125" y="21688"/>
                </a:lnTo>
                <a:lnTo>
                  <a:pt x="10462" y="21723"/>
                </a:lnTo>
                <a:lnTo>
                  <a:pt x="10825" y="21723"/>
                </a:lnTo>
                <a:close/>
              </a:path>
              <a:path w="21600" h="21600" extrusionOk="0">
                <a:moveTo>
                  <a:pt x="9242" y="14417"/>
                </a:moveTo>
                <a:lnTo>
                  <a:pt x="8541" y="12035"/>
                </a:lnTo>
                <a:lnTo>
                  <a:pt x="7295" y="10129"/>
                </a:lnTo>
                <a:lnTo>
                  <a:pt x="6905" y="9652"/>
                </a:lnTo>
                <a:lnTo>
                  <a:pt x="8541" y="10182"/>
                </a:lnTo>
                <a:lnTo>
                  <a:pt x="9787" y="9547"/>
                </a:lnTo>
                <a:lnTo>
                  <a:pt x="11189" y="10129"/>
                </a:lnTo>
                <a:lnTo>
                  <a:pt x="12279" y="9547"/>
                </a:lnTo>
                <a:lnTo>
                  <a:pt x="13370" y="10076"/>
                </a:lnTo>
                <a:lnTo>
                  <a:pt x="14850" y="9652"/>
                </a:lnTo>
                <a:lnTo>
                  <a:pt x="12902" y="12247"/>
                </a:lnTo>
                <a:lnTo>
                  <a:pt x="12357" y="14417"/>
                </a:lnTo>
                <a:moveTo>
                  <a:pt x="7191" y="15952"/>
                </a:moveTo>
                <a:lnTo>
                  <a:pt x="14512" y="15952"/>
                </a:lnTo>
                <a:lnTo>
                  <a:pt x="14512" y="17064"/>
                </a:lnTo>
                <a:lnTo>
                  <a:pt x="7191" y="17047"/>
                </a:lnTo>
                <a:lnTo>
                  <a:pt x="7191" y="18123"/>
                </a:lnTo>
                <a:lnTo>
                  <a:pt x="14512" y="18158"/>
                </a:lnTo>
                <a:lnTo>
                  <a:pt x="14538" y="19182"/>
                </a:lnTo>
                <a:lnTo>
                  <a:pt x="7217" y="19182"/>
                </a:lnTo>
              </a:path>
            </a:pathLst>
          </a:custGeom>
          <a:blipFill dpi="0" rotWithShape="0">
            <a:blip r:embed="rId3"/>
            <a:srcRect/>
            <a:stretch>
              <a:fillRect/>
            </a:stretch>
          </a:blipFill>
          <a:ln w="5724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102410" name="Oval 9"/>
          <p:cNvSpPr>
            <a:spLocks noChangeArrowheads="1"/>
          </p:cNvSpPr>
          <p:nvPr/>
        </p:nvSpPr>
        <p:spPr bwMode="auto">
          <a:xfrm>
            <a:off x="6313489" y="4941889"/>
            <a:ext cx="725487" cy="725487"/>
          </a:xfrm>
          <a:prstGeom prst="ellips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02411" name="Rectangle 10"/>
          <p:cNvSpPr>
            <a:spLocks noChangeArrowheads="1"/>
          </p:cNvSpPr>
          <p:nvPr/>
        </p:nvSpPr>
        <p:spPr bwMode="auto">
          <a:xfrm rot="600000">
            <a:off x="6026150" y="5426075"/>
            <a:ext cx="1131888" cy="3635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02412" name="Rectangle 11"/>
          <p:cNvSpPr>
            <a:spLocks noChangeArrowheads="1"/>
          </p:cNvSpPr>
          <p:nvPr/>
        </p:nvSpPr>
        <p:spPr bwMode="auto">
          <a:xfrm rot="19440000" flipH="1">
            <a:off x="6084889" y="4810125"/>
            <a:ext cx="1131887" cy="3635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sp>
        <p:nvSpPr>
          <p:cNvPr id="102413" name="Line 12"/>
          <p:cNvSpPr>
            <a:spLocks noChangeShapeType="1"/>
          </p:cNvSpPr>
          <p:nvPr/>
        </p:nvSpPr>
        <p:spPr bwMode="auto">
          <a:xfrm flipV="1">
            <a:off x="6473825" y="4976813"/>
            <a:ext cx="508000" cy="404812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14" name="Line 13"/>
          <p:cNvSpPr>
            <a:spLocks noChangeShapeType="1"/>
          </p:cNvSpPr>
          <p:nvPr/>
        </p:nvSpPr>
        <p:spPr bwMode="auto">
          <a:xfrm>
            <a:off x="6470651" y="5389563"/>
            <a:ext cx="582613" cy="101600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2415" name="Oval 14"/>
          <p:cNvSpPr>
            <a:spLocks noChangeArrowheads="1"/>
          </p:cNvSpPr>
          <p:nvPr/>
        </p:nvSpPr>
        <p:spPr bwMode="auto">
          <a:xfrm>
            <a:off x="6937375" y="5143500"/>
            <a:ext cx="115888" cy="203200"/>
          </a:xfrm>
          <a:prstGeom prst="ellipse">
            <a:avLst/>
          </a:prstGeom>
          <a:solidFill>
            <a:srgbClr val="000000"/>
          </a:solidFill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83155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Sampling, Quantisation And Resolution</a:t>
            </a:r>
          </a:p>
        </p:txBody>
      </p:sp>
      <p:sp>
        <p:nvSpPr>
          <p:cNvPr id="104451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In the following slides we will consider what is involved in capturing a digital image of a real-world scene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Image sensing and representation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Sampling and quantisation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Resolution</a:t>
            </a:r>
          </a:p>
        </p:txBody>
      </p:sp>
    </p:spTree>
    <p:extLst>
      <p:ext uri="{BB962C8B-B14F-4D97-AF65-F5344CB8AC3E}">
        <p14:creationId xmlns:p14="http://schemas.microsoft.com/office/powerpoint/2010/main" val="3380596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Representation</a:t>
            </a:r>
          </a:p>
        </p:txBody>
      </p:sp>
      <p:pic>
        <p:nvPicPr>
          <p:cNvPr id="1064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552"/>
          <a:stretch>
            <a:fillRect/>
          </a:stretch>
        </p:blipFill>
        <p:spPr bwMode="auto">
          <a:xfrm>
            <a:off x="6122989" y="2295525"/>
            <a:ext cx="4156075" cy="3968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4555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6500" name="Text Box 3"/>
          <p:cNvSpPr txBox="1">
            <a:spLocks noChangeArrowheads="1"/>
          </p:cNvSpPr>
          <p:nvPr/>
        </p:nvSpPr>
        <p:spPr bwMode="auto">
          <a:xfrm>
            <a:off x="10096501" y="2679700"/>
            <a:ext cx="371475" cy="27463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col</a:t>
            </a:r>
          </a:p>
        </p:txBody>
      </p:sp>
      <p:sp>
        <p:nvSpPr>
          <p:cNvPr id="106501" name="Text Box 4"/>
          <p:cNvSpPr txBox="1">
            <a:spLocks noChangeArrowheads="1"/>
          </p:cNvSpPr>
          <p:nvPr/>
        </p:nvSpPr>
        <p:spPr bwMode="auto">
          <a:xfrm>
            <a:off x="6616701" y="6134101"/>
            <a:ext cx="371475" cy="13176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row</a:t>
            </a:r>
          </a:p>
        </p:txBody>
      </p:sp>
      <p:sp>
        <p:nvSpPr>
          <p:cNvPr id="106502" name="Text Box 5"/>
          <p:cNvSpPr txBox="1">
            <a:spLocks noChangeArrowheads="1"/>
          </p:cNvSpPr>
          <p:nvPr/>
        </p:nvSpPr>
        <p:spPr bwMode="auto">
          <a:xfrm>
            <a:off x="9413875" y="5778500"/>
            <a:ext cx="952500" cy="217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400" b="1" i="1">
                <a:solidFill>
                  <a:srgbClr val="000000"/>
                </a:solidFill>
                <a:latin typeface="Times New Roman" panose="02020603050405020304" pitchFamily="18" charset="0"/>
              </a:rPr>
              <a:t>f (row, col)</a:t>
            </a:r>
          </a:p>
        </p:txBody>
      </p:sp>
      <p:sp>
        <p:nvSpPr>
          <p:cNvPr id="106503" name="Text Box 6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Before we discuss image acquisition recall that a digital image is composed of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M</a:t>
            </a:r>
            <a:r>
              <a:rPr lang="en-IE" altLang="en-US" sz="3200">
                <a:solidFill>
                  <a:srgbClr val="000000"/>
                </a:solidFill>
              </a:rPr>
              <a:t> rows and </a:t>
            </a:r>
            <a:r>
              <a:rPr lang="en-IE" altLang="en-US" sz="3200" i="1">
                <a:solidFill>
                  <a:srgbClr val="000000"/>
                </a:solidFill>
                <a:latin typeface="Times New Roman" panose="02020603050405020304" pitchFamily="18" charset="0"/>
              </a:rPr>
              <a:t>N</a:t>
            </a:r>
            <a:r>
              <a:rPr lang="en-IE" altLang="en-US" sz="3200">
                <a:solidFill>
                  <a:srgbClr val="000000"/>
                </a:solidFill>
              </a:rPr>
              <a:t> columns of pixels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each storing a value 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Pixel values are most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often grey levels in the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range 0-255(black-white)</a:t>
            </a:r>
          </a:p>
          <a:p>
            <a:pPr>
              <a:lnSpc>
                <a:spcPct val="90000"/>
              </a:lnSpc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We will see later on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that images can easily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be represented as </a:t>
            </a:r>
            <a:br>
              <a:rPr lang="en-IE" altLang="en-US" sz="3200">
                <a:solidFill>
                  <a:srgbClr val="000000"/>
                </a:solidFill>
              </a:rPr>
            </a:br>
            <a:r>
              <a:rPr lang="en-IE" altLang="en-US" sz="3200">
                <a:solidFill>
                  <a:srgbClr val="000000"/>
                </a:solidFill>
              </a:rPr>
              <a:t>matrices</a:t>
            </a:r>
          </a:p>
        </p:txBody>
      </p:sp>
      <p:grpSp>
        <p:nvGrpSpPr>
          <p:cNvPr id="106504" name="Group 7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06505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6506" name="Rectangle 9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3604155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Acquisition</a:t>
            </a:r>
          </a:p>
        </p:txBody>
      </p:sp>
      <p:sp>
        <p:nvSpPr>
          <p:cNvPr id="108547" name="Text Box 2"/>
          <p:cNvSpPr txBox="1">
            <a:spLocks noChangeArrowheads="1"/>
          </p:cNvSpPr>
          <p:nvPr/>
        </p:nvSpPr>
        <p:spPr bwMode="auto">
          <a:xfrm>
            <a:off x="1981200" y="1333501"/>
            <a:ext cx="8229600" cy="1871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Images are typically generated by </a:t>
            </a:r>
            <a:r>
              <a:rPr lang="en-IE" altLang="en-US" sz="3200" i="1">
                <a:solidFill>
                  <a:srgbClr val="000000"/>
                </a:solidFill>
              </a:rPr>
              <a:t>illuminating</a:t>
            </a:r>
            <a:r>
              <a:rPr lang="en-IE" altLang="en-US" sz="3200">
                <a:solidFill>
                  <a:srgbClr val="000000"/>
                </a:solidFill>
              </a:rPr>
              <a:t> a </a:t>
            </a:r>
            <a:r>
              <a:rPr lang="en-IE" altLang="en-US" sz="3200" i="1">
                <a:solidFill>
                  <a:srgbClr val="000000"/>
                </a:solidFill>
              </a:rPr>
              <a:t>scene</a:t>
            </a:r>
            <a:r>
              <a:rPr lang="en-IE" altLang="en-US" sz="3200">
                <a:solidFill>
                  <a:srgbClr val="000000"/>
                </a:solidFill>
              </a:rPr>
              <a:t> and absorbing the energy reflected by the objects in that scene</a:t>
            </a:r>
          </a:p>
        </p:txBody>
      </p:sp>
      <p:pic>
        <p:nvPicPr>
          <p:cNvPr id="1085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4332" b="18872"/>
          <a:stretch>
            <a:fillRect/>
          </a:stretch>
        </p:blipFill>
        <p:spPr bwMode="auto">
          <a:xfrm>
            <a:off x="2014538" y="2925764"/>
            <a:ext cx="4278312" cy="3684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34332" b="1887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08549" name="Rectangle 4"/>
          <p:cNvSpPr>
            <a:spLocks noChangeArrowheads="1"/>
          </p:cNvSpPr>
          <p:nvPr/>
        </p:nvSpPr>
        <p:spPr bwMode="auto">
          <a:xfrm>
            <a:off x="5870575" y="2833688"/>
            <a:ext cx="4508500" cy="4024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 marL="342900" indent="-342900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20738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228725"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820738" algn="l"/>
                <a:tab pos="1277938" algn="l"/>
                <a:tab pos="1735138" algn="l"/>
                <a:tab pos="2192338" algn="l"/>
                <a:tab pos="2649538" algn="l"/>
                <a:tab pos="3106738" algn="l"/>
                <a:tab pos="3563938" algn="l"/>
                <a:tab pos="4021138" algn="l"/>
                <a:tab pos="4478338" algn="l"/>
                <a:tab pos="4935538" algn="l"/>
                <a:tab pos="5392738" algn="l"/>
                <a:tab pos="5849938" algn="l"/>
                <a:tab pos="6307138" algn="l"/>
                <a:tab pos="6764338" algn="l"/>
                <a:tab pos="7221538" algn="l"/>
                <a:tab pos="7678738" algn="l"/>
                <a:tab pos="8135938" algn="l"/>
                <a:tab pos="8593138" algn="l"/>
                <a:tab pos="9050338" algn="l"/>
                <a:tab pos="9507538" algn="l"/>
                <a:tab pos="9964738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>
              <a:spcBef>
                <a:spcPts val="700"/>
              </a:spcBef>
              <a:buFont typeface="Arial" panose="020B0604020202020204" pitchFamily="34" charset="0"/>
              <a:buChar char="–"/>
            </a:pPr>
            <a:r>
              <a:rPr lang="en-IE" altLang="en-US" sz="2800">
                <a:solidFill>
                  <a:srgbClr val="000000"/>
                </a:solidFill>
              </a:rPr>
              <a:t>Typical notions of illumination and scene can be way off: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X-rays of a skeleton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Ultrasound of an 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unborn baby</a:t>
            </a:r>
          </a:p>
          <a:p>
            <a:pPr lvl="2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Electro-microscopic</a:t>
            </a:r>
            <a:br>
              <a:rPr lang="en-IE" altLang="en-US">
                <a:solidFill>
                  <a:srgbClr val="000000"/>
                </a:solidFill>
              </a:rPr>
            </a:br>
            <a:r>
              <a:rPr lang="en-IE" altLang="en-US">
                <a:solidFill>
                  <a:srgbClr val="000000"/>
                </a:solidFill>
              </a:rPr>
              <a:t>images of molecules</a:t>
            </a:r>
          </a:p>
        </p:txBody>
      </p:sp>
      <p:grpSp>
        <p:nvGrpSpPr>
          <p:cNvPr id="108550" name="Group 5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08551" name="Picture 6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08552" name="Rectangle 7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2873617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Sensing</a:t>
            </a:r>
          </a:p>
        </p:txBody>
      </p:sp>
      <p:sp>
        <p:nvSpPr>
          <p:cNvPr id="11059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Incoming energy lands on a sensor material  responsive to that type of energy and this generates a voltage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Collections of sensors are arranged to capture images</a:t>
            </a:r>
          </a:p>
        </p:txBody>
      </p:sp>
      <p:pic>
        <p:nvPicPr>
          <p:cNvPr id="11059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20" t="43376" r="15164"/>
          <a:stretch>
            <a:fillRect/>
          </a:stretch>
        </p:blipFill>
        <p:spPr bwMode="auto">
          <a:xfrm>
            <a:off x="7035801" y="3497264"/>
            <a:ext cx="2970213" cy="2922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4720" t="43376" r="15164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0597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7" t="32268" b="57275"/>
          <a:stretch>
            <a:fillRect/>
          </a:stretch>
        </p:blipFill>
        <p:spPr bwMode="auto">
          <a:xfrm>
            <a:off x="1993900" y="5872163"/>
            <a:ext cx="4783138" cy="539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287" t="32268" b="5727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10598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87" r="21484" b="69933"/>
          <a:stretch>
            <a:fillRect/>
          </a:stretch>
        </p:blipFill>
        <p:spPr bwMode="auto">
          <a:xfrm>
            <a:off x="3092451" y="4029076"/>
            <a:ext cx="350996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287" r="21484" b="6993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0599" name="Text Box 6"/>
          <p:cNvSpPr txBox="1">
            <a:spLocks noChangeArrowheads="1"/>
          </p:cNvSpPr>
          <p:nvPr/>
        </p:nvSpPr>
        <p:spPr bwMode="auto">
          <a:xfrm>
            <a:off x="3482976" y="5588000"/>
            <a:ext cx="17827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Imaging Sensor</a:t>
            </a:r>
          </a:p>
        </p:txBody>
      </p:sp>
      <p:sp>
        <p:nvSpPr>
          <p:cNvPr id="110600" name="Text Box 7"/>
          <p:cNvSpPr txBox="1">
            <a:spLocks noChangeArrowheads="1"/>
          </p:cNvSpPr>
          <p:nvPr/>
        </p:nvSpPr>
        <p:spPr bwMode="auto">
          <a:xfrm>
            <a:off x="3151188" y="6327775"/>
            <a:ext cx="246856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Line of Image Sensors</a:t>
            </a:r>
          </a:p>
        </p:txBody>
      </p:sp>
      <p:sp>
        <p:nvSpPr>
          <p:cNvPr id="110601" name="Text Box 8"/>
          <p:cNvSpPr txBox="1">
            <a:spLocks noChangeArrowheads="1"/>
          </p:cNvSpPr>
          <p:nvPr/>
        </p:nvSpPr>
        <p:spPr bwMode="auto">
          <a:xfrm>
            <a:off x="7231063" y="6459538"/>
            <a:ext cx="2582862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Array of Image Sensors</a:t>
            </a:r>
          </a:p>
        </p:txBody>
      </p:sp>
      <p:grpSp>
        <p:nvGrpSpPr>
          <p:cNvPr id="110602" name="Group 9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10603" name="Picture 10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0604" name="Rectangle 11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676357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Sensing</a:t>
            </a:r>
          </a:p>
        </p:txBody>
      </p:sp>
      <p:grpSp>
        <p:nvGrpSpPr>
          <p:cNvPr id="112643" name="Group 2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12646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2647" name="Rectangle 4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11264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6626" y="1443039"/>
            <a:ext cx="7826375" cy="4846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2645" name="Text Box 6"/>
          <p:cNvSpPr txBox="1">
            <a:spLocks noChangeArrowheads="1"/>
          </p:cNvSpPr>
          <p:nvPr/>
        </p:nvSpPr>
        <p:spPr bwMode="auto">
          <a:xfrm>
            <a:off x="4451351" y="6402388"/>
            <a:ext cx="32940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Using Sensor Strips and Rings</a:t>
            </a:r>
          </a:p>
        </p:txBody>
      </p:sp>
    </p:spTree>
    <p:extLst>
      <p:ext uri="{BB962C8B-B14F-4D97-AF65-F5344CB8AC3E}">
        <p14:creationId xmlns:p14="http://schemas.microsoft.com/office/powerpoint/2010/main" val="26893123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393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8" t="4735" r="3056" b="54379"/>
          <a:stretch>
            <a:fillRect/>
          </a:stretch>
        </p:blipFill>
        <p:spPr bwMode="auto">
          <a:xfrm>
            <a:off x="4668838" y="4514851"/>
            <a:ext cx="2171700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3818" t="4735" r="3056" b="5437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4691" name="Text Box 2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Sampling And Quantisation</a:t>
            </a:r>
          </a:p>
        </p:txBody>
      </p:sp>
      <p:sp>
        <p:nvSpPr>
          <p:cNvPr id="114692" name="Text Box 3"/>
          <p:cNvSpPr txBox="1">
            <a:spLocks noChangeArrowheads="1"/>
          </p:cNvSpPr>
          <p:nvPr/>
        </p:nvSpPr>
        <p:spPr bwMode="auto">
          <a:xfrm>
            <a:off x="1981200" y="1333501"/>
            <a:ext cx="8377238" cy="4792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A digital sensor can only measure a limited number of </a:t>
            </a:r>
            <a:r>
              <a:rPr lang="en-IE" altLang="en-US" sz="3200" b="1">
                <a:solidFill>
                  <a:srgbClr val="000000"/>
                </a:solidFill>
              </a:rPr>
              <a:t>samples</a:t>
            </a:r>
            <a:r>
              <a:rPr lang="en-IE" altLang="en-US" sz="3200">
                <a:solidFill>
                  <a:srgbClr val="000000"/>
                </a:solidFill>
              </a:rPr>
              <a:t> at a </a:t>
            </a:r>
            <a:r>
              <a:rPr lang="en-IE" altLang="en-US" sz="3200" b="1">
                <a:solidFill>
                  <a:srgbClr val="000000"/>
                </a:solidFill>
              </a:rPr>
              <a:t>discrete</a:t>
            </a:r>
            <a:r>
              <a:rPr lang="en-IE" altLang="en-US" sz="3200">
                <a:solidFill>
                  <a:srgbClr val="000000"/>
                </a:solidFill>
              </a:rPr>
              <a:t> set of energy levels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</a:rPr>
              <a:t>Quantisation</a:t>
            </a:r>
            <a:r>
              <a:rPr lang="en-IE" altLang="en-US" sz="3200">
                <a:solidFill>
                  <a:srgbClr val="000000"/>
                </a:solidFill>
              </a:rPr>
              <a:t> is the process of converting a continuous </a:t>
            </a:r>
            <a:r>
              <a:rPr lang="en-IE" altLang="en-US" sz="3200" b="1">
                <a:solidFill>
                  <a:srgbClr val="000000"/>
                </a:solidFill>
              </a:rPr>
              <a:t>analogue</a:t>
            </a:r>
            <a:r>
              <a:rPr lang="en-IE" altLang="en-US" sz="3200">
                <a:solidFill>
                  <a:srgbClr val="000000"/>
                </a:solidFill>
              </a:rPr>
              <a:t> signal into a digital representation of this signal</a:t>
            </a:r>
          </a:p>
        </p:txBody>
      </p:sp>
      <p:pic>
        <p:nvPicPr>
          <p:cNvPr id="11469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" t="4762" r="56511" b="56134"/>
          <a:stretch>
            <a:fillRect/>
          </a:stretch>
        </p:blipFill>
        <p:spPr bwMode="auto">
          <a:xfrm>
            <a:off x="2482851" y="4594226"/>
            <a:ext cx="2119313" cy="203041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79" t="4762" r="56511" b="56134"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939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817" r="49625" b="12560"/>
          <a:stretch>
            <a:fillRect/>
          </a:stretch>
        </p:blipFill>
        <p:spPr bwMode="auto">
          <a:xfrm>
            <a:off x="4660901" y="4738689"/>
            <a:ext cx="2536825" cy="1798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52817" r="49625" b="1256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5939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059" t="52817" b="12560"/>
          <a:stretch>
            <a:fillRect/>
          </a:stretch>
        </p:blipFill>
        <p:spPr bwMode="auto">
          <a:xfrm>
            <a:off x="6973888" y="4743450"/>
            <a:ext cx="2716212" cy="179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6059" t="52817" b="1256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14696" name="Group 7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14697" name="Picture 8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4698" name="Rectangle 9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309059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Sampling And Quantisation</a:t>
            </a:r>
          </a:p>
        </p:txBody>
      </p:sp>
      <p:pic>
        <p:nvPicPr>
          <p:cNvPr id="1167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" t="4762" r="56511" b="56134"/>
          <a:stretch>
            <a:fillRect/>
          </a:stretch>
        </p:blipFill>
        <p:spPr bwMode="auto">
          <a:xfrm>
            <a:off x="3717925" y="1454150"/>
            <a:ext cx="5354638" cy="5130800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79" t="4762" r="56511" b="56134"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16740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1674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674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81199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786" name="Picture 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8" t="10146" r="3056" b="62411"/>
          <a:stretch>
            <a:fillRect/>
          </a:stretch>
        </p:blipFill>
        <p:spPr bwMode="auto">
          <a:xfrm>
            <a:off x="3856039" y="1819276"/>
            <a:ext cx="5545137" cy="364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3818" t="10146" r="3056" b="6241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18787" name="Text Box 2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Image Sampling And Quantisation</a:t>
            </a:r>
          </a:p>
        </p:txBody>
      </p:sp>
      <p:pic>
        <p:nvPicPr>
          <p:cNvPr id="1187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79" t="4762" r="56511" b="56134"/>
          <a:stretch>
            <a:fillRect/>
          </a:stretch>
        </p:blipFill>
        <p:spPr bwMode="auto">
          <a:xfrm>
            <a:off x="1793875" y="1231901"/>
            <a:ext cx="1860550" cy="1782763"/>
          </a:xfrm>
          <a:prstGeom prst="rect">
            <a:avLst/>
          </a:prstGeom>
          <a:noFill/>
          <a:ln w="936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79" t="4762" r="56511" b="56134"/>
                  <a:stretch>
                    <a:fillRect/>
                  </a:stretch>
                </a:blip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61444" name="Group 4"/>
          <p:cNvGrpSpPr>
            <a:grpSpLocks/>
          </p:cNvGrpSpPr>
          <p:nvPr/>
        </p:nvGrpSpPr>
        <p:grpSpPr bwMode="auto">
          <a:xfrm>
            <a:off x="3711575" y="1692276"/>
            <a:ext cx="6618288" cy="4645025"/>
            <a:chOff x="1378" y="1066"/>
            <a:chExt cx="4169" cy="2926"/>
          </a:xfrm>
        </p:grpSpPr>
        <p:pic>
          <p:nvPicPr>
            <p:cNvPr id="118820" name="Picture 5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2817" r="49625" b="12560"/>
            <a:stretch>
              <a:fillRect/>
            </a:stretch>
          </p:blipFill>
          <p:spPr bwMode="auto">
            <a:xfrm>
              <a:off x="1470" y="1103"/>
              <a:ext cx="4077" cy="28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 t="52817" r="49625" b="12560"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8821" name="Rectangle 6"/>
            <p:cNvSpPr>
              <a:spLocks noChangeArrowheads="1"/>
            </p:cNvSpPr>
            <p:nvPr/>
          </p:nvSpPr>
          <p:spPr bwMode="auto">
            <a:xfrm>
              <a:off x="1378" y="1066"/>
              <a:ext cx="3573" cy="235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buClr>
                  <a:srgbClr val="000000"/>
                </a:buClr>
                <a:buSzPct val="100000"/>
                <a:buFont typeface="Times New Roman" panose="02020603050405020304" pitchFamily="18" charset="0"/>
                <a:buNone/>
              </a:pPr>
              <a:endParaRPr lang="en-US" altLang="en-US"/>
            </a:p>
          </p:txBody>
        </p:sp>
      </p:grpSp>
      <p:pic>
        <p:nvPicPr>
          <p:cNvPr id="61447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18" t="10146" r="3056" b="62411"/>
          <a:stretch>
            <a:fillRect/>
          </a:stretch>
        </p:blipFill>
        <p:spPr bwMode="auto">
          <a:xfrm>
            <a:off x="3856039" y="1819276"/>
            <a:ext cx="5545137" cy="3641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3818" t="10146" r="3056" b="62411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1448" name="Rectangle 8"/>
          <p:cNvSpPr>
            <a:spLocks noChangeArrowheads="1"/>
          </p:cNvSpPr>
          <p:nvPr/>
        </p:nvSpPr>
        <p:spPr bwMode="auto">
          <a:xfrm>
            <a:off x="3711575" y="1778001"/>
            <a:ext cx="5678488" cy="37496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grpSp>
        <p:nvGrpSpPr>
          <p:cNvPr id="61449" name="Group 9"/>
          <p:cNvGrpSpPr>
            <a:grpSpLocks/>
          </p:cNvGrpSpPr>
          <p:nvPr/>
        </p:nvGrpSpPr>
        <p:grpSpPr bwMode="auto">
          <a:xfrm>
            <a:off x="4019551" y="1971675"/>
            <a:ext cx="5248275" cy="3594100"/>
            <a:chOff x="1572" y="1242"/>
            <a:chExt cx="3306" cy="2264"/>
          </a:xfrm>
        </p:grpSpPr>
        <p:sp>
          <p:nvSpPr>
            <p:cNvPr id="118796" name="Line 10"/>
            <p:cNvSpPr>
              <a:spLocks noChangeShapeType="1"/>
            </p:cNvSpPr>
            <p:nvPr/>
          </p:nvSpPr>
          <p:spPr bwMode="auto">
            <a:xfrm flipV="1">
              <a:off x="1572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797" name="Line 11"/>
            <p:cNvSpPr>
              <a:spLocks noChangeShapeType="1"/>
            </p:cNvSpPr>
            <p:nvPr/>
          </p:nvSpPr>
          <p:spPr bwMode="auto">
            <a:xfrm flipV="1">
              <a:off x="1715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798" name="Line 12"/>
            <p:cNvSpPr>
              <a:spLocks noChangeShapeType="1"/>
            </p:cNvSpPr>
            <p:nvPr/>
          </p:nvSpPr>
          <p:spPr bwMode="auto">
            <a:xfrm flipV="1">
              <a:off x="1861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799" name="Line 13"/>
            <p:cNvSpPr>
              <a:spLocks noChangeShapeType="1"/>
            </p:cNvSpPr>
            <p:nvPr/>
          </p:nvSpPr>
          <p:spPr bwMode="auto">
            <a:xfrm flipV="1">
              <a:off x="2144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0" name="Line 14"/>
            <p:cNvSpPr>
              <a:spLocks noChangeShapeType="1"/>
            </p:cNvSpPr>
            <p:nvPr/>
          </p:nvSpPr>
          <p:spPr bwMode="auto">
            <a:xfrm flipV="1">
              <a:off x="2436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1" name="Line 15"/>
            <p:cNvSpPr>
              <a:spLocks noChangeShapeType="1"/>
            </p:cNvSpPr>
            <p:nvPr/>
          </p:nvSpPr>
          <p:spPr bwMode="auto">
            <a:xfrm flipV="1">
              <a:off x="2718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2" name="Line 16"/>
            <p:cNvSpPr>
              <a:spLocks noChangeShapeType="1"/>
            </p:cNvSpPr>
            <p:nvPr/>
          </p:nvSpPr>
          <p:spPr bwMode="auto">
            <a:xfrm flipV="1">
              <a:off x="3002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3" name="Line 17"/>
            <p:cNvSpPr>
              <a:spLocks noChangeShapeType="1"/>
            </p:cNvSpPr>
            <p:nvPr/>
          </p:nvSpPr>
          <p:spPr bwMode="auto">
            <a:xfrm flipV="1">
              <a:off x="3150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4" name="Line 18"/>
            <p:cNvSpPr>
              <a:spLocks noChangeShapeType="1"/>
            </p:cNvSpPr>
            <p:nvPr/>
          </p:nvSpPr>
          <p:spPr bwMode="auto">
            <a:xfrm flipV="1">
              <a:off x="3292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5" name="Line 19"/>
            <p:cNvSpPr>
              <a:spLocks noChangeShapeType="1"/>
            </p:cNvSpPr>
            <p:nvPr/>
          </p:nvSpPr>
          <p:spPr bwMode="auto">
            <a:xfrm flipV="1">
              <a:off x="3435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6" name="Line 20"/>
            <p:cNvSpPr>
              <a:spLocks noChangeShapeType="1"/>
            </p:cNvSpPr>
            <p:nvPr/>
          </p:nvSpPr>
          <p:spPr bwMode="auto">
            <a:xfrm flipV="1">
              <a:off x="3578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7" name="Line 21"/>
            <p:cNvSpPr>
              <a:spLocks noChangeShapeType="1"/>
            </p:cNvSpPr>
            <p:nvPr/>
          </p:nvSpPr>
          <p:spPr bwMode="auto">
            <a:xfrm flipV="1">
              <a:off x="3716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8" name="Line 22"/>
            <p:cNvSpPr>
              <a:spLocks noChangeShapeType="1"/>
            </p:cNvSpPr>
            <p:nvPr/>
          </p:nvSpPr>
          <p:spPr bwMode="auto">
            <a:xfrm flipV="1">
              <a:off x="3871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09" name="Line 23"/>
            <p:cNvSpPr>
              <a:spLocks noChangeShapeType="1"/>
            </p:cNvSpPr>
            <p:nvPr/>
          </p:nvSpPr>
          <p:spPr bwMode="auto">
            <a:xfrm flipV="1">
              <a:off x="4009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0" name="Line 24"/>
            <p:cNvSpPr>
              <a:spLocks noChangeShapeType="1"/>
            </p:cNvSpPr>
            <p:nvPr/>
          </p:nvSpPr>
          <p:spPr bwMode="auto">
            <a:xfrm flipV="1">
              <a:off x="4157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1" name="Line 25"/>
            <p:cNvSpPr>
              <a:spLocks noChangeShapeType="1"/>
            </p:cNvSpPr>
            <p:nvPr/>
          </p:nvSpPr>
          <p:spPr bwMode="auto">
            <a:xfrm flipV="1">
              <a:off x="4295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2" name="Line 26"/>
            <p:cNvSpPr>
              <a:spLocks noChangeShapeType="1"/>
            </p:cNvSpPr>
            <p:nvPr/>
          </p:nvSpPr>
          <p:spPr bwMode="auto">
            <a:xfrm flipV="1">
              <a:off x="4438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3" name="Line 27"/>
            <p:cNvSpPr>
              <a:spLocks noChangeShapeType="1"/>
            </p:cNvSpPr>
            <p:nvPr/>
          </p:nvSpPr>
          <p:spPr bwMode="auto">
            <a:xfrm flipV="1">
              <a:off x="4586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4" name="Line 28"/>
            <p:cNvSpPr>
              <a:spLocks noChangeShapeType="1"/>
            </p:cNvSpPr>
            <p:nvPr/>
          </p:nvSpPr>
          <p:spPr bwMode="auto">
            <a:xfrm flipV="1">
              <a:off x="4729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5" name="Line 29"/>
            <p:cNvSpPr>
              <a:spLocks noChangeShapeType="1"/>
            </p:cNvSpPr>
            <p:nvPr/>
          </p:nvSpPr>
          <p:spPr bwMode="auto">
            <a:xfrm flipV="1">
              <a:off x="4879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6" name="Line 30"/>
            <p:cNvSpPr>
              <a:spLocks noChangeShapeType="1"/>
            </p:cNvSpPr>
            <p:nvPr/>
          </p:nvSpPr>
          <p:spPr bwMode="auto">
            <a:xfrm flipV="1">
              <a:off x="2001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7" name="Line 31"/>
            <p:cNvSpPr>
              <a:spLocks noChangeShapeType="1"/>
            </p:cNvSpPr>
            <p:nvPr/>
          </p:nvSpPr>
          <p:spPr bwMode="auto">
            <a:xfrm flipV="1">
              <a:off x="2292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8" name="Line 32"/>
            <p:cNvSpPr>
              <a:spLocks noChangeShapeType="1"/>
            </p:cNvSpPr>
            <p:nvPr/>
          </p:nvSpPr>
          <p:spPr bwMode="auto">
            <a:xfrm flipV="1">
              <a:off x="2579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18819" name="Line 33"/>
            <p:cNvSpPr>
              <a:spLocks noChangeShapeType="1"/>
            </p:cNvSpPr>
            <p:nvPr/>
          </p:nvSpPr>
          <p:spPr bwMode="auto">
            <a:xfrm flipV="1">
              <a:off x="2860" y="1241"/>
              <a:ext cx="0" cy="2266"/>
            </a:xfrm>
            <a:prstGeom prst="line">
              <a:avLst/>
            </a:prstGeom>
            <a:noFill/>
            <a:ln w="12600">
              <a:solidFill>
                <a:srgbClr val="99CCFF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18793" name="Group 3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18794" name="Picture 3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18795" name="Rectangle 3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8984725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additive="repl"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Image Sampling And Quantisation (cont…)</a:t>
            </a:r>
          </a:p>
        </p:txBody>
      </p:sp>
      <p:sp>
        <p:nvSpPr>
          <p:cNvPr id="12083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Remember that a digital image is always only an </a:t>
            </a:r>
            <a:r>
              <a:rPr lang="en-IE" altLang="en-US" sz="3200" b="1">
                <a:solidFill>
                  <a:srgbClr val="000000"/>
                </a:solidFill>
              </a:rPr>
              <a:t>approximation</a:t>
            </a:r>
            <a:r>
              <a:rPr lang="en-IE" altLang="en-US" sz="3200">
                <a:solidFill>
                  <a:srgbClr val="000000"/>
                </a:solidFill>
              </a:rPr>
              <a:t> of a real world scene</a:t>
            </a:r>
          </a:p>
        </p:txBody>
      </p:sp>
      <p:pic>
        <p:nvPicPr>
          <p:cNvPr id="1208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687"/>
          <a:stretch>
            <a:fillRect/>
          </a:stretch>
        </p:blipFill>
        <p:spPr bwMode="auto">
          <a:xfrm>
            <a:off x="3486151" y="3030539"/>
            <a:ext cx="5197475" cy="2998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1968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20837" name="Group 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20838" name="Picture 5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0839" name="Rectangle 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062204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GB" altLang="en-US" sz="4000">
                <a:solidFill>
                  <a:srgbClr val="FFFFFF"/>
                </a:solidFill>
              </a:rPr>
              <a:t>Image Representation</a:t>
            </a:r>
          </a:p>
        </p:txBody>
      </p:sp>
      <p:pic>
        <p:nvPicPr>
          <p:cNvPr id="12288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6300" y="1358901"/>
            <a:ext cx="5360988" cy="5376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22884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2288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2886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141480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GB" altLang="en-US" sz="4000">
                <a:solidFill>
                  <a:srgbClr val="FFFFFF"/>
                </a:solidFill>
              </a:rPr>
              <a:t>Image Representation</a:t>
            </a:r>
          </a:p>
        </p:txBody>
      </p:sp>
      <p:pic>
        <p:nvPicPr>
          <p:cNvPr id="1249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88" r="50127"/>
          <a:stretch>
            <a:fillRect/>
          </a:stretch>
        </p:blipFill>
        <p:spPr bwMode="auto">
          <a:xfrm>
            <a:off x="3571876" y="1470025"/>
            <a:ext cx="5064125" cy="5195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48988" r="5012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24932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24933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4934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5290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GB" altLang="en-US" sz="4000">
                <a:solidFill>
                  <a:srgbClr val="FFFFFF"/>
                </a:solidFill>
              </a:rPr>
              <a:t>Image Representation</a:t>
            </a:r>
          </a:p>
        </p:txBody>
      </p:sp>
      <p:pic>
        <p:nvPicPr>
          <p:cNvPr id="12697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82" r="9831" b="50485"/>
          <a:stretch>
            <a:fillRect/>
          </a:stretch>
        </p:blipFill>
        <p:spPr bwMode="auto">
          <a:xfrm>
            <a:off x="2228850" y="1397001"/>
            <a:ext cx="7747000" cy="5108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3882" r="9831" b="5048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26980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2698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698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089757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GB" altLang="en-US" sz="4000">
                <a:solidFill>
                  <a:srgbClr val="FFFFFF"/>
                </a:solidFill>
              </a:rPr>
              <a:t>Image Representation</a:t>
            </a:r>
          </a:p>
        </p:txBody>
      </p:sp>
      <p:pic>
        <p:nvPicPr>
          <p:cNvPr id="12902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931" t="48988"/>
          <a:stretch>
            <a:fillRect/>
          </a:stretch>
        </p:blipFill>
        <p:spPr bwMode="auto">
          <a:xfrm>
            <a:off x="3486150" y="1414463"/>
            <a:ext cx="5207000" cy="519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2931" t="48988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29028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29029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29030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87540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Resolution</a:t>
            </a:r>
          </a:p>
        </p:txBody>
      </p:sp>
      <p:sp>
        <p:nvSpPr>
          <p:cNvPr id="13107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</a:rPr>
              <a:t>The spatial resolution</a:t>
            </a:r>
            <a:r>
              <a:rPr lang="en-IE" altLang="en-US" sz="3200">
                <a:solidFill>
                  <a:srgbClr val="000000"/>
                </a:solidFill>
              </a:rPr>
              <a:t> of an image is determined by how sampling was carried out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Spatial resolution simply refers to the smallest discernable detail in an image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Vision specialists will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often talk about pixel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size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Graphic designers will </a:t>
            </a:r>
            <a:br>
              <a:rPr lang="en-IE" altLang="en-US" sz="2800">
                <a:solidFill>
                  <a:srgbClr val="000000"/>
                </a:solidFill>
              </a:rPr>
            </a:br>
            <a:r>
              <a:rPr lang="en-IE" altLang="en-US" sz="2800">
                <a:solidFill>
                  <a:srgbClr val="000000"/>
                </a:solidFill>
              </a:rPr>
              <a:t>talk about </a:t>
            </a:r>
            <a:r>
              <a:rPr lang="en-IE" altLang="en-US" sz="2800" i="1">
                <a:solidFill>
                  <a:srgbClr val="000000"/>
                </a:solidFill>
              </a:rPr>
              <a:t>dots per </a:t>
            </a:r>
            <a:br>
              <a:rPr lang="en-IE" altLang="en-US" sz="2800" i="1">
                <a:solidFill>
                  <a:srgbClr val="000000"/>
                </a:solidFill>
              </a:rPr>
            </a:br>
            <a:r>
              <a:rPr lang="en-IE" altLang="en-US" sz="2800" i="1">
                <a:solidFill>
                  <a:srgbClr val="000000"/>
                </a:solidFill>
              </a:rPr>
              <a:t>inch </a:t>
            </a:r>
            <a:r>
              <a:rPr lang="en-IE" altLang="en-US" sz="2800">
                <a:solidFill>
                  <a:srgbClr val="000000"/>
                </a:solidFill>
              </a:rPr>
              <a:t>(DPI)</a:t>
            </a:r>
          </a:p>
        </p:txBody>
      </p:sp>
      <p:pic>
        <p:nvPicPr>
          <p:cNvPr id="13107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75" y="3438526"/>
            <a:ext cx="3810000" cy="3057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31077" name="AutoShape 4"/>
          <p:cNvSpPr>
            <a:spLocks noChangeArrowheads="1"/>
          </p:cNvSpPr>
          <p:nvPr/>
        </p:nvSpPr>
        <p:spPr bwMode="auto">
          <a:xfrm rot="20700000">
            <a:off x="6318251" y="4824413"/>
            <a:ext cx="2270125" cy="1943100"/>
          </a:xfrm>
          <a:prstGeom prst="irregularSeal1">
            <a:avLst/>
          </a:prstGeom>
          <a:solidFill>
            <a:srgbClr val="99CCFF"/>
          </a:solidFill>
          <a:ln w="12600">
            <a:solidFill>
              <a:srgbClr val="00008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0" tIns="0" rIns="0" bIns="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 b="1">
                <a:solidFill>
                  <a:srgbClr val="333399"/>
                </a:solidFill>
              </a:rPr>
              <a:t>5.1 Megapixels</a:t>
            </a:r>
          </a:p>
        </p:txBody>
      </p:sp>
    </p:spTree>
    <p:extLst>
      <p:ext uri="{BB962C8B-B14F-4D97-AF65-F5344CB8AC3E}">
        <p14:creationId xmlns:p14="http://schemas.microsoft.com/office/powerpoint/2010/main" val="324487757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Resolution (cont…)</a:t>
            </a:r>
          </a:p>
        </p:txBody>
      </p:sp>
      <p:pic>
        <p:nvPicPr>
          <p:cNvPr id="13312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32"/>
          <a:stretch>
            <a:fillRect/>
          </a:stretch>
        </p:blipFill>
        <p:spPr bwMode="auto">
          <a:xfrm>
            <a:off x="1846264" y="1735139"/>
            <a:ext cx="8721725" cy="4135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1293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33124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3312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3126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084640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Resolution (cont…)</a:t>
            </a:r>
          </a:p>
        </p:txBody>
      </p:sp>
      <p:pic>
        <p:nvPicPr>
          <p:cNvPr id="13517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53" b="60092"/>
          <a:stretch>
            <a:fillRect/>
          </a:stretch>
        </p:blipFill>
        <p:spPr bwMode="auto">
          <a:xfrm>
            <a:off x="3430588" y="1362076"/>
            <a:ext cx="5346700" cy="524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66553" b="6009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35172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35173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5174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0007894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Resolution (cont…)</a:t>
            </a:r>
          </a:p>
        </p:txBody>
      </p:sp>
      <p:pic>
        <p:nvPicPr>
          <p:cNvPr id="13721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623" r="33368" b="60092"/>
          <a:stretch>
            <a:fillRect/>
          </a:stretch>
        </p:blipFill>
        <p:spPr bwMode="auto">
          <a:xfrm>
            <a:off x="3457575" y="1366838"/>
            <a:ext cx="5276850" cy="5243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3623" r="33368" b="6009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37220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3722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722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2591328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Resolution (cont…)</a:t>
            </a:r>
          </a:p>
        </p:txBody>
      </p:sp>
      <p:pic>
        <p:nvPicPr>
          <p:cNvPr id="13926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41" b="60092"/>
          <a:stretch>
            <a:fillRect/>
          </a:stretch>
        </p:blipFill>
        <p:spPr bwMode="auto">
          <a:xfrm>
            <a:off x="3443289" y="1381126"/>
            <a:ext cx="5362575" cy="52435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66641" b="6009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39268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39269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39270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552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Resolution (cont…)</a:t>
            </a:r>
          </a:p>
        </p:txBody>
      </p:sp>
      <p:pic>
        <p:nvPicPr>
          <p:cNvPr id="1413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" t="40305" r="66492" b="19403"/>
          <a:stretch>
            <a:fillRect/>
          </a:stretch>
        </p:blipFill>
        <p:spPr bwMode="auto">
          <a:xfrm>
            <a:off x="3413125" y="1382714"/>
            <a:ext cx="5353050" cy="529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2" t="40305" r="66492" b="1940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41316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41317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1318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01346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Resolution (cont…)</a:t>
            </a:r>
          </a:p>
        </p:txBody>
      </p:sp>
      <p:pic>
        <p:nvPicPr>
          <p:cNvPr id="14336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406" t="40305" r="33229" b="19403"/>
          <a:stretch>
            <a:fillRect/>
          </a:stretch>
        </p:blipFill>
        <p:spPr bwMode="auto">
          <a:xfrm>
            <a:off x="3436938" y="1411289"/>
            <a:ext cx="5334000" cy="5291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3406" t="40305" r="33229" b="1940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43364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4336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3366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990437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Spatial Resolution (cont…)</a:t>
            </a:r>
          </a:p>
        </p:txBody>
      </p:sp>
      <p:pic>
        <p:nvPicPr>
          <p:cNvPr id="14541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97" t="40305" b="19403"/>
          <a:stretch>
            <a:fillRect/>
          </a:stretch>
        </p:blipFill>
        <p:spPr bwMode="auto">
          <a:xfrm>
            <a:off x="3394075" y="1354139"/>
            <a:ext cx="5391150" cy="529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66597" t="40305" b="1940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45412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45413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5414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711394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</a:t>
            </a:r>
          </a:p>
        </p:txBody>
      </p:sp>
      <p:sp>
        <p:nvSpPr>
          <p:cNvPr id="14745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 i="1">
                <a:solidFill>
                  <a:srgbClr val="000000"/>
                </a:solidFill>
              </a:rPr>
              <a:t>Intensity level resolution</a:t>
            </a:r>
            <a:r>
              <a:rPr lang="en-IE" altLang="en-US" sz="3200">
                <a:solidFill>
                  <a:srgbClr val="000000"/>
                </a:solidFill>
              </a:rPr>
              <a:t> refers to the number of intensity levels used to represent the image</a:t>
            </a:r>
          </a:p>
          <a:p>
            <a:pPr marL="0" lvl="1">
              <a:spcBef>
                <a:spcPts val="6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The more intensity levels used, the finer the level of detail discernable in an image</a:t>
            </a:r>
          </a:p>
          <a:p>
            <a:pPr marL="0" lvl="1">
              <a:spcBef>
                <a:spcPts val="600"/>
              </a:spcBef>
              <a:buClrTx/>
            </a:pPr>
            <a:r>
              <a:rPr lang="en-IE" altLang="en-US">
                <a:solidFill>
                  <a:srgbClr val="000000"/>
                </a:solidFill>
              </a:rPr>
              <a:t>Intensity level resolution is usually given in terms of the number of bits used to store each intensity level</a:t>
            </a:r>
          </a:p>
        </p:txBody>
      </p:sp>
      <p:sp>
        <p:nvSpPr>
          <p:cNvPr id="147460" name="Rectangle 3"/>
          <p:cNvSpPr>
            <a:spLocks noChangeArrowheads="1"/>
          </p:cNvSpPr>
          <p:nvPr/>
        </p:nvSpPr>
        <p:spPr bwMode="auto">
          <a:xfrm>
            <a:off x="2628900" y="4543425"/>
            <a:ext cx="2325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 b="1">
                <a:solidFill>
                  <a:srgbClr val="000000"/>
                </a:solidFill>
              </a:rPr>
              <a:t>Number of Bits</a:t>
            </a:r>
          </a:p>
        </p:txBody>
      </p:sp>
      <p:sp>
        <p:nvSpPr>
          <p:cNvPr id="147461" name="Rectangle 4"/>
          <p:cNvSpPr>
            <a:spLocks noChangeArrowheads="1"/>
          </p:cNvSpPr>
          <p:nvPr/>
        </p:nvSpPr>
        <p:spPr bwMode="auto">
          <a:xfrm>
            <a:off x="4954589" y="4543425"/>
            <a:ext cx="23256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 b="1">
                <a:solidFill>
                  <a:srgbClr val="000000"/>
                </a:solidFill>
              </a:rPr>
              <a:t>Number of Intensity Levels</a:t>
            </a:r>
          </a:p>
        </p:txBody>
      </p:sp>
      <p:sp>
        <p:nvSpPr>
          <p:cNvPr id="147462" name="Rectangle 5"/>
          <p:cNvSpPr>
            <a:spLocks noChangeArrowheads="1"/>
          </p:cNvSpPr>
          <p:nvPr/>
        </p:nvSpPr>
        <p:spPr bwMode="auto">
          <a:xfrm>
            <a:off x="7280275" y="4543425"/>
            <a:ext cx="232568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 b="1">
                <a:solidFill>
                  <a:srgbClr val="000000"/>
                </a:solidFill>
              </a:rPr>
              <a:t>Examples</a:t>
            </a:r>
          </a:p>
        </p:txBody>
      </p:sp>
      <p:sp>
        <p:nvSpPr>
          <p:cNvPr id="147463" name="Rectangle 6"/>
          <p:cNvSpPr>
            <a:spLocks noChangeArrowheads="1"/>
          </p:cNvSpPr>
          <p:nvPr/>
        </p:nvSpPr>
        <p:spPr bwMode="auto">
          <a:xfrm>
            <a:off x="2628900" y="5122863"/>
            <a:ext cx="2325688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147464" name="Rectangle 7"/>
          <p:cNvSpPr>
            <a:spLocks noChangeArrowheads="1"/>
          </p:cNvSpPr>
          <p:nvPr/>
        </p:nvSpPr>
        <p:spPr bwMode="auto">
          <a:xfrm>
            <a:off x="4954589" y="5122863"/>
            <a:ext cx="2325687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7465" name="Rectangle 8"/>
          <p:cNvSpPr>
            <a:spLocks noChangeArrowheads="1"/>
          </p:cNvSpPr>
          <p:nvPr/>
        </p:nvSpPr>
        <p:spPr bwMode="auto">
          <a:xfrm>
            <a:off x="7280275" y="5122863"/>
            <a:ext cx="2325688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0, 1</a:t>
            </a:r>
          </a:p>
        </p:txBody>
      </p:sp>
      <p:sp>
        <p:nvSpPr>
          <p:cNvPr id="147466" name="Rectangle 9"/>
          <p:cNvSpPr>
            <a:spLocks noChangeArrowheads="1"/>
          </p:cNvSpPr>
          <p:nvPr/>
        </p:nvSpPr>
        <p:spPr bwMode="auto">
          <a:xfrm>
            <a:off x="2628900" y="5457826"/>
            <a:ext cx="2325688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2</a:t>
            </a:r>
          </a:p>
        </p:txBody>
      </p:sp>
      <p:sp>
        <p:nvSpPr>
          <p:cNvPr id="147467" name="Rectangle 10"/>
          <p:cNvSpPr>
            <a:spLocks noChangeArrowheads="1"/>
          </p:cNvSpPr>
          <p:nvPr/>
        </p:nvSpPr>
        <p:spPr bwMode="auto">
          <a:xfrm>
            <a:off x="4954589" y="5457826"/>
            <a:ext cx="2325687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7468" name="Rectangle 11"/>
          <p:cNvSpPr>
            <a:spLocks noChangeArrowheads="1"/>
          </p:cNvSpPr>
          <p:nvPr/>
        </p:nvSpPr>
        <p:spPr bwMode="auto">
          <a:xfrm>
            <a:off x="7280275" y="5457826"/>
            <a:ext cx="2325688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00, 01, 10, 11</a:t>
            </a:r>
          </a:p>
        </p:txBody>
      </p:sp>
      <p:sp>
        <p:nvSpPr>
          <p:cNvPr id="147469" name="Rectangle 12"/>
          <p:cNvSpPr>
            <a:spLocks noChangeArrowheads="1"/>
          </p:cNvSpPr>
          <p:nvPr/>
        </p:nvSpPr>
        <p:spPr bwMode="auto">
          <a:xfrm>
            <a:off x="2628900" y="5792788"/>
            <a:ext cx="2325688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47470" name="Rectangle 13"/>
          <p:cNvSpPr>
            <a:spLocks noChangeArrowheads="1"/>
          </p:cNvSpPr>
          <p:nvPr/>
        </p:nvSpPr>
        <p:spPr bwMode="auto">
          <a:xfrm>
            <a:off x="4954589" y="5792788"/>
            <a:ext cx="2325687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47471" name="Rectangle 14"/>
          <p:cNvSpPr>
            <a:spLocks noChangeArrowheads="1"/>
          </p:cNvSpPr>
          <p:nvPr/>
        </p:nvSpPr>
        <p:spPr bwMode="auto">
          <a:xfrm>
            <a:off x="7280275" y="5792788"/>
            <a:ext cx="2325688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0000, 0101, 1111</a:t>
            </a:r>
          </a:p>
        </p:txBody>
      </p:sp>
      <p:sp>
        <p:nvSpPr>
          <p:cNvPr id="147472" name="Rectangle 15"/>
          <p:cNvSpPr>
            <a:spLocks noChangeArrowheads="1"/>
          </p:cNvSpPr>
          <p:nvPr/>
        </p:nvSpPr>
        <p:spPr bwMode="auto">
          <a:xfrm>
            <a:off x="2628900" y="6127751"/>
            <a:ext cx="2325688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8</a:t>
            </a:r>
          </a:p>
        </p:txBody>
      </p:sp>
      <p:sp>
        <p:nvSpPr>
          <p:cNvPr id="147473" name="Rectangle 16"/>
          <p:cNvSpPr>
            <a:spLocks noChangeArrowheads="1"/>
          </p:cNvSpPr>
          <p:nvPr/>
        </p:nvSpPr>
        <p:spPr bwMode="auto">
          <a:xfrm>
            <a:off x="4954589" y="6127751"/>
            <a:ext cx="2325687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256</a:t>
            </a:r>
          </a:p>
        </p:txBody>
      </p:sp>
      <p:sp>
        <p:nvSpPr>
          <p:cNvPr id="147474" name="Rectangle 17"/>
          <p:cNvSpPr>
            <a:spLocks noChangeArrowheads="1"/>
          </p:cNvSpPr>
          <p:nvPr/>
        </p:nvSpPr>
        <p:spPr bwMode="auto">
          <a:xfrm>
            <a:off x="7280275" y="6127751"/>
            <a:ext cx="2325688" cy="334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00110011, 01010101</a:t>
            </a:r>
          </a:p>
        </p:txBody>
      </p:sp>
      <p:sp>
        <p:nvSpPr>
          <p:cNvPr id="147475" name="Rectangle 18"/>
          <p:cNvSpPr>
            <a:spLocks noChangeArrowheads="1"/>
          </p:cNvSpPr>
          <p:nvPr/>
        </p:nvSpPr>
        <p:spPr bwMode="auto">
          <a:xfrm>
            <a:off x="2628900" y="6462713"/>
            <a:ext cx="2325688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16</a:t>
            </a:r>
          </a:p>
        </p:txBody>
      </p:sp>
      <p:sp>
        <p:nvSpPr>
          <p:cNvPr id="147476" name="Rectangle 19"/>
          <p:cNvSpPr>
            <a:spLocks noChangeArrowheads="1"/>
          </p:cNvSpPr>
          <p:nvPr/>
        </p:nvSpPr>
        <p:spPr bwMode="auto">
          <a:xfrm>
            <a:off x="4954589" y="6462713"/>
            <a:ext cx="2325687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65,536</a:t>
            </a:r>
          </a:p>
        </p:txBody>
      </p:sp>
      <p:sp>
        <p:nvSpPr>
          <p:cNvPr id="147477" name="Rectangle 20"/>
          <p:cNvSpPr>
            <a:spLocks noChangeArrowheads="1"/>
          </p:cNvSpPr>
          <p:nvPr/>
        </p:nvSpPr>
        <p:spPr bwMode="auto">
          <a:xfrm>
            <a:off x="7280275" y="6462713"/>
            <a:ext cx="2325688" cy="334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ts val="400"/>
              </a:spcBef>
              <a:buClrTx/>
            </a:pPr>
            <a:r>
              <a:rPr lang="en-IE" altLang="en-US" sz="1600">
                <a:solidFill>
                  <a:srgbClr val="000000"/>
                </a:solidFill>
              </a:rPr>
              <a:t>1010101010101010</a:t>
            </a:r>
          </a:p>
        </p:txBody>
      </p:sp>
      <p:sp>
        <p:nvSpPr>
          <p:cNvPr id="147478" name="Line 21"/>
          <p:cNvSpPr>
            <a:spLocks noChangeShapeType="1"/>
          </p:cNvSpPr>
          <p:nvPr/>
        </p:nvSpPr>
        <p:spPr bwMode="auto">
          <a:xfrm>
            <a:off x="2628901" y="4543425"/>
            <a:ext cx="6977063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79" name="Line 22"/>
          <p:cNvSpPr>
            <a:spLocks noChangeShapeType="1"/>
          </p:cNvSpPr>
          <p:nvPr/>
        </p:nvSpPr>
        <p:spPr bwMode="auto">
          <a:xfrm>
            <a:off x="2628901" y="5457825"/>
            <a:ext cx="6977063" cy="158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0" name="Line 23"/>
          <p:cNvSpPr>
            <a:spLocks noChangeShapeType="1"/>
          </p:cNvSpPr>
          <p:nvPr/>
        </p:nvSpPr>
        <p:spPr bwMode="auto">
          <a:xfrm>
            <a:off x="2628901" y="5792789"/>
            <a:ext cx="6977063" cy="1587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1" name="Line 24"/>
          <p:cNvSpPr>
            <a:spLocks noChangeShapeType="1"/>
          </p:cNvSpPr>
          <p:nvPr/>
        </p:nvSpPr>
        <p:spPr bwMode="auto">
          <a:xfrm>
            <a:off x="2628901" y="6127750"/>
            <a:ext cx="6977063" cy="1588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2" name="Line 25"/>
          <p:cNvSpPr>
            <a:spLocks noChangeShapeType="1"/>
          </p:cNvSpPr>
          <p:nvPr/>
        </p:nvSpPr>
        <p:spPr bwMode="auto">
          <a:xfrm>
            <a:off x="2628901" y="6797675"/>
            <a:ext cx="6977063" cy="1588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3" name="Line 26"/>
          <p:cNvSpPr>
            <a:spLocks noChangeShapeType="1"/>
          </p:cNvSpPr>
          <p:nvPr/>
        </p:nvSpPr>
        <p:spPr bwMode="auto">
          <a:xfrm>
            <a:off x="2628900" y="4543425"/>
            <a:ext cx="1588" cy="225425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4" name="Line 27"/>
          <p:cNvSpPr>
            <a:spLocks noChangeShapeType="1"/>
          </p:cNvSpPr>
          <p:nvPr/>
        </p:nvSpPr>
        <p:spPr bwMode="auto">
          <a:xfrm>
            <a:off x="4954589" y="4543425"/>
            <a:ext cx="1587" cy="225425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5" name="Line 28"/>
          <p:cNvSpPr>
            <a:spLocks noChangeShapeType="1"/>
          </p:cNvSpPr>
          <p:nvPr/>
        </p:nvSpPr>
        <p:spPr bwMode="auto">
          <a:xfrm>
            <a:off x="7280275" y="4543425"/>
            <a:ext cx="1588" cy="225425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6" name="Line 29"/>
          <p:cNvSpPr>
            <a:spLocks noChangeShapeType="1"/>
          </p:cNvSpPr>
          <p:nvPr/>
        </p:nvSpPr>
        <p:spPr bwMode="auto">
          <a:xfrm>
            <a:off x="9605964" y="4543425"/>
            <a:ext cx="1587" cy="2254250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7" name="Line 30"/>
          <p:cNvSpPr>
            <a:spLocks noChangeShapeType="1"/>
          </p:cNvSpPr>
          <p:nvPr/>
        </p:nvSpPr>
        <p:spPr bwMode="auto">
          <a:xfrm>
            <a:off x="2628901" y="6462714"/>
            <a:ext cx="6977063" cy="1587"/>
          </a:xfrm>
          <a:prstGeom prst="line">
            <a:avLst/>
          </a:prstGeom>
          <a:noFill/>
          <a:ln w="126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47488" name="Line 31"/>
          <p:cNvSpPr>
            <a:spLocks noChangeShapeType="1"/>
          </p:cNvSpPr>
          <p:nvPr/>
        </p:nvSpPr>
        <p:spPr bwMode="auto">
          <a:xfrm>
            <a:off x="2628901" y="5122864"/>
            <a:ext cx="6977063" cy="1587"/>
          </a:xfrm>
          <a:prstGeom prst="line">
            <a:avLst/>
          </a:prstGeom>
          <a:noFill/>
          <a:ln w="2844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947534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4950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487" b="50180"/>
          <a:stretch>
            <a:fillRect/>
          </a:stretch>
        </p:blipFill>
        <p:spPr bwMode="auto">
          <a:xfrm>
            <a:off x="2009775" y="1597025"/>
            <a:ext cx="4102100" cy="246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19487" b="5018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9508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t="49702"/>
          <a:stretch>
            <a:fillRect/>
          </a:stretch>
        </p:blipFill>
        <p:spPr bwMode="auto">
          <a:xfrm>
            <a:off x="6115050" y="4068764"/>
            <a:ext cx="4160838" cy="2511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507" t="4970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9509" name="Text Box 4"/>
          <p:cNvSpPr txBox="1">
            <a:spLocks noChangeArrowheads="1"/>
          </p:cNvSpPr>
          <p:nvPr/>
        </p:nvSpPr>
        <p:spPr bwMode="auto">
          <a:xfrm>
            <a:off x="4235450" y="1344613"/>
            <a:ext cx="1741480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128 grey levels (7 bpp)</a:t>
            </a:r>
          </a:p>
        </p:txBody>
      </p:sp>
      <p:sp>
        <p:nvSpPr>
          <p:cNvPr id="149510" name="Text Box 5"/>
          <p:cNvSpPr txBox="1">
            <a:spLocks noChangeArrowheads="1"/>
          </p:cNvSpPr>
          <p:nvPr/>
        </p:nvSpPr>
        <p:spPr bwMode="auto">
          <a:xfrm>
            <a:off x="6348414" y="1328738"/>
            <a:ext cx="1656521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64 grey levels (6 bpp)</a:t>
            </a:r>
          </a:p>
        </p:txBody>
      </p:sp>
      <p:sp>
        <p:nvSpPr>
          <p:cNvPr id="149511" name="Text Box 6"/>
          <p:cNvSpPr txBox="1">
            <a:spLocks noChangeArrowheads="1"/>
          </p:cNvSpPr>
          <p:nvPr/>
        </p:nvSpPr>
        <p:spPr bwMode="auto">
          <a:xfrm>
            <a:off x="8393114" y="1328738"/>
            <a:ext cx="1656521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32 grey levels (5 bpp)</a:t>
            </a:r>
          </a:p>
        </p:txBody>
      </p:sp>
      <p:sp>
        <p:nvSpPr>
          <p:cNvPr id="149512" name="Text Box 7"/>
          <p:cNvSpPr txBox="1">
            <a:spLocks noChangeArrowheads="1"/>
          </p:cNvSpPr>
          <p:nvPr/>
        </p:nvSpPr>
        <p:spPr bwMode="auto">
          <a:xfrm>
            <a:off x="2211389" y="6497638"/>
            <a:ext cx="1656521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16 grey levels (4 bpp)</a:t>
            </a:r>
          </a:p>
        </p:txBody>
      </p:sp>
      <p:sp>
        <p:nvSpPr>
          <p:cNvPr id="149513" name="Text Box 8"/>
          <p:cNvSpPr txBox="1">
            <a:spLocks noChangeArrowheads="1"/>
          </p:cNvSpPr>
          <p:nvPr/>
        </p:nvSpPr>
        <p:spPr bwMode="auto">
          <a:xfrm>
            <a:off x="4327525" y="6497638"/>
            <a:ext cx="1571562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8 grey levels (3 bpp)</a:t>
            </a:r>
          </a:p>
        </p:txBody>
      </p:sp>
      <p:sp>
        <p:nvSpPr>
          <p:cNvPr id="149514" name="Text Box 9"/>
          <p:cNvSpPr txBox="1">
            <a:spLocks noChangeArrowheads="1"/>
          </p:cNvSpPr>
          <p:nvPr/>
        </p:nvSpPr>
        <p:spPr bwMode="auto">
          <a:xfrm>
            <a:off x="6376988" y="6513513"/>
            <a:ext cx="1571562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4 grey levels (2 bpp)</a:t>
            </a:r>
          </a:p>
        </p:txBody>
      </p:sp>
      <p:sp>
        <p:nvSpPr>
          <p:cNvPr id="149515" name="Text Box 10"/>
          <p:cNvSpPr txBox="1">
            <a:spLocks noChangeArrowheads="1"/>
          </p:cNvSpPr>
          <p:nvPr/>
        </p:nvSpPr>
        <p:spPr bwMode="auto">
          <a:xfrm>
            <a:off x="8362951" y="6513513"/>
            <a:ext cx="1724025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2 grey levels (1 bpp)</a:t>
            </a:r>
          </a:p>
        </p:txBody>
      </p:sp>
      <p:pic>
        <p:nvPicPr>
          <p:cNvPr id="149516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58" r="19487"/>
          <a:stretch>
            <a:fillRect/>
          </a:stretch>
        </p:blipFill>
        <p:spPr bwMode="auto">
          <a:xfrm>
            <a:off x="6130925" y="1585914"/>
            <a:ext cx="4102100" cy="247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49858" r="19487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49517" name="Picture 1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b="50049"/>
          <a:stretch>
            <a:fillRect/>
          </a:stretch>
        </p:blipFill>
        <p:spPr bwMode="auto">
          <a:xfrm>
            <a:off x="1985964" y="4067176"/>
            <a:ext cx="4160837" cy="249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507" b="5004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49518" name="Text Box 13"/>
          <p:cNvSpPr txBox="1">
            <a:spLocks noChangeArrowheads="1"/>
          </p:cNvSpPr>
          <p:nvPr/>
        </p:nvSpPr>
        <p:spPr bwMode="auto">
          <a:xfrm>
            <a:off x="1884364" y="1344613"/>
            <a:ext cx="2347415" cy="2791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200">
                <a:solidFill>
                  <a:srgbClr val="000000"/>
                </a:solidFill>
              </a:rPr>
              <a:t>256 grey levels (8 bits per pixel)</a:t>
            </a:r>
          </a:p>
        </p:txBody>
      </p:sp>
      <p:grpSp>
        <p:nvGrpSpPr>
          <p:cNvPr id="149519" name="Group 14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49520" name="Picture 15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49521" name="Rectangle 16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59563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5155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520" b="50400"/>
          <a:stretch>
            <a:fillRect/>
          </a:stretch>
        </p:blipFill>
        <p:spPr bwMode="auto">
          <a:xfrm>
            <a:off x="3852864" y="1343025"/>
            <a:ext cx="4459287" cy="5303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59520" b="5040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51556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51557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1558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214151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5360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562" r="19019" b="50400"/>
          <a:stretch>
            <a:fillRect/>
          </a:stretch>
        </p:blipFill>
        <p:spPr bwMode="auto">
          <a:xfrm>
            <a:off x="3887788" y="1371601"/>
            <a:ext cx="4424362" cy="5267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0562" r="19019" b="5040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53604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5360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3606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210236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5565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9858" r="59375"/>
          <a:stretch>
            <a:fillRect/>
          </a:stretch>
        </p:blipFill>
        <p:spPr bwMode="auto">
          <a:xfrm>
            <a:off x="3889375" y="1374775"/>
            <a:ext cx="4400550" cy="527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t="49858" r="5937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55652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55653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5654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8105818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5769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05" t="49858" r="19315"/>
          <a:stretch>
            <a:fillRect/>
          </a:stretch>
        </p:blipFill>
        <p:spPr bwMode="auto">
          <a:xfrm>
            <a:off x="3930650" y="1416050"/>
            <a:ext cx="4375150" cy="527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40305" t="49858" r="19315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57700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5770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770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0875200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5974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r="40295" b="50049"/>
          <a:stretch>
            <a:fillRect/>
          </a:stretch>
        </p:blipFill>
        <p:spPr bwMode="auto">
          <a:xfrm>
            <a:off x="3862389" y="1393825"/>
            <a:ext cx="4435475" cy="532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507" r="40295" b="5004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59748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59749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59750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606616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617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75" b="50049"/>
          <a:stretch>
            <a:fillRect/>
          </a:stretch>
        </p:blipFill>
        <p:spPr bwMode="auto">
          <a:xfrm>
            <a:off x="3873500" y="1393825"/>
            <a:ext cx="4432300" cy="532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9875" b="50049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61796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61797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1798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245127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6384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507" t="49702" r="40163"/>
          <a:stretch>
            <a:fillRect/>
          </a:stretch>
        </p:blipFill>
        <p:spPr bwMode="auto">
          <a:xfrm>
            <a:off x="3859214" y="1344614"/>
            <a:ext cx="4465637" cy="538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19507" t="49702" r="40163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63844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63845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3846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1357723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pic>
        <p:nvPicPr>
          <p:cNvPr id="16589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842" t="49702"/>
          <a:stretch>
            <a:fillRect/>
          </a:stretch>
        </p:blipFill>
        <p:spPr bwMode="auto">
          <a:xfrm>
            <a:off x="3824289" y="1420814"/>
            <a:ext cx="4529137" cy="5380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59842" t="49702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65892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65893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5894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9858683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GB" altLang="en-US" sz="4000">
                <a:solidFill>
                  <a:srgbClr val="FFFFFF"/>
                </a:solidFill>
              </a:rPr>
              <a:t>Saturation &amp; Noise</a:t>
            </a:r>
          </a:p>
        </p:txBody>
      </p:sp>
      <p:pic>
        <p:nvPicPr>
          <p:cNvPr id="16793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6963" y="1492250"/>
            <a:ext cx="4914900" cy="5189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grpSp>
        <p:nvGrpSpPr>
          <p:cNvPr id="167940" name="Group 3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67941" name="Picture 4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67942" name="Rectangle 5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312087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Resolution: How Much Is Enough?</a:t>
            </a:r>
          </a:p>
        </p:txBody>
      </p:sp>
      <p:sp>
        <p:nvSpPr>
          <p:cNvPr id="16998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297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big question with resolution is always </a:t>
            </a:r>
            <a:r>
              <a:rPr lang="en-IE" altLang="en-US" sz="3200" i="1">
                <a:solidFill>
                  <a:srgbClr val="000000"/>
                </a:solidFill>
              </a:rPr>
              <a:t>how much is enough</a:t>
            </a:r>
            <a:r>
              <a:rPr lang="en-IE" altLang="en-US" sz="3200">
                <a:solidFill>
                  <a:srgbClr val="000000"/>
                </a:solidFill>
              </a:rPr>
              <a:t>?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This all depends on what is in the image and what you would like to do with it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Key questions include</a:t>
            </a:r>
          </a:p>
          <a:p>
            <a:pPr lvl="2">
              <a:spcBef>
                <a:spcPts val="600"/>
              </a:spcBef>
              <a:buFont typeface="Times New Roman" panose="02020603050405020304" pitchFamily="18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Does the image look aesthetically pleasing?</a:t>
            </a:r>
          </a:p>
          <a:p>
            <a:pPr lvl="2">
              <a:spcBef>
                <a:spcPts val="600"/>
              </a:spcBef>
              <a:buFont typeface="Times New Roman" panose="02020603050405020304" pitchFamily="18" charset="0"/>
              <a:buChar char="•"/>
            </a:pPr>
            <a:r>
              <a:rPr lang="en-IE" altLang="en-US">
                <a:solidFill>
                  <a:srgbClr val="000000"/>
                </a:solidFill>
              </a:rPr>
              <a:t>Can you see what you need to see within the image?</a:t>
            </a:r>
          </a:p>
        </p:txBody>
      </p:sp>
    </p:spTree>
    <p:extLst>
      <p:ext uri="{BB962C8B-B14F-4D97-AF65-F5344CB8AC3E}">
        <p14:creationId xmlns:p14="http://schemas.microsoft.com/office/powerpoint/2010/main" val="77555611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3600">
                <a:solidFill>
                  <a:srgbClr val="FFFFFF"/>
                </a:solidFill>
              </a:rPr>
              <a:t>Resolution: How Much Is Enough? (cont…)</a:t>
            </a:r>
          </a:p>
        </p:txBody>
      </p:sp>
      <p:sp>
        <p:nvSpPr>
          <p:cNvPr id="172035" name="Text Box 2"/>
          <p:cNvSpPr txBox="1">
            <a:spLocks noChangeArrowheads="1"/>
          </p:cNvSpPr>
          <p:nvPr/>
        </p:nvSpPr>
        <p:spPr bwMode="auto">
          <a:xfrm>
            <a:off x="1981200" y="4556125"/>
            <a:ext cx="8229600" cy="2063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The picture on the right is fine for counting the number of cars, but not for reading the number plate</a:t>
            </a:r>
          </a:p>
        </p:txBody>
      </p:sp>
      <p:pic>
        <p:nvPicPr>
          <p:cNvPr id="1720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0000" y="1814513"/>
            <a:ext cx="3206750" cy="2406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pic>
        <p:nvPicPr>
          <p:cNvPr id="17203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4139" y="1811339"/>
            <a:ext cx="3228975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619479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grpSp>
        <p:nvGrpSpPr>
          <p:cNvPr id="174083" name="Group 2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74088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74089" name="Rectangle 4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174084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730"/>
          <a:stretch>
            <a:fillRect/>
          </a:stretch>
        </p:blipFill>
        <p:spPr bwMode="auto">
          <a:xfrm>
            <a:off x="1808163" y="2244725"/>
            <a:ext cx="8831262" cy="2959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b="247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174085" name="Text Box 6"/>
          <p:cNvSpPr txBox="1">
            <a:spLocks noChangeArrowheads="1"/>
          </p:cNvSpPr>
          <p:nvPr/>
        </p:nvSpPr>
        <p:spPr bwMode="auto">
          <a:xfrm>
            <a:off x="2622551" y="5187950"/>
            <a:ext cx="12477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Low Detail</a:t>
            </a:r>
          </a:p>
        </p:txBody>
      </p:sp>
      <p:sp>
        <p:nvSpPr>
          <p:cNvPr id="174086" name="Text Box 7"/>
          <p:cNvSpPr txBox="1">
            <a:spLocks noChangeArrowheads="1"/>
          </p:cNvSpPr>
          <p:nvPr/>
        </p:nvSpPr>
        <p:spPr bwMode="auto">
          <a:xfrm>
            <a:off x="5270501" y="5187950"/>
            <a:ext cx="1643063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Medium Detail</a:t>
            </a:r>
          </a:p>
        </p:txBody>
      </p:sp>
      <p:sp>
        <p:nvSpPr>
          <p:cNvPr id="174087" name="Text Box 8"/>
          <p:cNvSpPr txBox="1">
            <a:spLocks noChangeArrowheads="1"/>
          </p:cNvSpPr>
          <p:nvPr/>
        </p:nvSpPr>
        <p:spPr bwMode="auto">
          <a:xfrm>
            <a:off x="8539164" y="5187950"/>
            <a:ext cx="1298575" cy="36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0000" tIns="46800" rIns="90000" bIns="46800">
            <a:spAutoFit/>
          </a:bodyPr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1800">
                <a:solidFill>
                  <a:srgbClr val="000000"/>
                </a:solidFill>
              </a:rPr>
              <a:t>High Detail</a:t>
            </a:r>
          </a:p>
        </p:txBody>
      </p:sp>
    </p:spTree>
    <p:extLst>
      <p:ext uri="{BB962C8B-B14F-4D97-AF65-F5344CB8AC3E}">
        <p14:creationId xmlns:p14="http://schemas.microsoft.com/office/powerpoint/2010/main" val="25671976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grpSp>
        <p:nvGrpSpPr>
          <p:cNvPr id="176131" name="Group 2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76133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76134" name="Rectangle 4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176132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95" b="24730"/>
          <a:stretch>
            <a:fillRect/>
          </a:stretch>
        </p:blipFill>
        <p:spPr bwMode="auto">
          <a:xfrm>
            <a:off x="3332164" y="1250950"/>
            <a:ext cx="5572125" cy="562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r="66795" b="247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52955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17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grpSp>
        <p:nvGrpSpPr>
          <p:cNvPr id="178179" name="Group 2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78181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78182" name="Rectangle 4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178180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14" r="32890" b="24730"/>
          <a:stretch>
            <a:fillRect/>
          </a:stretch>
        </p:blipFill>
        <p:spPr bwMode="auto">
          <a:xfrm>
            <a:off x="3244851" y="1236664"/>
            <a:ext cx="5688013" cy="562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33214" r="32890" b="247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16491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Intensity Level Resolution (cont…)</a:t>
            </a:r>
          </a:p>
        </p:txBody>
      </p:sp>
      <p:grpSp>
        <p:nvGrpSpPr>
          <p:cNvPr id="180227" name="Group 2"/>
          <p:cNvGrpSpPr>
            <a:grpSpLocks/>
          </p:cNvGrpSpPr>
          <p:nvPr/>
        </p:nvGrpSpPr>
        <p:grpSpPr bwMode="auto">
          <a:xfrm>
            <a:off x="1520825" y="1631951"/>
            <a:ext cx="254000" cy="5222875"/>
            <a:chOff x="-2" y="1028"/>
            <a:chExt cx="160" cy="3290"/>
          </a:xfrm>
        </p:grpSpPr>
        <p:pic>
          <p:nvPicPr>
            <p:cNvPr id="180229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2" y="4197"/>
              <a:ext cx="160" cy="1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blipFill dpi="0" rotWithShape="0">
                    <a:blip/>
                    <a:srcRect/>
                    <a:stretch>
                      <a:fillRect/>
                    </a:stretch>
                  </a:blip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sp>
          <p:nvSpPr>
            <p:cNvPr id="180230" name="Rectangle 4"/>
            <p:cNvSpPr>
              <a:spLocks noChangeArrowheads="1"/>
            </p:cNvSpPr>
            <p:nvPr/>
          </p:nvSpPr>
          <p:spPr bwMode="auto">
            <a:xfrm rot="-5400000">
              <a:off x="-1507" y="2535"/>
              <a:ext cx="3168" cy="155"/>
            </a:xfrm>
            <a:prstGeom prst="rect">
              <a:avLst/>
            </a:prstGeom>
            <a:solidFill>
              <a:srgbClr val="333399"/>
            </a:solidFill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defTabSz="457200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anose="02020603050405020304" pitchFamily="18" charset="0"/>
                <a:tabLst>
                  <a:tab pos="0" algn="l"/>
                  <a:tab pos="457200" algn="l"/>
                  <a:tab pos="914400" algn="l"/>
                  <a:tab pos="1371600" algn="l"/>
                  <a:tab pos="1828800" algn="l"/>
                  <a:tab pos="2286000" algn="l"/>
                  <a:tab pos="2743200" algn="l"/>
                  <a:tab pos="3200400" algn="l"/>
                  <a:tab pos="3657600" algn="l"/>
                  <a:tab pos="4114800" algn="l"/>
                  <a:tab pos="4572000" algn="l"/>
                  <a:tab pos="5029200" algn="l"/>
                  <a:tab pos="5486400" algn="l"/>
                  <a:tab pos="5943600" algn="l"/>
                  <a:tab pos="6400800" algn="l"/>
                  <a:tab pos="6858000" algn="l"/>
                  <a:tab pos="7315200" algn="l"/>
                  <a:tab pos="7772400" algn="l"/>
                  <a:tab pos="8229600" algn="l"/>
                  <a:tab pos="8686800" algn="l"/>
                  <a:tab pos="9144000" algn="l"/>
                </a:tabLst>
                <a:defRPr sz="2400">
                  <a:solidFill>
                    <a:schemeClr val="bg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r" eaLnBrk="1" hangingPunct="1">
                <a:buClrTx/>
                <a:buFontTx/>
                <a:buNone/>
              </a:pPr>
              <a:r>
                <a:rPr lang="en-IE" altLang="en-US" sz="1200">
                  <a:solidFill>
                    <a:srgbClr val="FFFFFF"/>
                  </a:solidFill>
                </a:rPr>
                <a:t>Images taken from Gonzalez &amp; Woods, Digital Image Processing (2002)</a:t>
              </a:r>
            </a:p>
          </p:txBody>
        </p:sp>
      </p:grpSp>
      <p:pic>
        <p:nvPicPr>
          <p:cNvPr id="180228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444" b="24730"/>
          <a:stretch>
            <a:fillRect/>
          </a:stretch>
        </p:blipFill>
        <p:spPr bwMode="auto">
          <a:xfrm>
            <a:off x="3244850" y="1236664"/>
            <a:ext cx="5715000" cy="5621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 l="66444" b="24730"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0302886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27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 eaLnBrk="1" hangingPunct="1">
              <a:buClrTx/>
              <a:buFontTx/>
              <a:buNone/>
            </a:pPr>
            <a:r>
              <a:rPr lang="en-IE" altLang="en-US" sz="400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18227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We have looked at: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Human visual system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Light and the electromagnetic spectrum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Image representation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Image sensing and acquisition</a:t>
            </a:r>
          </a:p>
          <a:p>
            <a:pPr marL="0" lvl="1">
              <a:spcBef>
                <a:spcPts val="700"/>
              </a:spcBef>
              <a:buClrTx/>
            </a:pPr>
            <a:r>
              <a:rPr lang="en-IE" altLang="en-US" sz="2800">
                <a:solidFill>
                  <a:srgbClr val="000000"/>
                </a:solidFill>
              </a:rPr>
              <a:t>Sampling, quantisation and resolution</a:t>
            </a:r>
          </a:p>
          <a:p>
            <a:pPr>
              <a:spcBef>
                <a:spcPts val="800"/>
              </a:spcBef>
              <a:buClrTx/>
            </a:pPr>
            <a:r>
              <a:rPr lang="en-IE" altLang="en-US" sz="3200">
                <a:solidFill>
                  <a:srgbClr val="000000"/>
                </a:solidFill>
              </a:rPr>
              <a:t>Next time we start to look at techniques for image enhancement</a:t>
            </a:r>
          </a:p>
        </p:txBody>
      </p:sp>
    </p:spTree>
    <p:extLst>
      <p:ext uri="{BB962C8B-B14F-4D97-AF65-F5344CB8AC3E}">
        <p14:creationId xmlns:p14="http://schemas.microsoft.com/office/powerpoint/2010/main" val="168060342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Digital image representation</a:t>
            </a:r>
          </a:p>
        </p:txBody>
      </p:sp>
      <p:sp>
        <p:nvSpPr>
          <p:cNvPr id="6147" name="Text Box 2"/>
          <p:cNvSpPr txBox="1">
            <a:spLocks noChangeArrowheads="1"/>
          </p:cNvSpPr>
          <p:nvPr/>
        </p:nvSpPr>
        <p:spPr bwMode="auto">
          <a:xfrm>
            <a:off x="1936750" y="137795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>
                <a:cs typeface="ArialMT" pitchFamily="32" charset="0"/>
              </a:rPr>
              <a:t>   </a:t>
            </a:r>
            <a:r>
              <a:rPr lang="en-IE" altLang="en-US" sz="2800">
                <a:cs typeface="ArialMT" pitchFamily="32" charset="0"/>
              </a:rPr>
              <a:t>Monochrome image (or simply image) refers to a 2- dimensional light intensity function </a:t>
            </a:r>
            <a:r>
              <a:rPr lang="en-IE" altLang="en-US" sz="2800" i="1">
                <a:cs typeface="ArialMT" pitchFamily="32" charset="0"/>
              </a:rPr>
              <a:t>f(x,y)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400" i="1">
                <a:cs typeface="ArialMT" pitchFamily="32" charset="0"/>
              </a:rPr>
              <a:t>x </a:t>
            </a:r>
            <a:r>
              <a:rPr lang="en-IE" altLang="en-US" sz="2400">
                <a:cs typeface="ArialMT" pitchFamily="32" charset="0"/>
              </a:rPr>
              <a:t>and </a:t>
            </a:r>
            <a:r>
              <a:rPr lang="en-IE" altLang="en-US" sz="2400" i="1">
                <a:cs typeface="ArialMT" pitchFamily="32" charset="0"/>
              </a:rPr>
              <a:t>y </a:t>
            </a:r>
            <a:r>
              <a:rPr lang="en-IE" altLang="en-US" sz="2400">
                <a:cs typeface="ArialMT" pitchFamily="32" charset="0"/>
              </a:rPr>
              <a:t>denote spatial coordinates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400">
                <a:cs typeface="ArialMT" pitchFamily="32" charset="0"/>
              </a:rPr>
              <a:t>the value of </a:t>
            </a:r>
            <a:r>
              <a:rPr lang="en-IE" altLang="en-US" sz="2400" i="1">
                <a:cs typeface="ArialMT" pitchFamily="32" charset="0"/>
              </a:rPr>
              <a:t>f(x,y) </a:t>
            </a:r>
            <a:r>
              <a:rPr lang="en-IE" altLang="en-US" sz="2400">
                <a:cs typeface="ArialMT" pitchFamily="32" charset="0"/>
              </a:rPr>
              <a:t>at </a:t>
            </a:r>
            <a:r>
              <a:rPr lang="en-IE" altLang="en-US" sz="2400" i="1">
                <a:cs typeface="ArialMT" pitchFamily="32" charset="0"/>
              </a:rPr>
              <a:t>(x,y) </a:t>
            </a:r>
            <a:r>
              <a:rPr lang="en-IE" altLang="en-US" sz="2400">
                <a:cs typeface="ArialMT" pitchFamily="32" charset="0"/>
              </a:rPr>
              <a:t>is proportional to the brightness (or </a:t>
            </a:r>
            <a:r>
              <a:rPr lang="en-IE" altLang="en-US" sz="2400" i="1">
                <a:cs typeface="ArialMT" pitchFamily="32" charset="0"/>
              </a:rPr>
              <a:t>gray level</a:t>
            </a:r>
            <a:r>
              <a:rPr lang="en-IE" altLang="en-US" sz="2400">
                <a:cs typeface="ArialMT" pitchFamily="32" charset="0"/>
              </a:rPr>
              <a:t>) of the image at that point</a:t>
            </a:r>
          </a:p>
        </p:txBody>
      </p:sp>
      <p:pic>
        <p:nvPicPr>
          <p:cNvPr id="61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5614" y="3814763"/>
            <a:ext cx="6408737" cy="2849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6743263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Digital image representation</a:t>
            </a:r>
          </a:p>
        </p:txBody>
      </p:sp>
      <p:sp>
        <p:nvSpPr>
          <p:cNvPr id="8195" name="Text Box 2"/>
          <p:cNvSpPr txBox="1">
            <a:spLocks noChangeArrowheads="1"/>
          </p:cNvSpPr>
          <p:nvPr/>
        </p:nvSpPr>
        <p:spPr bwMode="auto">
          <a:xfrm>
            <a:off x="1936750" y="137795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>
                <a:cs typeface="ArialMT" pitchFamily="32" charset="0"/>
              </a:rPr>
              <a:t>   </a:t>
            </a:r>
            <a:r>
              <a:rPr lang="en-IE" altLang="en-US" sz="2800">
                <a:cs typeface="ArialMT" pitchFamily="32" charset="0"/>
              </a:rPr>
              <a:t>A digital image is an image </a:t>
            </a:r>
            <a:r>
              <a:rPr lang="en-IE" altLang="en-US" sz="2800" i="1">
                <a:cs typeface="ArialMT" pitchFamily="32" charset="0"/>
              </a:rPr>
              <a:t>f(x,y) </a:t>
            </a:r>
            <a:r>
              <a:rPr lang="en-IE" altLang="en-US" sz="2800">
                <a:cs typeface="ArialMT" pitchFamily="32" charset="0"/>
              </a:rPr>
              <a:t>that has been discretized both in spatial coordinates and in brightness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800">
                <a:solidFill>
                  <a:srgbClr val="000080"/>
                </a:solidFill>
                <a:cs typeface="ArialMT" pitchFamily="32" charset="0"/>
              </a:rPr>
              <a:t>•</a:t>
            </a:r>
            <a:r>
              <a:rPr lang="en-IE" altLang="en-US" sz="2800">
                <a:solidFill>
                  <a:srgbClr val="98193A"/>
                </a:solidFill>
                <a:cs typeface="ArialMT" pitchFamily="32" charset="0"/>
              </a:rPr>
              <a:t> </a:t>
            </a:r>
            <a:r>
              <a:rPr lang="en-IE" altLang="en-US" sz="2800">
                <a:cs typeface="ArialMT" pitchFamily="32" charset="0"/>
              </a:rPr>
              <a:t>Considered as a matrix whose row and column indices represent a point in the image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800">
                <a:solidFill>
                  <a:srgbClr val="000080"/>
                </a:solidFill>
                <a:cs typeface="ArialMT" pitchFamily="32" charset="0"/>
              </a:rPr>
              <a:t>•</a:t>
            </a:r>
            <a:r>
              <a:rPr lang="en-IE" altLang="en-US" sz="2800">
                <a:solidFill>
                  <a:srgbClr val="98193A"/>
                </a:solidFill>
                <a:cs typeface="ArialMT" pitchFamily="32" charset="0"/>
              </a:rPr>
              <a:t> </a:t>
            </a:r>
            <a:r>
              <a:rPr lang="en-IE" altLang="en-US" sz="2800">
                <a:cs typeface="ArialMT" pitchFamily="32" charset="0"/>
              </a:rPr>
              <a:t>The corresponding matrix element value represents the gray level at that point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800">
                <a:solidFill>
                  <a:srgbClr val="000080"/>
                </a:solidFill>
                <a:cs typeface="ArialMT" pitchFamily="32" charset="0"/>
              </a:rPr>
              <a:t>•</a:t>
            </a:r>
            <a:r>
              <a:rPr lang="en-IE" altLang="en-US" sz="2800">
                <a:solidFill>
                  <a:srgbClr val="98193A"/>
                </a:solidFill>
                <a:cs typeface="ArialMT" pitchFamily="32" charset="0"/>
              </a:rPr>
              <a:t> </a:t>
            </a:r>
            <a:r>
              <a:rPr lang="en-IE" altLang="en-US" sz="2800">
                <a:cs typeface="ArialMT" pitchFamily="32" charset="0"/>
              </a:rPr>
              <a:t>The elements of such an array are referred to as: </a:t>
            </a:r>
            <a:r>
              <a:rPr lang="en-IE" altLang="en-US" sz="28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800">
                <a:cs typeface="ArialMT" pitchFamily="32" charset="0"/>
              </a:rPr>
              <a:t>image elements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800">
                <a:cs typeface="ArialMT" pitchFamily="32" charset="0"/>
              </a:rPr>
              <a:t>   </a:t>
            </a:r>
            <a:r>
              <a:rPr lang="en-IE" altLang="en-US" sz="28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800">
                <a:cs typeface="ArialMT" pitchFamily="32" charset="0"/>
              </a:rPr>
              <a:t>picture elements (pixels or pels)</a:t>
            </a:r>
          </a:p>
        </p:txBody>
      </p:sp>
    </p:spTree>
    <p:extLst>
      <p:ext uri="{BB962C8B-B14F-4D97-AF65-F5344CB8AC3E}">
        <p14:creationId xmlns:p14="http://schemas.microsoft.com/office/powerpoint/2010/main" val="28483486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Steps in image processing</a:t>
            </a:r>
          </a:p>
        </p:txBody>
      </p:sp>
      <p:sp>
        <p:nvSpPr>
          <p:cNvPr id="10243" name="Text Box 2"/>
          <p:cNvSpPr txBox="1">
            <a:spLocks noChangeArrowheads="1"/>
          </p:cNvSpPr>
          <p:nvPr/>
        </p:nvSpPr>
        <p:spPr bwMode="auto">
          <a:xfrm>
            <a:off x="1936750" y="137795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>
                <a:cs typeface="ArialMT" pitchFamily="32" charset="0"/>
              </a:rPr>
              <a:t>   </a:t>
            </a:r>
            <a:r>
              <a:rPr lang="en-IE" altLang="en-US" sz="2200">
                <a:cs typeface="ArialMT" pitchFamily="32" charset="0"/>
              </a:rPr>
              <a:t>The </a:t>
            </a:r>
            <a:r>
              <a:rPr lang="en-IE" altLang="en-US" sz="2200" i="1">
                <a:cs typeface="ArialMT" pitchFamily="32" charset="0"/>
              </a:rPr>
              <a:t>problem domain </a:t>
            </a:r>
            <a:r>
              <a:rPr lang="en-IE" altLang="en-US" sz="2200">
                <a:cs typeface="ArialMT" pitchFamily="32" charset="0"/>
              </a:rPr>
              <a:t>in this example consists of pieces of mail and the objective is to read the address on each piece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Step 1: image acquisition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Acquire a digital image using an image sensor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19C488"/>
                </a:solidFill>
                <a:cs typeface="ArialMT" pitchFamily="32" charset="0"/>
              </a:rPr>
              <a:t>     • </a:t>
            </a:r>
            <a:r>
              <a:rPr lang="en-IE" altLang="en-US" sz="1800">
                <a:cs typeface="ArialMT" pitchFamily="32" charset="0"/>
              </a:rPr>
              <a:t>a monochrome or color TV camera: produces an entire image of the problem domain every 1/30 second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19C488"/>
                </a:solidFill>
                <a:cs typeface="ArialMT" pitchFamily="32" charset="0"/>
              </a:rPr>
              <a:t>     • </a:t>
            </a:r>
            <a:r>
              <a:rPr lang="en-IE" altLang="en-US" sz="1800">
                <a:cs typeface="ArialMT" pitchFamily="32" charset="0"/>
              </a:rPr>
              <a:t>a line-scan camera: produces a single image line at a time, motion past the camera produces a 2-dimensional image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If not digital, an </a:t>
            </a:r>
            <a:r>
              <a:rPr lang="en-IE" altLang="en-US" sz="2000" i="1">
                <a:cs typeface="ArialMT" pitchFamily="32" charset="0"/>
              </a:rPr>
              <a:t>analog-to-digital </a:t>
            </a:r>
            <a:r>
              <a:rPr lang="en-IE" altLang="en-US" sz="2000">
                <a:cs typeface="ArialMT" pitchFamily="32" charset="0"/>
              </a:rPr>
              <a:t>conversion process is required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The nature of the image sensor (and the produced image) are determined by the application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19C488"/>
                </a:solidFill>
                <a:cs typeface="ArialMT" pitchFamily="32" charset="0"/>
              </a:rPr>
              <a:t>     • </a:t>
            </a:r>
            <a:r>
              <a:rPr lang="en-IE" altLang="en-US" sz="1800">
                <a:cs typeface="ArialMT" pitchFamily="32" charset="0"/>
              </a:rPr>
              <a:t>Mail reading applications rely greatly on line-scan cameras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19C488"/>
                </a:solidFill>
                <a:cs typeface="ArialMT" pitchFamily="32" charset="0"/>
              </a:rPr>
              <a:t>     • </a:t>
            </a:r>
            <a:r>
              <a:rPr lang="en-IE" altLang="en-US" sz="1800">
                <a:cs typeface="ArialMT" pitchFamily="32" charset="0"/>
              </a:rPr>
              <a:t>CCD and CMOS imaging sensors are very common in many applications</a:t>
            </a:r>
          </a:p>
          <a:p>
            <a:pPr eaLnBrk="1" hangingPunct="1">
              <a:buClrTx/>
              <a:buFontTx/>
              <a:buNone/>
            </a:pPr>
            <a:endParaRPr lang="en-IE" altLang="en-US" sz="1800">
              <a:cs typeface="ArialMT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643912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Steps in image processing</a:t>
            </a:r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1936750" y="137795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6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600">
                <a:cs typeface="ArialMT" pitchFamily="32" charset="0"/>
              </a:rPr>
              <a:t>Step 2: preprocessing</a:t>
            </a:r>
            <a:r>
              <a:rPr lang="en-IE" altLang="en-US" sz="2200">
                <a:cs typeface="ArialMT" pitchFamily="32" charset="0"/>
              </a:rPr>
              <a:t>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 </a:t>
            </a: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200">
                <a:cs typeface="ArialMT" pitchFamily="32" charset="0"/>
              </a:rPr>
              <a:t>Key function: improve the image in ways that increase the chance for success of the other processes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  – </a:t>
            </a:r>
            <a:r>
              <a:rPr lang="en-IE" altLang="en-US" sz="2200">
                <a:cs typeface="ArialMT" pitchFamily="32" charset="0"/>
              </a:rPr>
              <a:t>In the mail example, may deal with contrast enhancement, removing noise, and isolating regions whose texture indicates a likelihood of alphanumeric information</a:t>
            </a: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MT" pitchFamily="3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592532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Steps in image processing</a:t>
            </a:r>
          </a:p>
        </p:txBody>
      </p:sp>
      <p:sp>
        <p:nvSpPr>
          <p:cNvPr id="14339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Step 3: segmentation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000">
                <a:cs typeface="ArialMT" pitchFamily="32" charset="0"/>
              </a:rPr>
              <a:t>Broadly defined: breaking an image into its constituent parts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000">
                <a:cs typeface="ArialMT" pitchFamily="32" charset="0"/>
              </a:rPr>
              <a:t>In general, one of the most difficult tasks in image processing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000">
                <a:cs typeface="ArialMT" pitchFamily="32" charset="0"/>
              </a:rPr>
              <a:t>Good segmentation simplifies the rest of the problem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000">
                <a:cs typeface="ArialMT" pitchFamily="32" charset="0"/>
              </a:rPr>
              <a:t>Poor segmentation make the task impossible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000">
                <a:cs typeface="ArialMT" pitchFamily="32" charset="0"/>
              </a:rPr>
              <a:t>Output is usually raw pixel data: may represent region boundaries, points in the region itself, etc.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000">
                <a:cs typeface="ArialMT" pitchFamily="32" charset="0"/>
              </a:rPr>
              <a:t>Boundary representation can be useful when the focus is on   external shape characteristics (e.g. corners, rounded edges, etc.)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19C488"/>
                </a:solidFill>
                <a:cs typeface="ArialMT" pitchFamily="32" charset="0"/>
              </a:rPr>
              <a:t>        • </a:t>
            </a:r>
            <a:r>
              <a:rPr lang="en-IE" altLang="en-US" sz="2000">
                <a:cs typeface="ArialMT" pitchFamily="32" charset="0"/>
              </a:rPr>
              <a:t>Region representation is appropriate when the focus is on internal properties (e.g. texture or skeletal shape)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000">
                <a:cs typeface="ArialMT" pitchFamily="32" charset="0"/>
              </a:rPr>
              <a:t>For the mail problem (character recognition) both representations can be necessary</a:t>
            </a:r>
          </a:p>
        </p:txBody>
      </p:sp>
    </p:spTree>
    <p:extLst>
      <p:ext uri="{BB962C8B-B14F-4D97-AF65-F5344CB8AC3E}">
        <p14:creationId xmlns:p14="http://schemas.microsoft.com/office/powerpoint/2010/main" val="373938240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Steps in image processing</a:t>
            </a:r>
          </a:p>
        </p:txBody>
      </p:sp>
      <p:sp>
        <p:nvSpPr>
          <p:cNvPr id="16387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Step 4: representation &amp; description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400">
                <a:cs typeface="ArialMT" pitchFamily="32" charset="0"/>
              </a:rPr>
              <a:t>Representation: transforming raw data into a form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cs typeface="ArialMT" pitchFamily="32" charset="0"/>
              </a:rPr>
              <a:t>      suitable for computer processing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400">
                <a:cs typeface="ArialMT" pitchFamily="32" charset="0"/>
              </a:rPr>
              <a:t>Description (also called feature extraction) deals with extracting features that result in some quantitative information of interest or features which are basic for differentiating one class of objects from another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400">
                <a:cs typeface="ArialMT" pitchFamily="32" charset="0"/>
              </a:rPr>
              <a:t>In terms of character recognition, </a:t>
            </a:r>
            <a:r>
              <a:rPr lang="en-IE" altLang="en-US" sz="2400" i="1">
                <a:cs typeface="ArialMT" pitchFamily="32" charset="0"/>
              </a:rPr>
              <a:t>descriptors </a:t>
            </a:r>
            <a:r>
              <a:rPr lang="en-IE" altLang="en-US" sz="2400">
                <a:cs typeface="ArialMT" pitchFamily="32" charset="0"/>
              </a:rPr>
              <a:t>such as lakes (holes) and bays help differentiate one part of the alphabet from another</a:t>
            </a:r>
          </a:p>
        </p:txBody>
      </p:sp>
    </p:spTree>
    <p:extLst>
      <p:ext uri="{BB962C8B-B14F-4D97-AF65-F5344CB8AC3E}">
        <p14:creationId xmlns:p14="http://schemas.microsoft.com/office/powerpoint/2010/main" val="1875821733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Steps in image processing</a:t>
            </a:r>
          </a:p>
        </p:txBody>
      </p:sp>
      <p:sp>
        <p:nvSpPr>
          <p:cNvPr id="18435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Step 5: recognition &amp; interpretation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2617C0"/>
                </a:solidFill>
                <a:cs typeface="ArialMT" pitchFamily="32" charset="0"/>
              </a:rPr>
              <a:t>   </a:t>
            </a: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200">
                <a:cs typeface="ArialMT" pitchFamily="32" charset="0"/>
              </a:rPr>
              <a:t>Recognition: The process which assigns a label to an object based on the information provided by its descriptors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cs typeface="ArialMT" pitchFamily="32" charset="0"/>
              </a:rPr>
              <a:t>     </a:t>
            </a:r>
            <a:r>
              <a:rPr lang="en-IE" altLang="en-US" sz="2000">
                <a:solidFill>
                  <a:srgbClr val="FF0000"/>
                </a:solidFill>
                <a:latin typeface="Zapfino" charset="0"/>
                <a:cs typeface="ArialMT" pitchFamily="32" charset="0"/>
              </a:rPr>
              <a:t>A</a:t>
            </a:r>
            <a:r>
              <a:rPr lang="en-IE" altLang="en-US" sz="2000">
                <a:cs typeface="ArialMT" pitchFamily="32" charset="0"/>
              </a:rPr>
              <a:t> may be the alphanumeric character A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Interpretation: Assigning meaning to an ensemble of recognized objects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FB0007"/>
                </a:solidFill>
                <a:cs typeface="ArialMT" pitchFamily="32" charset="0"/>
              </a:rPr>
              <a:t>    </a:t>
            </a:r>
            <a:r>
              <a:rPr lang="en-IE" altLang="en-US" sz="2000">
                <a:solidFill>
                  <a:srgbClr val="FB0007"/>
                </a:solidFill>
                <a:cs typeface="ArialMT" pitchFamily="32" charset="0"/>
              </a:rPr>
              <a:t>35487-0286 </a:t>
            </a:r>
            <a:r>
              <a:rPr lang="en-IE" altLang="en-US" sz="2000">
                <a:cs typeface="ArialMT" pitchFamily="32" charset="0"/>
              </a:rPr>
              <a:t>may be a ZIP code</a:t>
            </a:r>
          </a:p>
        </p:txBody>
      </p:sp>
    </p:spTree>
    <p:extLst>
      <p:ext uri="{BB962C8B-B14F-4D97-AF65-F5344CB8AC3E}">
        <p14:creationId xmlns:p14="http://schemas.microsoft.com/office/powerpoint/2010/main" val="8959167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Steps in image processing</a:t>
            </a:r>
          </a:p>
        </p:txBody>
      </p:sp>
      <p:sp>
        <p:nvSpPr>
          <p:cNvPr id="20483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204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4950" y="2043114"/>
            <a:ext cx="6523038" cy="333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389292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Steps in image processing </a:t>
            </a:r>
          </a:p>
        </p:txBody>
      </p:sp>
      <p:sp>
        <p:nvSpPr>
          <p:cNvPr id="22531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67100" y="1854201"/>
            <a:ext cx="5232400" cy="367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5076" y="2020888"/>
            <a:ext cx="1146175" cy="154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8593988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A Knowledge Base</a:t>
            </a:r>
          </a:p>
        </p:txBody>
      </p:sp>
      <p:sp>
        <p:nvSpPr>
          <p:cNvPr id="24579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Knowledge about a problem domain is coded into an image processing system in the form of a </a:t>
            </a:r>
            <a:r>
              <a:rPr lang="en-IE" altLang="en-US" sz="2400" i="1">
                <a:cs typeface="ArialMT" pitchFamily="32" charset="0"/>
              </a:rPr>
              <a:t>knowledge database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May be simple: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000">
                <a:cs typeface="ArialMT" pitchFamily="32" charset="0"/>
              </a:rPr>
              <a:t>detailing areas of an image expected to be of interest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May be complex</a:t>
            </a:r>
            <a:r>
              <a:rPr lang="en-IE" altLang="en-US" sz="2400">
                <a:cs typeface="ArialMT" pitchFamily="32" charset="0"/>
              </a:rPr>
              <a:t>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000">
                <a:cs typeface="ArialMT" pitchFamily="32" charset="0"/>
              </a:rPr>
              <a:t>A list of all possible defects of a material in a vision inspection           system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Guides operation of each processing module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Controls interaction between modules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Provides feedback through the system</a:t>
            </a:r>
          </a:p>
        </p:txBody>
      </p:sp>
    </p:spTree>
    <p:extLst>
      <p:ext uri="{BB962C8B-B14F-4D97-AF65-F5344CB8AC3E}">
        <p14:creationId xmlns:p14="http://schemas.microsoft.com/office/powerpoint/2010/main" val="167763311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Steps in an image processing system</a:t>
            </a: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Not all image processing systems would require all steps/processing modules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Image enhancement for human visual perception may not go  beyond the preprocessing stage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A knowledge database may not be required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Processing systems which include recognition and interpretation are associated with image analysis systems in which the objective is autonomous (or at least partially automatic)</a:t>
            </a:r>
          </a:p>
        </p:txBody>
      </p:sp>
    </p:spTree>
    <p:extLst>
      <p:ext uri="{BB962C8B-B14F-4D97-AF65-F5344CB8AC3E}">
        <p14:creationId xmlns:p14="http://schemas.microsoft.com/office/powerpoint/2010/main" val="345112286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A simple imaging model</a:t>
            </a:r>
          </a:p>
        </p:txBody>
      </p:sp>
      <p:sp>
        <p:nvSpPr>
          <p:cNvPr id="28675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An image is a 2-D light intensity function </a:t>
            </a:r>
            <a:r>
              <a:rPr lang="en-IE" altLang="en-US" sz="2400" i="1">
                <a:cs typeface="ArialMT" pitchFamily="32" charset="0"/>
              </a:rPr>
              <a:t>f(x,y)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As light is a form of energy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cs typeface="ArialMT" pitchFamily="32" charset="0"/>
              </a:rPr>
              <a:t>        </a:t>
            </a:r>
            <a:r>
              <a:rPr lang="en-IE" altLang="en-US" sz="2200" i="1">
                <a:cs typeface="ArialMT" pitchFamily="32" charset="0"/>
              </a:rPr>
              <a:t>0 &lt; f(x,y) &lt; </a:t>
            </a:r>
            <a:r>
              <a:rPr lang="en-IE" altLang="en-US" sz="2200">
                <a:cs typeface="Arial" panose="020B0604020202020204" pitchFamily="34" charset="0"/>
              </a:rPr>
              <a:t>∞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f(x,y) may be expressed as the product of 2 components       </a:t>
            </a:r>
            <a:r>
              <a:rPr lang="en-IE" altLang="en-US" sz="2200" i="1">
                <a:cs typeface="ArialMT" pitchFamily="32" charset="0"/>
              </a:rPr>
              <a:t>f(x,y)=i(x,y)r(x,y)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i(x,y) is the illumination: 0 &lt; i(x,y) &lt; </a:t>
            </a:r>
            <a:r>
              <a:rPr lang="en-IE" altLang="en-US" sz="2400">
                <a:cs typeface="Arial" panose="020B0604020202020204" pitchFamily="34" charset="0"/>
              </a:rPr>
              <a:t>∞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cs typeface="Arial" panose="020B0604020202020204" pitchFamily="34" charset="0"/>
              </a:rPr>
              <a:t>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Typical values: 9000 foot-candles sunny day, 100 office room, 0.01 moonlight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r(x,y) is the reflectance: 0 &lt; r(x,y) &lt; </a:t>
            </a:r>
            <a:r>
              <a:rPr lang="en-IE" altLang="en-US" sz="2400">
                <a:cs typeface="Arial" panose="020B0604020202020204" pitchFamily="34" charset="0"/>
              </a:rPr>
              <a:t>1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cs typeface="Arial" panose="020B0604020202020204" pitchFamily="34" charset="0"/>
              </a:rPr>
              <a:t>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r(x,y)=0 implies total absorption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r(x,y)=1 implies total reflectance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Typical values: 0.01 black velvet, 0.80 flat white paint, 0.93 snow</a:t>
            </a:r>
          </a:p>
        </p:txBody>
      </p:sp>
    </p:spTree>
    <p:extLst>
      <p:ext uri="{BB962C8B-B14F-4D97-AF65-F5344CB8AC3E}">
        <p14:creationId xmlns:p14="http://schemas.microsoft.com/office/powerpoint/2010/main" val="286228977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A simple imaging model</a:t>
            </a:r>
          </a:p>
        </p:txBody>
      </p:sp>
      <p:sp>
        <p:nvSpPr>
          <p:cNvPr id="30723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The intensity of a monochrome image </a:t>
            </a:r>
            <a:r>
              <a:rPr lang="en-IE" altLang="en-US" sz="2400" i="1">
                <a:cs typeface="ArialMT" pitchFamily="32" charset="0"/>
              </a:rPr>
              <a:t>f </a:t>
            </a:r>
            <a:r>
              <a:rPr lang="en-IE" altLang="en-US" sz="2400">
                <a:cs typeface="ArialMT" pitchFamily="32" charset="0"/>
              </a:rPr>
              <a:t>at (</a:t>
            </a:r>
            <a:r>
              <a:rPr lang="en-IE" altLang="en-US" sz="2400" i="1">
                <a:cs typeface="ArialMT" pitchFamily="32" charset="0"/>
              </a:rPr>
              <a:t>x,y</a:t>
            </a:r>
            <a:r>
              <a:rPr lang="en-IE" altLang="en-US" sz="2400">
                <a:cs typeface="ArialMT" pitchFamily="32" charset="0"/>
              </a:rPr>
              <a:t>) is the </a:t>
            </a:r>
            <a:r>
              <a:rPr lang="en-IE" altLang="en-US" sz="2400" i="1">
                <a:cs typeface="ArialMT" pitchFamily="32" charset="0"/>
              </a:rPr>
              <a:t>gray level </a:t>
            </a:r>
            <a:r>
              <a:rPr lang="en-IE" altLang="en-US" sz="2400">
                <a:cs typeface="ArialMT" pitchFamily="32" charset="0"/>
              </a:rPr>
              <a:t>(</a:t>
            </a:r>
            <a:r>
              <a:rPr lang="en-IE" altLang="en-US" sz="2400" i="1">
                <a:latin typeface="Times New Roman" panose="02020603050405020304" pitchFamily="18" charset="0"/>
                <a:cs typeface="ArialMT" pitchFamily="32" charset="0"/>
              </a:rPr>
              <a:t>l</a:t>
            </a:r>
            <a:r>
              <a:rPr lang="en-IE" altLang="en-US" sz="2400">
                <a:cs typeface="ArialMT" pitchFamily="32" charset="0"/>
              </a:rPr>
              <a:t>) of the image at that point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 i="1">
                <a:cs typeface="ArialMT" pitchFamily="32" charset="0"/>
              </a:rPr>
              <a:t>     </a:t>
            </a:r>
            <a:r>
              <a:rPr lang="en-IE" altLang="en-US" sz="2400">
                <a:cs typeface="ArialMT" pitchFamily="32" charset="0"/>
              </a:rPr>
              <a:t>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In practice L</a:t>
            </a:r>
            <a:r>
              <a:rPr lang="en-IE" altLang="en-US" sz="1400">
                <a:cs typeface="ArialMT" pitchFamily="32" charset="0"/>
              </a:rPr>
              <a:t>min</a:t>
            </a:r>
            <a:r>
              <a:rPr lang="en-IE" altLang="en-US" sz="2400">
                <a:cs typeface="ArialMT" pitchFamily="32" charset="0"/>
              </a:rPr>
              <a:t>=i</a:t>
            </a:r>
            <a:r>
              <a:rPr lang="en-IE" altLang="en-US" sz="1400">
                <a:cs typeface="ArialMT" pitchFamily="32" charset="0"/>
              </a:rPr>
              <a:t>min</a:t>
            </a:r>
            <a:r>
              <a:rPr lang="en-IE" altLang="en-US" sz="2400">
                <a:cs typeface="ArialMT" pitchFamily="32" charset="0"/>
              </a:rPr>
              <a:t> r</a:t>
            </a:r>
            <a:r>
              <a:rPr lang="en-IE" altLang="en-US" sz="1400">
                <a:cs typeface="ArialMT" pitchFamily="32" charset="0"/>
              </a:rPr>
              <a:t>min</a:t>
            </a:r>
            <a:r>
              <a:rPr lang="en-IE" altLang="en-US" sz="2400">
                <a:cs typeface="ArialMT" pitchFamily="32" charset="0"/>
              </a:rPr>
              <a:t> and L</a:t>
            </a:r>
            <a:r>
              <a:rPr lang="en-IE" altLang="en-US" sz="1400">
                <a:cs typeface="ArialMT" pitchFamily="32" charset="0"/>
              </a:rPr>
              <a:t>max</a:t>
            </a:r>
            <a:r>
              <a:rPr lang="en-IE" altLang="en-US" sz="2400">
                <a:cs typeface="ArialMT" pitchFamily="32" charset="0"/>
              </a:rPr>
              <a:t>=i</a:t>
            </a:r>
            <a:r>
              <a:rPr lang="en-IE" altLang="en-US" sz="1400">
                <a:cs typeface="ArialMT" pitchFamily="32" charset="0"/>
              </a:rPr>
              <a:t>max</a:t>
            </a:r>
            <a:r>
              <a:rPr lang="en-IE" altLang="en-US" sz="2400">
                <a:cs typeface="ArialMT" pitchFamily="32" charset="0"/>
              </a:rPr>
              <a:t> r</a:t>
            </a:r>
            <a:r>
              <a:rPr lang="en-IE" altLang="en-US" sz="1400">
                <a:cs typeface="ArialMT" pitchFamily="32" charset="0"/>
              </a:rPr>
              <a:t>max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As a guideline L</a:t>
            </a:r>
            <a:r>
              <a:rPr lang="en-IE" altLang="en-US" sz="1400">
                <a:cs typeface="ArialMT" pitchFamily="32" charset="0"/>
              </a:rPr>
              <a:t>min</a:t>
            </a:r>
            <a:r>
              <a:rPr lang="en-IE" altLang="en-US" sz="2400">
                <a:cs typeface="ArialMT" pitchFamily="32" charset="0"/>
              </a:rPr>
              <a:t> </a:t>
            </a:r>
            <a:r>
              <a:rPr lang="en-IE" altLang="en-US" sz="2400">
                <a:cs typeface="Arial" panose="020B0604020202020204" pitchFamily="34" charset="0"/>
              </a:rPr>
              <a:t>≈ </a:t>
            </a:r>
            <a:r>
              <a:rPr lang="en-IE" altLang="en-US" sz="2400">
                <a:cs typeface="ArialMT" pitchFamily="32" charset="0"/>
              </a:rPr>
              <a:t>0.005 and L</a:t>
            </a:r>
            <a:r>
              <a:rPr lang="en-IE" altLang="en-US" sz="1400">
                <a:cs typeface="ArialMT" pitchFamily="32" charset="0"/>
              </a:rPr>
              <a:t>max</a:t>
            </a:r>
            <a:r>
              <a:rPr lang="en-IE" altLang="en-US" sz="2400">
                <a:cs typeface="ArialMT" pitchFamily="32" charset="0"/>
              </a:rPr>
              <a:t> </a:t>
            </a:r>
            <a:r>
              <a:rPr lang="en-IE" altLang="en-US" sz="2400">
                <a:cs typeface="Arial" panose="020B0604020202020204" pitchFamily="34" charset="0"/>
              </a:rPr>
              <a:t>≈ </a:t>
            </a:r>
            <a:r>
              <a:rPr lang="en-IE" altLang="en-US" sz="2400">
                <a:cs typeface="ArialMT" pitchFamily="32" charset="0"/>
              </a:rPr>
              <a:t>100 for indoor image processing applications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The interval [L</a:t>
            </a:r>
            <a:r>
              <a:rPr lang="en-IE" altLang="en-US" sz="1400">
                <a:cs typeface="ArialMT" pitchFamily="32" charset="0"/>
              </a:rPr>
              <a:t>min</a:t>
            </a:r>
            <a:r>
              <a:rPr lang="en-IE" altLang="en-US" sz="2400">
                <a:cs typeface="ArialMT" pitchFamily="32" charset="0"/>
              </a:rPr>
              <a:t>, L</a:t>
            </a:r>
            <a:r>
              <a:rPr lang="en-IE" altLang="en-US" sz="1400">
                <a:cs typeface="ArialMT" pitchFamily="32" charset="0"/>
              </a:rPr>
              <a:t>max</a:t>
            </a:r>
            <a:r>
              <a:rPr lang="en-IE" altLang="en-US" sz="2400">
                <a:cs typeface="ArialMT" pitchFamily="32" charset="0"/>
              </a:rPr>
              <a:t>] is called the </a:t>
            </a:r>
            <a:r>
              <a:rPr lang="en-IE" altLang="en-US" sz="2400" i="1">
                <a:cs typeface="ArialMT" pitchFamily="32" charset="0"/>
              </a:rPr>
              <a:t>gray scale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400">
                <a:cs typeface="ArialMT" pitchFamily="32" charset="0"/>
              </a:rPr>
              <a:t>Common practice is to shift the interval to [0,L] where </a:t>
            </a:r>
            <a:r>
              <a:rPr lang="en-IE" altLang="en-US" sz="2400" i="1">
                <a:latin typeface="Times New Roman" panose="02020603050405020304" pitchFamily="18" charset="0"/>
                <a:cs typeface="ArialMT" pitchFamily="32" charset="0"/>
              </a:rPr>
              <a:t>l</a:t>
            </a:r>
            <a:r>
              <a:rPr lang="en-IE" altLang="en-US" sz="2400">
                <a:cs typeface="ArialMT" pitchFamily="32" charset="0"/>
              </a:rPr>
              <a:t>=0 is considered black and </a:t>
            </a:r>
            <a:r>
              <a:rPr lang="en-IE" altLang="en-US" sz="2400" i="1">
                <a:latin typeface="Times New Roman" panose="02020603050405020304" pitchFamily="18" charset="0"/>
                <a:cs typeface="ArialMT" pitchFamily="32" charset="0"/>
              </a:rPr>
              <a:t>l</a:t>
            </a:r>
            <a:r>
              <a:rPr lang="en-IE" altLang="en-US" sz="2400">
                <a:cs typeface="ArialMT" pitchFamily="32" charset="0"/>
              </a:rPr>
              <a:t>=L is considered white. All intermediate values are shades of gray</a:t>
            </a:r>
          </a:p>
        </p:txBody>
      </p:sp>
      <p:pic>
        <p:nvPicPr>
          <p:cNvPr id="3072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988" y="2198689"/>
            <a:ext cx="1809750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43922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Sampling and Quantization</a:t>
            </a:r>
          </a:p>
        </p:txBody>
      </p:sp>
      <p:sp>
        <p:nvSpPr>
          <p:cNvPr id="32771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To be suitable for computer processing an image, f(x,y) must be digitized both spatially and in amplitude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Digitizing the spatial coordinates is called </a:t>
            </a:r>
            <a:r>
              <a:rPr lang="en-IE" altLang="en-US" sz="2200" i="1">
                <a:cs typeface="ArialMT" pitchFamily="32" charset="0"/>
              </a:rPr>
              <a:t>image sampling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Amplitude digitization is called gray-level quantization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f(x,y) is approximated by equally spaced samples in the form of an NxM array where each element is a discrete quantity</a:t>
            </a:r>
          </a:p>
        </p:txBody>
      </p:sp>
      <p:pic>
        <p:nvPicPr>
          <p:cNvPr id="327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0413" y="4019550"/>
            <a:ext cx="78089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2038855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Sampling and Quantization</a:t>
            </a:r>
          </a:p>
        </p:txBody>
      </p:sp>
      <p:sp>
        <p:nvSpPr>
          <p:cNvPr id="34819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Common practice is to let N and M be powers of two; N=2^n and M=2^k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And G=2^m where G denotes the number of gray levels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The assumption here is that gray levels are equally space in the interval [0,L]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The number of bits, b, necessary to store the image is then</a:t>
            </a:r>
          </a:p>
          <a:p>
            <a:pPr eaLnBrk="1" hangingPunct="1">
              <a:buClrTx/>
              <a:buFontTx/>
              <a:buNone/>
            </a:pPr>
            <a:endParaRPr lang="en-IE" altLang="en-US" sz="2200"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For example, a 128x128 image with 64 gray levels would require 98,304 bits of storage</a:t>
            </a:r>
          </a:p>
        </p:txBody>
      </p:sp>
      <p:pic>
        <p:nvPicPr>
          <p:cNvPr id="348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5839" y="3829050"/>
            <a:ext cx="1774825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59923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Sampling and Quantization</a:t>
            </a:r>
          </a:p>
        </p:txBody>
      </p:sp>
      <p:sp>
        <p:nvSpPr>
          <p:cNvPr id="36867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000">
                <a:cs typeface="ArialMT" pitchFamily="32" charset="0"/>
              </a:rPr>
              <a:t>How many samples and gray levels are required for a “good” approximation?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000">
                <a:cs typeface="ArialMT" pitchFamily="32" charset="0"/>
              </a:rPr>
              <a:t>The resolution (the degree of discernible detail) depends strongly on these two parameters</a:t>
            </a:r>
          </a:p>
        </p:txBody>
      </p:sp>
      <p:pic>
        <p:nvPicPr>
          <p:cNvPr id="3686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989" y="1666875"/>
            <a:ext cx="8351837" cy="3289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1100617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Effects of reducing spatial resolution</a:t>
            </a:r>
          </a:p>
        </p:txBody>
      </p:sp>
      <p:sp>
        <p:nvSpPr>
          <p:cNvPr id="38915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</p:txBody>
      </p:sp>
      <p:pic>
        <p:nvPicPr>
          <p:cNvPr id="389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14663" y="1949451"/>
            <a:ext cx="6464300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7164138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Effects of reducing gray levels</a:t>
            </a:r>
          </a:p>
        </p:txBody>
      </p:sp>
      <p:sp>
        <p:nvSpPr>
          <p:cNvPr id="40963" name="Text Box 2"/>
          <p:cNvSpPr txBox="1">
            <a:spLocks noChangeArrowheads="1"/>
          </p:cNvSpPr>
          <p:nvPr/>
        </p:nvSpPr>
        <p:spPr bwMode="auto">
          <a:xfrm>
            <a:off x="1981200" y="1333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1200">
              <a:solidFill>
                <a:srgbClr val="98193A"/>
              </a:solidFill>
              <a:latin typeface="ArialMT" pitchFamily="32" charset="0"/>
              <a:cs typeface="ArialMT" pitchFamily="32" charset="0"/>
            </a:endParaRPr>
          </a:p>
        </p:txBody>
      </p:sp>
      <p:pic>
        <p:nvPicPr>
          <p:cNvPr id="409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6925" y="1809751"/>
            <a:ext cx="6072188" cy="429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0228334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Basic relationships between pixels</a:t>
            </a:r>
          </a:p>
        </p:txBody>
      </p:sp>
      <p:sp>
        <p:nvSpPr>
          <p:cNvPr id="43011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36550" indent="-336550"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336550" algn="l"/>
                <a:tab pos="793750" algn="l"/>
                <a:tab pos="1250950" algn="l"/>
                <a:tab pos="1708150" algn="l"/>
                <a:tab pos="2165350" algn="l"/>
                <a:tab pos="2622550" algn="l"/>
                <a:tab pos="3079750" algn="l"/>
                <a:tab pos="3536950" algn="l"/>
                <a:tab pos="3994150" algn="l"/>
                <a:tab pos="4451350" algn="l"/>
                <a:tab pos="4908550" algn="l"/>
                <a:tab pos="5365750" algn="l"/>
                <a:tab pos="5822950" algn="l"/>
                <a:tab pos="6280150" algn="l"/>
                <a:tab pos="6737350" algn="l"/>
                <a:tab pos="7194550" algn="l"/>
                <a:tab pos="7651750" algn="l"/>
                <a:tab pos="8108950" algn="l"/>
                <a:tab pos="8566150" algn="l"/>
                <a:tab pos="9023350" algn="l"/>
                <a:tab pos="948055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SzPct val="45000"/>
              <a:buFont typeface="Wingdings" panose="05000000000000000000" pitchFamily="2" charset="2"/>
              <a:buChar char=""/>
            </a:pPr>
            <a:r>
              <a:rPr lang="en-IE" altLang="en-US" sz="2200">
                <a:cs typeface="ArialMT" pitchFamily="32" charset="0"/>
              </a:rPr>
              <a:t> An image is denoted by: f(x,y) </a:t>
            </a:r>
          </a:p>
          <a:p>
            <a:pPr eaLnBrk="1" hangingPunct="1">
              <a:buSzPct val="45000"/>
              <a:buFont typeface="Wingdings" panose="05000000000000000000" pitchFamily="2" charset="2"/>
              <a:buChar char=""/>
            </a:pPr>
            <a:r>
              <a:rPr lang="en-IE" altLang="en-US" sz="2200">
                <a:cs typeface="ArialMT" pitchFamily="32" charset="0"/>
              </a:rPr>
              <a:t> Lowercase letters (e.g. </a:t>
            </a:r>
            <a:r>
              <a:rPr lang="en-IE" altLang="en-US" sz="2200" i="1">
                <a:cs typeface="ArialMT" pitchFamily="32" charset="0"/>
              </a:rPr>
              <a:t>p, q</a:t>
            </a:r>
            <a:r>
              <a:rPr lang="en-IE" altLang="en-US" sz="2200">
                <a:cs typeface="ArialMT" pitchFamily="32" charset="0"/>
              </a:rPr>
              <a:t>) will denote individual pixels </a:t>
            </a:r>
          </a:p>
          <a:p>
            <a:pPr eaLnBrk="1" hangingPunct="1">
              <a:buSzPct val="45000"/>
              <a:buFont typeface="Wingdings" panose="05000000000000000000" pitchFamily="2" charset="2"/>
              <a:buChar char=""/>
            </a:pPr>
            <a:r>
              <a:rPr lang="en-IE" altLang="en-US" sz="2200">
                <a:cs typeface="ArialMT" pitchFamily="32" charset="0"/>
              </a:rPr>
              <a:t> A subset of f(x,y) is denoted by </a:t>
            </a:r>
            <a:r>
              <a:rPr lang="en-IE" altLang="en-US" sz="2200" i="1">
                <a:cs typeface="ArialMT" pitchFamily="32" charset="0"/>
              </a:rPr>
              <a:t>S</a:t>
            </a:r>
          </a:p>
          <a:p>
            <a:pPr eaLnBrk="1" hangingPunct="1">
              <a:buSzPct val="45000"/>
              <a:buFont typeface="Wingdings" panose="05000000000000000000" pitchFamily="2" charset="2"/>
              <a:buChar char=""/>
            </a:pPr>
            <a:r>
              <a:rPr lang="en-IE" altLang="en-US" sz="2200">
                <a:cs typeface="ArialMT" pitchFamily="32" charset="0"/>
              </a:rPr>
              <a:t> Neighbors of a pixel: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A pixel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at (x,y) has 4 horizontal/vertical neighbors at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200">
                <a:cs typeface="ArialMT" pitchFamily="32" charset="0"/>
              </a:rPr>
              <a:t>(x+1,y),(x-1,y),(x,y+1)and(x,y-1)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200">
                <a:cs typeface="ArialMT" pitchFamily="32" charset="0"/>
              </a:rPr>
              <a:t>called the </a:t>
            </a:r>
            <a:r>
              <a:rPr lang="en-IE" altLang="en-US" sz="2200" i="1">
                <a:cs typeface="ArialMT" pitchFamily="32" charset="0"/>
              </a:rPr>
              <a:t>4-neighbors </a:t>
            </a:r>
            <a:r>
              <a:rPr lang="en-IE" altLang="en-US" sz="2200">
                <a:cs typeface="ArialMT" pitchFamily="32" charset="0"/>
              </a:rPr>
              <a:t>of </a:t>
            </a:r>
            <a:r>
              <a:rPr lang="en-IE" altLang="en-US" sz="2200" i="1">
                <a:cs typeface="ArialMT" pitchFamily="32" charset="0"/>
              </a:rPr>
              <a:t>p</a:t>
            </a:r>
            <a:r>
              <a:rPr lang="en-IE" altLang="en-US" sz="2200">
                <a:cs typeface="ArialMT" pitchFamily="32" charset="0"/>
              </a:rPr>
              <a:t>: </a:t>
            </a:r>
            <a:r>
              <a:rPr lang="en-IE" altLang="en-US" sz="2200" i="1">
                <a:cs typeface="ArialMT" pitchFamily="32" charset="0"/>
              </a:rPr>
              <a:t>N</a:t>
            </a:r>
            <a:r>
              <a:rPr lang="en-IE" altLang="en-US" sz="1400" i="1">
                <a:cs typeface="ArialMT" pitchFamily="32" charset="0"/>
              </a:rPr>
              <a:t>4</a:t>
            </a:r>
            <a:r>
              <a:rPr lang="en-IE" altLang="en-US" sz="2200" i="1">
                <a:cs typeface="ArialMT" pitchFamily="32" charset="0"/>
              </a:rPr>
              <a:t>(p)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 i="1">
                <a:cs typeface="ArialMT" pitchFamily="32" charset="0"/>
              </a:rPr>
              <a:t>   </a:t>
            </a: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200">
                <a:cs typeface="ArialMT" pitchFamily="32" charset="0"/>
              </a:rPr>
              <a:t>A pixel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at (x,y) has 4 diagonal neighbors at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200">
                <a:cs typeface="ArialMT" pitchFamily="32" charset="0"/>
              </a:rPr>
              <a:t>(x+1,y+1),(x+1,y-1),(x-1,y+1)and(x-1,y-1)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19C488"/>
                </a:solidFill>
                <a:cs typeface="ArialMT" pitchFamily="32" charset="0"/>
              </a:rPr>
              <a:t>          • </a:t>
            </a:r>
            <a:r>
              <a:rPr lang="en-IE" altLang="en-US" sz="2200">
                <a:cs typeface="ArialMT" pitchFamily="32" charset="0"/>
              </a:rPr>
              <a:t>called the </a:t>
            </a:r>
            <a:r>
              <a:rPr lang="en-IE" altLang="en-US" sz="2200" i="1">
                <a:cs typeface="ArialMT" pitchFamily="32" charset="0"/>
              </a:rPr>
              <a:t>diagonal–neighbors </a:t>
            </a:r>
            <a:r>
              <a:rPr lang="en-IE" altLang="en-US" sz="2200">
                <a:cs typeface="ArialMT" pitchFamily="32" charset="0"/>
              </a:rPr>
              <a:t>of </a:t>
            </a:r>
            <a:r>
              <a:rPr lang="en-IE" altLang="en-US" sz="2200" i="1">
                <a:cs typeface="ArialMT" pitchFamily="32" charset="0"/>
              </a:rPr>
              <a:t>p</a:t>
            </a:r>
            <a:r>
              <a:rPr lang="en-IE" altLang="en-US" sz="2200">
                <a:cs typeface="ArialMT" pitchFamily="32" charset="0"/>
              </a:rPr>
              <a:t>:</a:t>
            </a:r>
            <a:r>
              <a:rPr lang="en-IE" altLang="en-US" sz="2200" i="1">
                <a:cs typeface="ArialMT" pitchFamily="32" charset="0"/>
              </a:rPr>
              <a:t>N</a:t>
            </a:r>
            <a:r>
              <a:rPr lang="en-IE" altLang="en-US" sz="1400" i="1">
                <a:cs typeface="ArialMT" pitchFamily="32" charset="0"/>
              </a:rPr>
              <a:t>D</a:t>
            </a:r>
            <a:r>
              <a:rPr lang="en-IE" altLang="en-US" sz="2200" i="1">
                <a:cs typeface="ArialMT" pitchFamily="32" charset="0"/>
              </a:rPr>
              <a:t>(p)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The </a:t>
            </a:r>
            <a:r>
              <a:rPr lang="en-IE" altLang="en-US" sz="2200" i="1">
                <a:cs typeface="ArialMT" pitchFamily="32" charset="0"/>
              </a:rPr>
              <a:t>4-neighbors </a:t>
            </a:r>
            <a:r>
              <a:rPr lang="en-IE" altLang="en-US" sz="2200">
                <a:cs typeface="ArialMT" pitchFamily="32" charset="0"/>
              </a:rPr>
              <a:t>and the </a:t>
            </a:r>
            <a:r>
              <a:rPr lang="en-IE" altLang="en-US" sz="2200" i="1">
                <a:cs typeface="ArialMT" pitchFamily="32" charset="0"/>
              </a:rPr>
              <a:t>diagonal-neighbors </a:t>
            </a:r>
            <a:r>
              <a:rPr lang="en-IE" altLang="en-US" sz="2200">
                <a:cs typeface="ArialMT" pitchFamily="32" charset="0"/>
              </a:rPr>
              <a:t>of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are called the </a:t>
            </a:r>
            <a:r>
              <a:rPr lang="en-IE" altLang="en-US" sz="2200" i="1">
                <a:cs typeface="ArialMT" pitchFamily="32" charset="0"/>
              </a:rPr>
              <a:t>8-neighbors </a:t>
            </a:r>
            <a:r>
              <a:rPr lang="en-IE" altLang="en-US" sz="2200">
                <a:cs typeface="ArialMT" pitchFamily="32" charset="0"/>
              </a:rPr>
              <a:t>of </a:t>
            </a:r>
            <a:r>
              <a:rPr lang="en-IE" altLang="en-US" sz="2200" i="1">
                <a:cs typeface="ArialMT" pitchFamily="32" charset="0"/>
              </a:rPr>
              <a:t>p</a:t>
            </a:r>
            <a:r>
              <a:rPr lang="en-IE" altLang="en-US" sz="2200">
                <a:cs typeface="ArialMT" pitchFamily="32" charset="0"/>
              </a:rPr>
              <a:t>: </a:t>
            </a:r>
            <a:r>
              <a:rPr lang="en-IE" altLang="en-US" sz="2200" i="1">
                <a:cs typeface="ArialMT" pitchFamily="32" charset="0"/>
              </a:rPr>
              <a:t>N</a:t>
            </a:r>
            <a:r>
              <a:rPr lang="en-IE" altLang="en-US" sz="1400" i="1">
                <a:cs typeface="ArialMT" pitchFamily="32" charset="0"/>
              </a:rPr>
              <a:t>8</a:t>
            </a:r>
            <a:r>
              <a:rPr lang="en-IE" altLang="en-US" sz="2200" i="1">
                <a:cs typeface="ArialMT" pitchFamily="32" charset="0"/>
              </a:rPr>
              <a:t>(p)</a:t>
            </a:r>
          </a:p>
        </p:txBody>
      </p:sp>
    </p:spTree>
    <p:extLst>
      <p:ext uri="{BB962C8B-B14F-4D97-AF65-F5344CB8AC3E}">
        <p14:creationId xmlns:p14="http://schemas.microsoft.com/office/powerpoint/2010/main" val="425621844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Connectivity between pixels</a:t>
            </a:r>
          </a:p>
        </p:txBody>
      </p:sp>
      <p:sp>
        <p:nvSpPr>
          <p:cNvPr id="45059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 </a:t>
            </a:r>
            <a:r>
              <a:rPr lang="en-IE" altLang="en-US" sz="2000">
                <a:latin typeface="ArialMT" pitchFamily="32" charset="0"/>
                <a:cs typeface="ArialMT" pitchFamily="32" charset="0"/>
              </a:rPr>
              <a:t>Connectivity is an important concept in establishing boundaries of object and components of regions in an image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 </a:t>
            </a:r>
            <a:r>
              <a:rPr lang="en-IE" altLang="en-US" sz="2000">
                <a:latin typeface="ArialMT" pitchFamily="32" charset="0"/>
                <a:cs typeface="ArialMT" pitchFamily="32" charset="0"/>
              </a:rPr>
              <a:t>When are two pixels connected?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latin typeface="ArialMT" pitchFamily="32" charset="0"/>
                <a:cs typeface="ArialMT" pitchFamily="32" charset="0"/>
              </a:rPr>
              <a:t>   – </a:t>
            </a:r>
            <a:r>
              <a:rPr lang="en-IE" altLang="en-US" sz="2000">
                <a:latin typeface="ArialMT" pitchFamily="32" charset="0"/>
                <a:cs typeface="ArialMT" pitchFamily="32" charset="0"/>
              </a:rPr>
              <a:t>If they are adjacent in some sense (say they are 4-neighbors)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2617C0"/>
                </a:solidFill>
                <a:latin typeface="ArialMT" pitchFamily="32" charset="0"/>
                <a:cs typeface="ArialMT" pitchFamily="32" charset="0"/>
              </a:rPr>
              <a:t>   – </a:t>
            </a:r>
            <a:r>
              <a:rPr lang="en-IE" altLang="en-US" sz="2000">
                <a:latin typeface="ArialMT" pitchFamily="32" charset="0"/>
                <a:cs typeface="ArialMT" pitchFamily="32" charset="0"/>
              </a:rPr>
              <a:t>and, if their gray levels satisfy a specified criterion of similarity (say they are equal)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  </a:t>
            </a:r>
            <a:r>
              <a:rPr lang="en-IE" altLang="en-US" sz="2000">
                <a:latin typeface="ArialMT" pitchFamily="32" charset="0"/>
                <a:cs typeface="ArialMT" pitchFamily="32" charset="0"/>
              </a:rPr>
              <a:t>Example: given a binary image (e.g. gray scale = [0,1]), two pixels may be 4-neighbors but are not considered connected unless they have the same value</a:t>
            </a:r>
          </a:p>
        </p:txBody>
      </p:sp>
      <p:pic>
        <p:nvPicPr>
          <p:cNvPr id="4506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8314" y="4684713"/>
            <a:ext cx="1736725" cy="170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498670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Connectivity between pixels</a:t>
            </a:r>
          </a:p>
        </p:txBody>
      </p:sp>
      <p:sp>
        <p:nvSpPr>
          <p:cNvPr id="47107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0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000">
                <a:cs typeface="ArialMT" pitchFamily="32" charset="0"/>
              </a:rPr>
              <a:t>Let </a:t>
            </a:r>
            <a:r>
              <a:rPr lang="en-IE" altLang="en-US" sz="2000" i="1">
                <a:cs typeface="ArialMT" pitchFamily="32" charset="0"/>
              </a:rPr>
              <a:t>V </a:t>
            </a:r>
            <a:r>
              <a:rPr lang="en-IE" altLang="en-US" sz="2000">
                <a:cs typeface="ArialMT" pitchFamily="32" charset="0"/>
              </a:rPr>
              <a:t>be the set of values used to determine connectivity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cs typeface="ArialMT" pitchFamily="32" charset="0"/>
              </a:rPr>
              <a:t>   </a:t>
            </a:r>
            <a:r>
              <a:rPr lang="en-IE" altLang="en-US" sz="18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1800">
                <a:cs typeface="ArialMT" pitchFamily="32" charset="0"/>
              </a:rPr>
              <a:t>For example, in a binary image, </a:t>
            </a:r>
            <a:r>
              <a:rPr lang="en-IE" altLang="en-US" sz="1800" i="1">
                <a:cs typeface="ArialMT" pitchFamily="32" charset="0"/>
              </a:rPr>
              <a:t>V</a:t>
            </a:r>
            <a:r>
              <a:rPr lang="en-IE" altLang="en-US" sz="1800">
                <a:cs typeface="ArialMT" pitchFamily="32" charset="0"/>
              </a:rPr>
              <a:t>={1} for the connectivity of pixels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cs typeface="ArialMT" pitchFamily="32" charset="0"/>
              </a:rPr>
              <a:t>       with a value of 1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1800">
                <a:cs typeface="ArialMT" pitchFamily="32" charset="0"/>
              </a:rPr>
              <a:t>In a gray scale image, for the connectivity of pixels with a range of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cs typeface="ArialMT" pitchFamily="32" charset="0"/>
              </a:rPr>
              <a:t>      intensity values of, say, 32 to 64, it follows that </a:t>
            </a:r>
            <a:r>
              <a:rPr lang="en-IE" altLang="en-US" sz="1800" i="1">
                <a:cs typeface="ArialMT" pitchFamily="32" charset="0"/>
              </a:rPr>
              <a:t>V</a:t>
            </a:r>
            <a:r>
              <a:rPr lang="en-IE" altLang="en-US" sz="1800">
                <a:cs typeface="ArialMT" pitchFamily="32" charset="0"/>
              </a:rPr>
              <a:t>={32,33,...,63,64}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1800">
                <a:cs typeface="ArialMT" pitchFamily="32" charset="0"/>
              </a:rPr>
              <a:t>Consider three types of connectivity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19C488"/>
                </a:solidFill>
                <a:cs typeface="ArialMT" pitchFamily="32" charset="0"/>
              </a:rPr>
              <a:t>           • </a:t>
            </a:r>
            <a:r>
              <a:rPr lang="en-IE" altLang="en-US" sz="1800" i="1">
                <a:cs typeface="ArialMT" pitchFamily="32" charset="0"/>
              </a:rPr>
              <a:t>4-connectivity</a:t>
            </a:r>
            <a:r>
              <a:rPr lang="en-IE" altLang="en-US" sz="1800">
                <a:cs typeface="ArialMT" pitchFamily="32" charset="0"/>
              </a:rPr>
              <a:t>: Pixels </a:t>
            </a:r>
            <a:r>
              <a:rPr lang="en-IE" altLang="en-US" sz="1800" i="1">
                <a:cs typeface="ArialMT" pitchFamily="32" charset="0"/>
              </a:rPr>
              <a:t>p </a:t>
            </a:r>
            <a:r>
              <a:rPr lang="en-IE" altLang="en-US" sz="1800">
                <a:cs typeface="ArialMT" pitchFamily="32" charset="0"/>
              </a:rPr>
              <a:t>and </a:t>
            </a:r>
            <a:r>
              <a:rPr lang="en-IE" altLang="en-US" sz="1800" i="1">
                <a:cs typeface="ArialMT" pitchFamily="32" charset="0"/>
              </a:rPr>
              <a:t>q </a:t>
            </a:r>
            <a:r>
              <a:rPr lang="en-IE" altLang="en-US" sz="1800">
                <a:cs typeface="ArialMT" pitchFamily="32" charset="0"/>
              </a:rPr>
              <a:t>with values from </a:t>
            </a:r>
            <a:r>
              <a:rPr lang="en-IE" altLang="en-US" sz="1800" i="1">
                <a:cs typeface="ArialMT" pitchFamily="32" charset="0"/>
              </a:rPr>
              <a:t>V </a:t>
            </a:r>
            <a:r>
              <a:rPr lang="en-IE" altLang="en-US" sz="1800">
                <a:cs typeface="ArialMT" pitchFamily="32" charset="0"/>
              </a:rPr>
              <a:t>are </a:t>
            </a:r>
            <a:r>
              <a:rPr lang="en-IE" altLang="en-US" sz="1800" i="1">
                <a:cs typeface="ArialMT" pitchFamily="32" charset="0"/>
              </a:rPr>
              <a:t>4-connected </a:t>
            </a:r>
            <a:r>
              <a:rPr lang="en-IE" altLang="en-US" sz="1800">
                <a:cs typeface="ArialMT" pitchFamily="32" charset="0"/>
              </a:rPr>
              <a:t>if </a:t>
            </a:r>
            <a:r>
              <a:rPr lang="en-IE" altLang="en-US" sz="1800" i="1">
                <a:cs typeface="ArialMT" pitchFamily="32" charset="0"/>
              </a:rPr>
              <a:t>q </a:t>
            </a:r>
            <a:r>
              <a:rPr lang="en-IE" altLang="en-US" sz="1800">
                <a:cs typeface="ArialMT" pitchFamily="32" charset="0"/>
              </a:rPr>
              <a:t>is         in the set </a:t>
            </a:r>
            <a:r>
              <a:rPr lang="en-IE" altLang="en-US" sz="1800" i="1">
                <a:cs typeface="ArialMT" pitchFamily="32" charset="0"/>
              </a:rPr>
              <a:t>N</a:t>
            </a:r>
            <a:r>
              <a:rPr lang="en-IE" altLang="en-US" sz="1400" i="1">
                <a:cs typeface="ArialMT" pitchFamily="32" charset="0"/>
              </a:rPr>
              <a:t>4</a:t>
            </a:r>
            <a:r>
              <a:rPr lang="en-IE" altLang="en-US" sz="1800" i="1">
                <a:cs typeface="ArialMT" pitchFamily="32" charset="0"/>
              </a:rPr>
              <a:t>(p)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19C488"/>
                </a:solidFill>
                <a:cs typeface="ArialMT" pitchFamily="32" charset="0"/>
              </a:rPr>
              <a:t>           • </a:t>
            </a:r>
            <a:r>
              <a:rPr lang="en-IE" altLang="en-US" sz="1800" i="1">
                <a:cs typeface="ArialMT" pitchFamily="32" charset="0"/>
              </a:rPr>
              <a:t>8-connectivity</a:t>
            </a:r>
            <a:r>
              <a:rPr lang="en-IE" altLang="en-US" sz="1800">
                <a:cs typeface="ArialMT" pitchFamily="32" charset="0"/>
              </a:rPr>
              <a:t>: Pixels </a:t>
            </a:r>
            <a:r>
              <a:rPr lang="en-IE" altLang="en-US" sz="1800" i="1">
                <a:cs typeface="ArialMT" pitchFamily="32" charset="0"/>
              </a:rPr>
              <a:t>p </a:t>
            </a:r>
            <a:r>
              <a:rPr lang="en-IE" altLang="en-US" sz="1800">
                <a:cs typeface="ArialMT" pitchFamily="32" charset="0"/>
              </a:rPr>
              <a:t>and </a:t>
            </a:r>
            <a:r>
              <a:rPr lang="en-IE" altLang="en-US" sz="1800" i="1">
                <a:cs typeface="ArialMT" pitchFamily="32" charset="0"/>
              </a:rPr>
              <a:t>q </a:t>
            </a:r>
            <a:r>
              <a:rPr lang="en-IE" altLang="en-US" sz="1800">
                <a:cs typeface="ArialMT" pitchFamily="32" charset="0"/>
              </a:rPr>
              <a:t>with values from </a:t>
            </a:r>
            <a:r>
              <a:rPr lang="en-IE" altLang="en-US" sz="1800" i="1">
                <a:cs typeface="ArialMT" pitchFamily="32" charset="0"/>
              </a:rPr>
              <a:t>V </a:t>
            </a:r>
            <a:r>
              <a:rPr lang="en-IE" altLang="en-US" sz="1800">
                <a:cs typeface="ArialMT" pitchFamily="32" charset="0"/>
              </a:rPr>
              <a:t>are </a:t>
            </a:r>
            <a:r>
              <a:rPr lang="en-IE" altLang="en-US" sz="1800" i="1">
                <a:cs typeface="ArialMT" pitchFamily="32" charset="0"/>
              </a:rPr>
              <a:t>8-connected </a:t>
            </a:r>
            <a:r>
              <a:rPr lang="en-IE" altLang="en-US" sz="1800">
                <a:cs typeface="ArialMT" pitchFamily="32" charset="0"/>
              </a:rPr>
              <a:t>if </a:t>
            </a:r>
            <a:r>
              <a:rPr lang="en-IE" altLang="en-US" sz="1800" i="1">
                <a:cs typeface="ArialMT" pitchFamily="32" charset="0"/>
              </a:rPr>
              <a:t>q </a:t>
            </a:r>
            <a:r>
              <a:rPr lang="en-IE" altLang="en-US" sz="1800">
                <a:cs typeface="ArialMT" pitchFamily="32" charset="0"/>
              </a:rPr>
              <a:t>is         in the set </a:t>
            </a:r>
            <a:r>
              <a:rPr lang="en-IE" altLang="en-US" sz="1800" i="1">
                <a:cs typeface="ArialMT" pitchFamily="32" charset="0"/>
              </a:rPr>
              <a:t>N</a:t>
            </a:r>
            <a:r>
              <a:rPr lang="en-IE" altLang="en-US" sz="1400" i="1">
                <a:cs typeface="ArialMT" pitchFamily="32" charset="0"/>
              </a:rPr>
              <a:t>8</a:t>
            </a:r>
            <a:r>
              <a:rPr lang="en-IE" altLang="en-US" sz="1800" i="1">
                <a:cs typeface="ArialMT" pitchFamily="32" charset="0"/>
              </a:rPr>
              <a:t>(p)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solidFill>
                  <a:srgbClr val="19C488"/>
                </a:solidFill>
                <a:cs typeface="ArialMT" pitchFamily="32" charset="0"/>
              </a:rPr>
              <a:t>           • </a:t>
            </a:r>
            <a:r>
              <a:rPr lang="en-IE" altLang="en-US" sz="1800" i="1">
                <a:cs typeface="ArialMT" pitchFamily="32" charset="0"/>
              </a:rPr>
              <a:t>m-connectivity (mixed)</a:t>
            </a:r>
            <a:r>
              <a:rPr lang="en-IE" altLang="en-US" sz="1800">
                <a:cs typeface="ArialMT" pitchFamily="32" charset="0"/>
              </a:rPr>
              <a:t>: Pixels </a:t>
            </a:r>
            <a:r>
              <a:rPr lang="en-IE" altLang="en-US" sz="1800" i="1">
                <a:cs typeface="ArialMT" pitchFamily="32" charset="0"/>
              </a:rPr>
              <a:t>p </a:t>
            </a:r>
            <a:r>
              <a:rPr lang="en-IE" altLang="en-US" sz="1800">
                <a:cs typeface="ArialMT" pitchFamily="32" charset="0"/>
              </a:rPr>
              <a:t>and </a:t>
            </a:r>
            <a:r>
              <a:rPr lang="en-IE" altLang="en-US" sz="1800" i="1">
                <a:cs typeface="ArialMT" pitchFamily="32" charset="0"/>
              </a:rPr>
              <a:t>q </a:t>
            </a:r>
            <a:r>
              <a:rPr lang="en-IE" altLang="en-US" sz="1800">
                <a:cs typeface="ArialMT" pitchFamily="32" charset="0"/>
              </a:rPr>
              <a:t>with values from </a:t>
            </a:r>
            <a:r>
              <a:rPr lang="en-IE" altLang="en-US" sz="1800" i="1">
                <a:cs typeface="ArialMT" pitchFamily="32" charset="0"/>
              </a:rPr>
              <a:t>V </a:t>
            </a:r>
            <a:r>
              <a:rPr lang="en-IE" altLang="en-US" sz="1800">
                <a:cs typeface="ArialMT" pitchFamily="32" charset="0"/>
              </a:rPr>
              <a:t>are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800">
                <a:cs typeface="ArialMT" pitchFamily="32" charset="0"/>
              </a:rPr>
              <a:t>             </a:t>
            </a:r>
            <a:r>
              <a:rPr lang="en-IE" altLang="en-US" sz="1800" i="1">
                <a:cs typeface="ArialMT" pitchFamily="32" charset="0"/>
              </a:rPr>
              <a:t>m-connected </a:t>
            </a:r>
            <a:r>
              <a:rPr lang="en-IE" altLang="en-US" sz="1800">
                <a:cs typeface="ArialMT" pitchFamily="32" charset="0"/>
              </a:rPr>
              <a:t>if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600">
                <a:solidFill>
                  <a:srgbClr val="98193A"/>
                </a:solidFill>
                <a:cs typeface="ArialMT" pitchFamily="32" charset="0"/>
              </a:rPr>
              <a:t>                    – </a:t>
            </a:r>
            <a:r>
              <a:rPr lang="en-IE" altLang="en-US" sz="1600" i="1">
                <a:cs typeface="ArialMT" pitchFamily="32" charset="0"/>
              </a:rPr>
              <a:t>q </a:t>
            </a:r>
            <a:r>
              <a:rPr lang="en-IE" altLang="en-US" sz="1600">
                <a:cs typeface="ArialMT" pitchFamily="32" charset="0"/>
              </a:rPr>
              <a:t>is in the set </a:t>
            </a:r>
            <a:r>
              <a:rPr lang="en-IE" altLang="en-US" sz="1600" i="1">
                <a:cs typeface="ArialMT" pitchFamily="32" charset="0"/>
              </a:rPr>
              <a:t>N</a:t>
            </a:r>
            <a:r>
              <a:rPr lang="en-IE" altLang="en-US" sz="1200" i="1">
                <a:cs typeface="ArialMT" pitchFamily="32" charset="0"/>
              </a:rPr>
              <a:t>4</a:t>
            </a:r>
            <a:r>
              <a:rPr lang="en-IE" altLang="en-US" sz="1600" i="1">
                <a:cs typeface="ArialMT" pitchFamily="32" charset="0"/>
              </a:rPr>
              <a:t>(p),or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1600">
                <a:solidFill>
                  <a:srgbClr val="98193A"/>
                </a:solidFill>
                <a:cs typeface="ArialMT" pitchFamily="32" charset="0"/>
              </a:rPr>
              <a:t>                    – </a:t>
            </a:r>
            <a:r>
              <a:rPr lang="en-IE" altLang="en-US" sz="1600" i="1">
                <a:cs typeface="ArialMT" pitchFamily="32" charset="0"/>
              </a:rPr>
              <a:t>q </a:t>
            </a:r>
            <a:r>
              <a:rPr lang="en-IE" altLang="en-US" sz="1600">
                <a:cs typeface="ArialMT" pitchFamily="32" charset="0"/>
              </a:rPr>
              <a:t>is in the set </a:t>
            </a:r>
            <a:r>
              <a:rPr lang="en-IE" altLang="en-US" sz="1600" i="1">
                <a:cs typeface="ArialMT" pitchFamily="32" charset="0"/>
              </a:rPr>
              <a:t>N</a:t>
            </a:r>
            <a:r>
              <a:rPr lang="en-IE" altLang="en-US" sz="1200" i="1">
                <a:cs typeface="ArialMT" pitchFamily="32" charset="0"/>
              </a:rPr>
              <a:t>D</a:t>
            </a:r>
            <a:r>
              <a:rPr lang="en-IE" altLang="en-US" sz="1600" i="1">
                <a:cs typeface="ArialMT" pitchFamily="32" charset="0"/>
              </a:rPr>
              <a:t>(p) and </a:t>
            </a:r>
            <a:r>
              <a:rPr lang="en-IE" altLang="en-US" sz="1600">
                <a:cs typeface="ArialMT" pitchFamily="32" charset="0"/>
              </a:rPr>
              <a:t>the set </a:t>
            </a:r>
            <a:r>
              <a:rPr lang="en-IE" altLang="en-US" sz="1600" i="1">
                <a:cs typeface="ArialMT" pitchFamily="32" charset="0"/>
              </a:rPr>
              <a:t>N</a:t>
            </a:r>
            <a:r>
              <a:rPr lang="en-IE" altLang="en-US" sz="1200" i="1">
                <a:cs typeface="ArialMT" pitchFamily="32" charset="0"/>
              </a:rPr>
              <a:t>4</a:t>
            </a:r>
            <a:r>
              <a:rPr lang="en-IE" altLang="en-US" sz="1600" i="1">
                <a:cs typeface="ArialMT" pitchFamily="32" charset="0"/>
              </a:rPr>
              <a:t>(p) </a:t>
            </a:r>
            <a:r>
              <a:rPr lang="en-IE" altLang="en-US" sz="1600">
                <a:cs typeface="Arial" panose="020B0604020202020204" pitchFamily="34" charset="0"/>
              </a:rPr>
              <a:t>∩ </a:t>
            </a:r>
            <a:r>
              <a:rPr lang="en-IE" altLang="en-US" sz="1600" i="1">
                <a:cs typeface="ArialMT" pitchFamily="32" charset="0"/>
              </a:rPr>
              <a:t>N</a:t>
            </a:r>
            <a:r>
              <a:rPr lang="en-IE" altLang="en-US" sz="1200" i="1">
                <a:cs typeface="ArialMT" pitchFamily="32" charset="0"/>
              </a:rPr>
              <a:t>4</a:t>
            </a:r>
            <a:r>
              <a:rPr lang="en-IE" altLang="en-US" sz="1600" i="1">
                <a:cs typeface="ArialMT" pitchFamily="32" charset="0"/>
              </a:rPr>
              <a:t>(q) </a:t>
            </a:r>
            <a:r>
              <a:rPr lang="en-IE" altLang="en-US" sz="1600">
                <a:cs typeface="ArialMT" pitchFamily="32" charset="0"/>
              </a:rPr>
              <a:t>is empty (This is the set of                    pixels that are 4-neighbors of </a:t>
            </a:r>
            <a:r>
              <a:rPr lang="en-IE" altLang="en-US" sz="1600" i="1">
                <a:cs typeface="ArialMT" pitchFamily="32" charset="0"/>
              </a:rPr>
              <a:t>p </a:t>
            </a:r>
            <a:r>
              <a:rPr lang="en-IE" altLang="en-US" sz="1600">
                <a:cs typeface="ArialMT" pitchFamily="32" charset="0"/>
              </a:rPr>
              <a:t>and </a:t>
            </a:r>
            <a:r>
              <a:rPr lang="en-IE" altLang="en-US" sz="1600" i="1">
                <a:cs typeface="ArialMT" pitchFamily="32" charset="0"/>
              </a:rPr>
              <a:t>q </a:t>
            </a:r>
            <a:r>
              <a:rPr lang="en-IE" altLang="en-US" sz="1600">
                <a:cs typeface="ArialMT" pitchFamily="32" charset="0"/>
              </a:rPr>
              <a:t>and whose values are from </a:t>
            </a:r>
            <a:r>
              <a:rPr lang="en-IE" altLang="en-US" sz="1600" i="1">
                <a:cs typeface="ArialMT" pitchFamily="32" charset="0"/>
              </a:rPr>
              <a:t>V</a:t>
            </a:r>
            <a:r>
              <a:rPr lang="en-IE" altLang="en-US" sz="1600">
                <a:cs typeface="ArialMT" pitchFamily="32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9563648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Connectivity between pixels</a:t>
            </a:r>
          </a:p>
        </p:txBody>
      </p:sp>
      <p:sp>
        <p:nvSpPr>
          <p:cNvPr id="49155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4915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114" y="2279650"/>
            <a:ext cx="6784975" cy="318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361759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Pixel adjacencies and paths</a:t>
            </a:r>
          </a:p>
        </p:txBody>
      </p:sp>
      <p:sp>
        <p:nvSpPr>
          <p:cNvPr id="51203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Pixel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is adjacent to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if they are connected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</a:t>
            </a: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200">
                <a:cs typeface="ArialMT" pitchFamily="32" charset="0"/>
              </a:rPr>
              <a:t>We can define 4-, 8-, or m-adjacency depending on the            specified type of connectivity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Two image subsets S</a:t>
            </a:r>
            <a:r>
              <a:rPr lang="en-IE" altLang="en-US" sz="1400">
                <a:cs typeface="ArialMT" pitchFamily="32" charset="0"/>
              </a:rPr>
              <a:t>1</a:t>
            </a:r>
            <a:r>
              <a:rPr lang="en-IE" altLang="en-US" sz="2200">
                <a:cs typeface="ArialMT" pitchFamily="32" charset="0"/>
              </a:rPr>
              <a:t> and S</a:t>
            </a:r>
            <a:r>
              <a:rPr lang="en-IE" altLang="en-US" sz="1400">
                <a:cs typeface="ArialMT" pitchFamily="32" charset="0"/>
              </a:rPr>
              <a:t>2</a:t>
            </a:r>
            <a:r>
              <a:rPr lang="en-IE" altLang="en-US" sz="2200">
                <a:cs typeface="ArialMT" pitchFamily="32" charset="0"/>
              </a:rPr>
              <a:t> are adjacent if some pixel in S</a:t>
            </a:r>
            <a:r>
              <a:rPr lang="en-IE" altLang="en-US" sz="1400">
                <a:cs typeface="ArialMT" pitchFamily="32" charset="0"/>
              </a:rPr>
              <a:t>1</a:t>
            </a:r>
            <a:r>
              <a:rPr lang="en-IE" altLang="en-US" sz="2200">
                <a:cs typeface="ArialMT" pitchFamily="32" charset="0"/>
              </a:rPr>
              <a:t> is adjacent to S</a:t>
            </a:r>
            <a:r>
              <a:rPr lang="en-IE" altLang="en-US" sz="1400">
                <a:cs typeface="ArialMT" pitchFamily="32" charset="0"/>
              </a:rPr>
              <a:t>2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A path from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at (</a:t>
            </a:r>
            <a:r>
              <a:rPr lang="en-IE" altLang="en-US" sz="2200" i="1">
                <a:cs typeface="ArialMT" pitchFamily="32" charset="0"/>
              </a:rPr>
              <a:t>x,y</a:t>
            </a:r>
            <a:r>
              <a:rPr lang="en-IE" altLang="en-US" sz="2200">
                <a:cs typeface="ArialMT" pitchFamily="32" charset="0"/>
              </a:rPr>
              <a:t>) to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at (</a:t>
            </a:r>
            <a:r>
              <a:rPr lang="en-IE" altLang="en-US" sz="2200" i="1">
                <a:cs typeface="ArialMT" pitchFamily="32" charset="0"/>
              </a:rPr>
              <a:t>s,t</a:t>
            </a:r>
            <a:r>
              <a:rPr lang="en-IE" altLang="en-US" sz="2200">
                <a:cs typeface="ArialMT" pitchFamily="32" charset="0"/>
              </a:rPr>
              <a:t>) is a sequence of distinct pixels with coordinates (x</a:t>
            </a:r>
            <a:r>
              <a:rPr lang="en-IE" altLang="en-US" sz="1400">
                <a:cs typeface="ArialMT" pitchFamily="32" charset="0"/>
              </a:rPr>
              <a:t>0</a:t>
            </a:r>
            <a:r>
              <a:rPr lang="en-IE" altLang="en-US" sz="2200">
                <a:cs typeface="ArialMT" pitchFamily="32" charset="0"/>
              </a:rPr>
              <a:t>,y</a:t>
            </a:r>
            <a:r>
              <a:rPr lang="en-IE" altLang="en-US" sz="1400">
                <a:cs typeface="ArialMT" pitchFamily="32" charset="0"/>
              </a:rPr>
              <a:t>0</a:t>
            </a:r>
            <a:r>
              <a:rPr lang="en-IE" altLang="en-US" sz="2200">
                <a:cs typeface="ArialMT" pitchFamily="32" charset="0"/>
              </a:rPr>
              <a:t>), (x</a:t>
            </a:r>
            <a:r>
              <a:rPr lang="en-IE" altLang="en-US" sz="1400">
                <a:cs typeface="ArialMT" pitchFamily="32" charset="0"/>
              </a:rPr>
              <a:t>1</a:t>
            </a:r>
            <a:r>
              <a:rPr lang="en-IE" altLang="en-US" sz="2200">
                <a:cs typeface="ArialMT" pitchFamily="32" charset="0"/>
              </a:rPr>
              <a:t>,y</a:t>
            </a:r>
            <a:r>
              <a:rPr lang="en-IE" altLang="en-US" sz="1400">
                <a:cs typeface="ArialMT" pitchFamily="32" charset="0"/>
              </a:rPr>
              <a:t>1</a:t>
            </a:r>
            <a:r>
              <a:rPr lang="en-IE" altLang="en-US" sz="2200">
                <a:cs typeface="ArialMT" pitchFamily="32" charset="0"/>
              </a:rPr>
              <a:t>),....., (x</a:t>
            </a:r>
            <a:r>
              <a:rPr lang="en-IE" altLang="en-US" sz="1400">
                <a:cs typeface="ArialMT" pitchFamily="32" charset="0"/>
              </a:rPr>
              <a:t>n</a:t>
            </a:r>
            <a:r>
              <a:rPr lang="en-IE" altLang="en-US" sz="2200">
                <a:cs typeface="ArialMT" pitchFamily="32" charset="0"/>
              </a:rPr>
              <a:t>,y</a:t>
            </a:r>
            <a:r>
              <a:rPr lang="en-IE" altLang="en-US" sz="1400">
                <a:cs typeface="ArialMT" pitchFamily="32" charset="0"/>
              </a:rPr>
              <a:t>n</a:t>
            </a:r>
            <a:r>
              <a:rPr lang="en-IE" altLang="en-US" sz="2200">
                <a:cs typeface="ArialMT" pitchFamily="32" charset="0"/>
              </a:rPr>
              <a:t>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Where (x</a:t>
            </a:r>
            <a:r>
              <a:rPr lang="en-IE" altLang="en-US" sz="1400">
                <a:cs typeface="ArialMT" pitchFamily="32" charset="0"/>
              </a:rPr>
              <a:t>0</a:t>
            </a:r>
            <a:r>
              <a:rPr lang="en-IE" altLang="en-US" sz="2200">
                <a:cs typeface="ArialMT" pitchFamily="32" charset="0"/>
              </a:rPr>
              <a:t>,y</a:t>
            </a:r>
            <a:r>
              <a:rPr lang="en-IE" altLang="en-US" sz="1400">
                <a:cs typeface="ArialMT" pitchFamily="32" charset="0"/>
              </a:rPr>
              <a:t>0</a:t>
            </a:r>
            <a:r>
              <a:rPr lang="en-IE" altLang="en-US" sz="2200">
                <a:cs typeface="ArialMT" pitchFamily="32" charset="0"/>
              </a:rPr>
              <a:t>)=(x,y) and (x</a:t>
            </a:r>
            <a:r>
              <a:rPr lang="en-IE" altLang="en-US" sz="1400">
                <a:cs typeface="ArialMT" pitchFamily="32" charset="0"/>
              </a:rPr>
              <a:t>n</a:t>
            </a:r>
            <a:r>
              <a:rPr lang="en-IE" altLang="en-US" sz="2200">
                <a:cs typeface="ArialMT" pitchFamily="32" charset="0"/>
              </a:rPr>
              <a:t>,y</a:t>
            </a:r>
            <a:r>
              <a:rPr lang="en-IE" altLang="en-US" sz="1400">
                <a:cs typeface="ArialMT" pitchFamily="32" charset="0"/>
              </a:rPr>
              <a:t>n</a:t>
            </a:r>
            <a:r>
              <a:rPr lang="en-IE" altLang="en-US" sz="2200">
                <a:cs typeface="ArialMT" pitchFamily="32" charset="0"/>
              </a:rPr>
              <a:t>)=(s,t) and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(x</a:t>
            </a:r>
            <a:r>
              <a:rPr lang="en-IE" altLang="en-US" sz="1400">
                <a:cs typeface="ArialMT" pitchFamily="32" charset="0"/>
              </a:rPr>
              <a:t>i</a:t>
            </a:r>
            <a:r>
              <a:rPr lang="en-IE" altLang="en-US" sz="2200">
                <a:cs typeface="ArialMT" pitchFamily="32" charset="0"/>
              </a:rPr>
              <a:t>,y</a:t>
            </a:r>
            <a:r>
              <a:rPr lang="en-IE" altLang="en-US" sz="1400">
                <a:cs typeface="ArialMT" pitchFamily="32" charset="0"/>
              </a:rPr>
              <a:t>i</a:t>
            </a:r>
            <a:r>
              <a:rPr lang="en-IE" altLang="en-US" sz="2200">
                <a:cs typeface="ArialMT" pitchFamily="32" charset="0"/>
              </a:rPr>
              <a:t>) is adjacent to (x</a:t>
            </a:r>
            <a:r>
              <a:rPr lang="en-IE" altLang="en-US" sz="1400">
                <a:cs typeface="ArialMT" pitchFamily="32" charset="0"/>
              </a:rPr>
              <a:t>i-1</a:t>
            </a:r>
            <a:r>
              <a:rPr lang="en-IE" altLang="en-US" sz="2200">
                <a:cs typeface="ArialMT" pitchFamily="32" charset="0"/>
              </a:rPr>
              <a:t>,y</a:t>
            </a:r>
            <a:r>
              <a:rPr lang="en-IE" altLang="en-US" sz="1400">
                <a:cs typeface="ArialMT" pitchFamily="32" charset="0"/>
              </a:rPr>
              <a:t>i-1</a:t>
            </a:r>
            <a:r>
              <a:rPr lang="en-IE" altLang="en-US" sz="2200">
                <a:cs typeface="ArialMT" pitchFamily="32" charset="0"/>
              </a:rPr>
              <a:t>) for 1&lt;= i &lt;= n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</a:t>
            </a: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200">
                <a:cs typeface="ArialMT" pitchFamily="32" charset="0"/>
              </a:rPr>
              <a:t>n is the </a:t>
            </a:r>
            <a:r>
              <a:rPr lang="en-IE" altLang="en-US" sz="2200" i="1">
                <a:cs typeface="ArialMT" pitchFamily="32" charset="0"/>
              </a:rPr>
              <a:t>length </a:t>
            </a:r>
            <a:r>
              <a:rPr lang="en-IE" altLang="en-US" sz="2200">
                <a:cs typeface="ArialMT" pitchFamily="32" charset="0"/>
              </a:rPr>
              <a:t>of the path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If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are in </a:t>
            </a:r>
            <a:r>
              <a:rPr lang="en-IE" altLang="en-US" sz="2200" i="1">
                <a:cs typeface="ArialMT" pitchFamily="32" charset="0"/>
              </a:rPr>
              <a:t>S</a:t>
            </a:r>
            <a:r>
              <a:rPr lang="en-IE" altLang="en-US" sz="2200">
                <a:cs typeface="ArialMT" pitchFamily="32" charset="0"/>
              </a:rPr>
              <a:t>, then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is connected to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in </a:t>
            </a:r>
            <a:r>
              <a:rPr lang="en-IE" altLang="en-US" sz="2200" i="1">
                <a:cs typeface="ArialMT" pitchFamily="32" charset="0"/>
              </a:rPr>
              <a:t>S </a:t>
            </a:r>
            <a:r>
              <a:rPr lang="en-IE" altLang="en-US" sz="2200">
                <a:cs typeface="ArialMT" pitchFamily="32" charset="0"/>
              </a:rPr>
              <a:t>if there is a path from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to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consisting entirely of pixels in </a:t>
            </a:r>
            <a:r>
              <a:rPr lang="en-IE" altLang="en-US" sz="2200" i="1">
                <a:cs typeface="ArialMT" pitchFamily="32" charset="0"/>
              </a:rPr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13467064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Example paths</a:t>
            </a:r>
          </a:p>
        </p:txBody>
      </p:sp>
      <p:sp>
        <p:nvSpPr>
          <p:cNvPr id="53251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5325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39" y="1743076"/>
            <a:ext cx="7342187" cy="404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9634724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Connected components</a:t>
            </a:r>
          </a:p>
        </p:txBody>
      </p:sp>
      <p:sp>
        <p:nvSpPr>
          <p:cNvPr id="55299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For any pixel </a:t>
            </a:r>
            <a:r>
              <a:rPr lang="en-IE" altLang="en-US" sz="2200" i="1">
                <a:latin typeface="ArialMT" pitchFamily="32" charset="0"/>
                <a:cs typeface="ArialMT" pitchFamily="32" charset="0"/>
              </a:rPr>
              <a:t>p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in </a:t>
            </a:r>
            <a:r>
              <a:rPr lang="en-IE" altLang="en-US" sz="2200" i="1">
                <a:latin typeface="ArialMT" pitchFamily="32" charset="0"/>
                <a:cs typeface="ArialMT" pitchFamily="32" charset="0"/>
              </a:rPr>
              <a:t>S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, the set of pixels connected to </a:t>
            </a:r>
            <a:r>
              <a:rPr lang="en-IE" altLang="en-US" sz="2200" i="1">
                <a:latin typeface="ArialMT" pitchFamily="32" charset="0"/>
                <a:cs typeface="ArialMT" pitchFamily="32" charset="0"/>
              </a:rPr>
              <a:t>p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form a connected component of </a:t>
            </a:r>
            <a:r>
              <a:rPr lang="en-IE" altLang="en-US" sz="2200" i="1">
                <a:latin typeface="ArialMT" pitchFamily="32" charset="0"/>
                <a:cs typeface="ArialMT" pitchFamily="32" charset="0"/>
              </a:rPr>
              <a:t>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latin typeface="ArialMT" pitchFamily="32" charset="0"/>
                <a:cs typeface="ArialMT" pitchFamily="32" charset="0"/>
              </a:rPr>
              <a:t>•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Distinct connected components in </a:t>
            </a:r>
            <a:r>
              <a:rPr lang="en-IE" altLang="en-US" sz="2200" i="1">
                <a:latin typeface="ArialMT" pitchFamily="32" charset="0"/>
                <a:cs typeface="ArialMT" pitchFamily="32" charset="0"/>
              </a:rPr>
              <a:t>S </a:t>
            </a:r>
            <a:r>
              <a:rPr lang="en-IE" altLang="en-US" sz="2200">
                <a:latin typeface="ArialMT" pitchFamily="32" charset="0"/>
                <a:cs typeface="ArialMT" pitchFamily="32" charset="0"/>
              </a:rPr>
              <a:t>are said to be </a:t>
            </a:r>
            <a:r>
              <a:rPr lang="en-IE" altLang="en-US" sz="2200" i="1">
                <a:latin typeface="ArialMT" pitchFamily="32" charset="0"/>
                <a:cs typeface="ArialMT" pitchFamily="32" charset="0"/>
              </a:rPr>
              <a:t>disjoint</a:t>
            </a:r>
          </a:p>
        </p:txBody>
      </p:sp>
      <p:pic>
        <p:nvPicPr>
          <p:cNvPr id="5530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3825" y="2836864"/>
            <a:ext cx="6172200" cy="3081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50756138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Labeling 4-connected components</a:t>
            </a:r>
          </a:p>
        </p:txBody>
      </p:sp>
      <p:sp>
        <p:nvSpPr>
          <p:cNvPr id="57347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800000"/>
                </a:solidFill>
                <a:cs typeface="ArialMT" pitchFamily="32" charset="0"/>
              </a:rPr>
              <a:t>•</a:t>
            </a:r>
            <a:r>
              <a:rPr lang="en-IE" altLang="en-US" sz="2200">
                <a:cs typeface="ArialMT" pitchFamily="32" charset="0"/>
              </a:rPr>
              <a:t> Consider scanning an image pixel by pixel from left to right and top to bottom</a:t>
            </a: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000080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000080"/>
                </a:solidFill>
                <a:cs typeface="ArialMT" pitchFamily="32" charset="0"/>
              </a:rPr>
              <a:t>   –</a:t>
            </a:r>
            <a:r>
              <a:rPr lang="en-IE" altLang="en-US" sz="2200">
                <a:cs typeface="ArialMT" pitchFamily="32" charset="0"/>
              </a:rPr>
              <a:t> Assume, for the moment, we are interested in 4-connected      components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000080"/>
                </a:solidFill>
                <a:cs typeface="ArialMT" pitchFamily="32" charset="0"/>
              </a:rPr>
              <a:t>   –</a:t>
            </a:r>
            <a:r>
              <a:rPr lang="en-IE" altLang="en-US" sz="2200">
                <a:cs typeface="ArialMT" pitchFamily="32" charset="0"/>
              </a:rPr>
              <a:t> Let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denote the pixel of interest, and </a:t>
            </a:r>
            <a:r>
              <a:rPr lang="en-IE" altLang="en-US" sz="2200" i="1">
                <a:cs typeface="ArialMT" pitchFamily="32" charset="0"/>
              </a:rPr>
              <a:t>r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t </a:t>
            </a:r>
            <a:r>
              <a:rPr lang="en-IE" altLang="en-US" sz="2200">
                <a:cs typeface="ArialMT" pitchFamily="32" charset="0"/>
              </a:rPr>
              <a:t>denote the            upper and left neighbors of </a:t>
            </a:r>
            <a:r>
              <a:rPr lang="en-IE" altLang="en-US" sz="2200" i="1">
                <a:cs typeface="ArialMT" pitchFamily="32" charset="0"/>
              </a:rPr>
              <a:t>p</a:t>
            </a:r>
            <a:r>
              <a:rPr lang="en-IE" altLang="en-US" sz="2200">
                <a:cs typeface="ArialMT" pitchFamily="32" charset="0"/>
              </a:rPr>
              <a:t>, respectively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000080"/>
                </a:solidFill>
                <a:cs typeface="ArialMT" pitchFamily="32" charset="0"/>
              </a:rPr>
              <a:t>   –</a:t>
            </a:r>
            <a:r>
              <a:rPr lang="en-IE" altLang="en-US" sz="2200">
                <a:cs typeface="ArialMT" pitchFamily="32" charset="0"/>
              </a:rPr>
              <a:t> The nature of the scanning process assures that </a:t>
            </a:r>
            <a:r>
              <a:rPr lang="en-IE" altLang="en-US" sz="2200" i="1">
                <a:cs typeface="ArialMT" pitchFamily="32" charset="0"/>
              </a:rPr>
              <a:t>r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t </a:t>
            </a:r>
            <a:r>
              <a:rPr lang="en-IE" altLang="en-US" sz="2200">
                <a:cs typeface="ArialMT" pitchFamily="32" charset="0"/>
              </a:rPr>
              <a:t>have   been encountered (and labeled if 1) by the time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is                  encountered</a:t>
            </a:r>
          </a:p>
        </p:txBody>
      </p:sp>
      <p:pic>
        <p:nvPicPr>
          <p:cNvPr id="5734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5175" y="2165351"/>
            <a:ext cx="4910138" cy="1573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9284800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Labeling 4-connected components</a:t>
            </a:r>
          </a:p>
        </p:txBody>
      </p:sp>
      <p:sp>
        <p:nvSpPr>
          <p:cNvPr id="59395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Consider the following procedure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if p=0 continue to the next position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 </a:t>
            </a:r>
            <a:r>
              <a:rPr lang="en-IE" altLang="en-US" sz="2000">
                <a:cs typeface="ArialMT" pitchFamily="32" charset="0"/>
              </a:rPr>
              <a:t>if r=t=0 assign a new label to p (Ln)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  if r=t=1 and they have the same label, assign that label to p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  if only one of r and t are 1, assign its label to p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  if r=t=1 and they have different labels, assign one label to p and note that the two labels are equivalent (that is r and t are connected through p)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At the end of the scan, sort pairs of equivalent labels into equivalence classes and assign a different label to each class</a:t>
            </a:r>
          </a:p>
        </p:txBody>
      </p:sp>
    </p:spTree>
    <p:extLst>
      <p:ext uri="{BB962C8B-B14F-4D97-AF65-F5344CB8AC3E}">
        <p14:creationId xmlns:p14="http://schemas.microsoft.com/office/powerpoint/2010/main" val="329822214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Labeling 4-connected components (example)</a:t>
            </a:r>
          </a:p>
        </p:txBody>
      </p:sp>
      <p:sp>
        <p:nvSpPr>
          <p:cNvPr id="61443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6144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4" y="1866901"/>
            <a:ext cx="8467725" cy="400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7033372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Labeling 8-connected components</a:t>
            </a:r>
          </a:p>
        </p:txBody>
      </p:sp>
      <p:sp>
        <p:nvSpPr>
          <p:cNvPr id="63491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Proceed as in the 4-connected component labeling case, but also examine two upper diagonal neighbors (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s</a:t>
            </a:r>
            <a:r>
              <a:rPr lang="en-IE" altLang="en-US" sz="2200">
                <a:cs typeface="ArialMT" pitchFamily="32" charset="0"/>
              </a:rPr>
              <a:t>) of </a:t>
            </a:r>
            <a:r>
              <a:rPr lang="en-IE" altLang="en-US" sz="2200" i="1">
                <a:cs typeface="ArialMT" pitchFamily="32" charset="0"/>
              </a:rPr>
              <a:t>p</a:t>
            </a:r>
          </a:p>
        </p:txBody>
      </p:sp>
      <p:pic>
        <p:nvPicPr>
          <p:cNvPr id="6349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6488" y="2278063"/>
            <a:ext cx="774541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06873515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Labeling connected components in non-binary images</a:t>
            </a:r>
          </a:p>
        </p:txBody>
      </p:sp>
      <p:sp>
        <p:nvSpPr>
          <p:cNvPr id="65539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4-connected or 8-connected labeling schemes can be extended to gray level images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set </a:t>
            </a:r>
            <a:r>
              <a:rPr lang="en-IE" altLang="en-US" sz="2200" i="1">
                <a:cs typeface="ArialMT" pitchFamily="32" charset="0"/>
              </a:rPr>
              <a:t>V </a:t>
            </a:r>
            <a:r>
              <a:rPr lang="en-IE" altLang="en-US" sz="2200">
                <a:cs typeface="ArialMT" pitchFamily="32" charset="0"/>
              </a:rPr>
              <a:t>may be used to connect into a component only those pixels within a specified range of pixel values</a:t>
            </a:r>
          </a:p>
        </p:txBody>
      </p:sp>
      <p:pic>
        <p:nvPicPr>
          <p:cNvPr id="6554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0214" y="3219451"/>
            <a:ext cx="8740775" cy="281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5702386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Distance measures</a:t>
            </a:r>
          </a:p>
        </p:txBody>
      </p:sp>
      <p:sp>
        <p:nvSpPr>
          <p:cNvPr id="67587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Given pixels </a:t>
            </a:r>
            <a:r>
              <a:rPr lang="en-IE" altLang="en-US" sz="2200" i="1">
                <a:cs typeface="ArialMT" pitchFamily="32" charset="0"/>
              </a:rPr>
              <a:t>p</a:t>
            </a:r>
            <a:r>
              <a:rPr lang="en-IE" altLang="en-US" sz="2200">
                <a:cs typeface="ArialMT" pitchFamily="32" charset="0"/>
              </a:rPr>
              <a:t>, </a:t>
            </a:r>
            <a:r>
              <a:rPr lang="en-IE" altLang="en-US" sz="2200" i="1">
                <a:cs typeface="ArialMT" pitchFamily="32" charset="0"/>
              </a:rPr>
              <a:t>q</a:t>
            </a:r>
            <a:r>
              <a:rPr lang="en-IE" altLang="en-US" sz="2200">
                <a:cs typeface="ArialMT" pitchFamily="32" charset="0"/>
              </a:rPr>
              <a:t>, and </a:t>
            </a:r>
            <a:r>
              <a:rPr lang="en-IE" altLang="en-US" sz="2200" i="1">
                <a:cs typeface="ArialMT" pitchFamily="32" charset="0"/>
              </a:rPr>
              <a:t>z </a:t>
            </a:r>
            <a:r>
              <a:rPr lang="en-IE" altLang="en-US" sz="2200">
                <a:cs typeface="ArialMT" pitchFamily="32" charset="0"/>
              </a:rPr>
              <a:t>at (</a:t>
            </a:r>
            <a:r>
              <a:rPr lang="en-IE" altLang="en-US" sz="2200" i="1">
                <a:cs typeface="ArialMT" pitchFamily="32" charset="0"/>
              </a:rPr>
              <a:t>x,y</a:t>
            </a:r>
            <a:r>
              <a:rPr lang="en-IE" altLang="en-US" sz="2200">
                <a:cs typeface="ArialMT" pitchFamily="32" charset="0"/>
              </a:rPr>
              <a:t>), (</a:t>
            </a:r>
            <a:r>
              <a:rPr lang="en-IE" altLang="en-US" sz="2200" i="1">
                <a:cs typeface="ArialMT" pitchFamily="32" charset="0"/>
              </a:rPr>
              <a:t>s,t</a:t>
            </a:r>
            <a:r>
              <a:rPr lang="en-IE" altLang="en-US" sz="2200">
                <a:cs typeface="ArialMT" pitchFamily="32" charset="0"/>
              </a:rPr>
              <a:t>) and (</a:t>
            </a:r>
            <a:r>
              <a:rPr lang="en-IE" altLang="en-US" sz="2200" i="1">
                <a:cs typeface="ArialMT" pitchFamily="32" charset="0"/>
              </a:rPr>
              <a:t>u,v</a:t>
            </a:r>
            <a:r>
              <a:rPr lang="en-IE" altLang="en-US" sz="2200">
                <a:cs typeface="ArialMT" pitchFamily="32" charset="0"/>
              </a:rPr>
              <a:t>) respectively,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 i="1">
                <a:cs typeface="ArialMT" pitchFamily="32" charset="0"/>
              </a:rPr>
              <a:t>D </a:t>
            </a:r>
            <a:r>
              <a:rPr lang="en-IE" altLang="en-US" sz="2200">
                <a:cs typeface="ArialMT" pitchFamily="32" charset="0"/>
              </a:rPr>
              <a:t>is a </a:t>
            </a:r>
            <a:r>
              <a:rPr lang="en-IE" altLang="en-US" sz="2200" i="1">
                <a:cs typeface="ArialMT" pitchFamily="32" charset="0"/>
              </a:rPr>
              <a:t>distance function </a:t>
            </a:r>
            <a:r>
              <a:rPr lang="en-IE" altLang="en-US" sz="2200">
                <a:cs typeface="ArialMT" pitchFamily="32" charset="0"/>
              </a:rPr>
              <a:t>(or </a:t>
            </a:r>
            <a:r>
              <a:rPr lang="en-IE" altLang="en-US" sz="2200" i="1">
                <a:cs typeface="ArialMT" pitchFamily="32" charset="0"/>
              </a:rPr>
              <a:t>metric</a:t>
            </a:r>
            <a:r>
              <a:rPr lang="en-IE" altLang="en-US" sz="2200">
                <a:cs typeface="ArialMT" pitchFamily="32" charset="0"/>
              </a:rPr>
              <a:t>) if: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</a:t>
            </a: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200">
                <a:cs typeface="ArialMT" pitchFamily="32" charset="0"/>
              </a:rPr>
              <a:t>D(p,q) </a:t>
            </a:r>
            <a:r>
              <a:rPr lang="en-IE" altLang="en-US" sz="2200">
                <a:cs typeface="Arial" panose="020B0604020202020204" pitchFamily="34" charset="0"/>
              </a:rPr>
              <a:t>≥ 0 </a:t>
            </a:r>
            <a:r>
              <a:rPr lang="en-IE" altLang="en-US" sz="2200">
                <a:cs typeface="ArialMT" pitchFamily="32" charset="0"/>
              </a:rPr>
              <a:t>(D(p,q)=0 iff p=q),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</a:t>
            </a: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200">
                <a:cs typeface="ArialMT" pitchFamily="32" charset="0"/>
              </a:rPr>
              <a:t>D(p,q) = D(q,p), and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</a:t>
            </a: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200">
                <a:cs typeface="ArialMT" pitchFamily="32" charset="0"/>
              </a:rPr>
              <a:t>D(p,z) </a:t>
            </a:r>
            <a:r>
              <a:rPr lang="en-IE" altLang="en-US" sz="2200">
                <a:cs typeface="Arial" panose="020B0604020202020204" pitchFamily="34" charset="0"/>
              </a:rPr>
              <a:t>≤ </a:t>
            </a:r>
            <a:r>
              <a:rPr lang="en-IE" altLang="en-US" sz="2200">
                <a:cs typeface="ArialMT" pitchFamily="32" charset="0"/>
              </a:rPr>
              <a:t>D(p,q) + D(q,z).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</a:t>
            </a:r>
            <a:r>
              <a:rPr lang="en-IE" altLang="en-US" sz="2200" i="1">
                <a:cs typeface="ArialMT" pitchFamily="32" charset="0"/>
              </a:rPr>
              <a:t>Euclidean distance </a:t>
            </a:r>
            <a:r>
              <a:rPr lang="en-IE" altLang="en-US" sz="2200">
                <a:cs typeface="ArialMT" pitchFamily="32" charset="0"/>
              </a:rPr>
              <a:t>between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is given by:</a:t>
            </a: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pixels having distance less than or equal to some value </a:t>
            </a:r>
            <a:r>
              <a:rPr lang="en-IE" altLang="en-US" sz="2200" i="1">
                <a:cs typeface="ArialMT" pitchFamily="32" charset="0"/>
              </a:rPr>
              <a:t>r </a:t>
            </a:r>
            <a:r>
              <a:rPr lang="en-IE" altLang="en-US" sz="2200">
                <a:cs typeface="ArialMT" pitchFamily="32" charset="0"/>
              </a:rPr>
              <a:t>from (x,y) are the points contained in a disk of radius </a:t>
            </a:r>
            <a:r>
              <a:rPr lang="en-IE" altLang="en-US" sz="2200" i="1">
                <a:cs typeface="ArialMT" pitchFamily="32" charset="0"/>
              </a:rPr>
              <a:t>r </a:t>
            </a:r>
            <a:r>
              <a:rPr lang="en-IE" altLang="en-US" sz="2200">
                <a:cs typeface="ArialMT" pitchFamily="32" charset="0"/>
              </a:rPr>
              <a:t>centered at (x,y)</a:t>
            </a:r>
          </a:p>
        </p:txBody>
      </p:sp>
      <p:pic>
        <p:nvPicPr>
          <p:cNvPr id="6758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8625" y="4048125"/>
            <a:ext cx="45720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4195363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Distance measures</a:t>
            </a:r>
          </a:p>
        </p:txBody>
      </p:sp>
      <p:sp>
        <p:nvSpPr>
          <p:cNvPr id="69635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D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 distance (also called the </a:t>
            </a:r>
            <a:r>
              <a:rPr lang="en-IE" altLang="en-US" sz="2200" i="1">
                <a:cs typeface="ArialMT" pitchFamily="32" charset="0"/>
              </a:rPr>
              <a:t>city block distance</a:t>
            </a:r>
            <a:r>
              <a:rPr lang="en-IE" altLang="en-US" sz="2200">
                <a:cs typeface="ArialMT" pitchFamily="32" charset="0"/>
              </a:rPr>
              <a:t>) between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is given by:</a:t>
            </a:r>
          </a:p>
          <a:p>
            <a:pPr eaLnBrk="1" hangingPunct="1">
              <a:buClrTx/>
              <a:buFontTx/>
              <a:buNone/>
            </a:pPr>
            <a:endParaRPr lang="en-IE" altLang="en-US" sz="2200"/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pixels having a D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 distance less than some </a:t>
            </a:r>
            <a:r>
              <a:rPr lang="en-IE" altLang="en-US" sz="2200" i="1">
                <a:cs typeface="ArialMT" pitchFamily="32" charset="0"/>
              </a:rPr>
              <a:t>r </a:t>
            </a:r>
            <a:r>
              <a:rPr lang="en-IE" altLang="en-US" sz="2200">
                <a:cs typeface="ArialMT" pitchFamily="32" charset="0"/>
              </a:rPr>
              <a:t>from (x,y)    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form a diamond centered at (x,y)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Example: pixels where D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 </a:t>
            </a:r>
            <a:r>
              <a:rPr lang="en-IE" altLang="en-US" sz="2200">
                <a:cs typeface="Arial" panose="020B0604020202020204" pitchFamily="34" charset="0"/>
              </a:rPr>
              <a:t>≤ 2</a:t>
            </a: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" panose="020B0604020202020204" pitchFamily="34" charset="0"/>
            </a:endParaRPr>
          </a:p>
        </p:txBody>
      </p:sp>
      <p:pic>
        <p:nvPicPr>
          <p:cNvPr id="6963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5138" y="2343150"/>
            <a:ext cx="3154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963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9351" y="4416426"/>
            <a:ext cx="4892675" cy="186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50509702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Distance measures</a:t>
            </a:r>
          </a:p>
        </p:txBody>
      </p:sp>
      <p:sp>
        <p:nvSpPr>
          <p:cNvPr id="71683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D</a:t>
            </a:r>
            <a:r>
              <a:rPr lang="en-IE" altLang="en-US" sz="1400">
                <a:cs typeface="ArialMT" pitchFamily="32" charset="0"/>
              </a:rPr>
              <a:t>8</a:t>
            </a:r>
            <a:r>
              <a:rPr lang="en-IE" altLang="en-US" sz="2200">
                <a:cs typeface="ArialMT" pitchFamily="32" charset="0"/>
              </a:rPr>
              <a:t> distance (also called the </a:t>
            </a:r>
            <a:r>
              <a:rPr lang="en-IE" altLang="en-US" sz="2200" i="1">
                <a:cs typeface="ArialMT" pitchFamily="32" charset="0"/>
              </a:rPr>
              <a:t>chessboard distance</a:t>
            </a:r>
            <a:r>
              <a:rPr lang="en-IE" altLang="en-US" sz="2200">
                <a:cs typeface="ArialMT" pitchFamily="32" charset="0"/>
              </a:rPr>
              <a:t>) between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is given by:</a:t>
            </a:r>
          </a:p>
          <a:p>
            <a:pPr eaLnBrk="1" hangingPunct="1">
              <a:buClrTx/>
              <a:buFontTx/>
              <a:buNone/>
            </a:pPr>
            <a:endParaRPr lang="en-IE" altLang="en-US" sz="2200"/>
          </a:p>
          <a:p>
            <a:pPr eaLnBrk="1" hangingPunct="1">
              <a:buClrTx/>
              <a:buFontTx/>
              <a:buNone/>
            </a:pPr>
            <a:endParaRPr lang="en-IE" altLang="en-US" sz="2200"/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pixels having a D</a:t>
            </a:r>
            <a:r>
              <a:rPr lang="en-IE" altLang="en-US" sz="1400">
                <a:cs typeface="ArialMT" pitchFamily="32" charset="0"/>
              </a:rPr>
              <a:t>8</a:t>
            </a:r>
            <a:r>
              <a:rPr lang="en-IE" altLang="en-US" sz="2200">
                <a:cs typeface="ArialMT" pitchFamily="32" charset="0"/>
              </a:rPr>
              <a:t> distance less than some </a:t>
            </a:r>
            <a:r>
              <a:rPr lang="en-IE" altLang="en-US" sz="2200" i="1">
                <a:cs typeface="ArialMT" pitchFamily="32" charset="0"/>
              </a:rPr>
              <a:t>r </a:t>
            </a:r>
            <a:r>
              <a:rPr lang="en-IE" altLang="en-US" sz="2200">
                <a:cs typeface="ArialMT" pitchFamily="32" charset="0"/>
              </a:rPr>
              <a:t>from (x,y)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form a square centered at (x,y)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Example: pixels where D</a:t>
            </a:r>
            <a:r>
              <a:rPr lang="en-IE" altLang="en-US" sz="1400">
                <a:cs typeface="ArialMT" pitchFamily="32" charset="0"/>
              </a:rPr>
              <a:t>8</a:t>
            </a:r>
            <a:r>
              <a:rPr lang="en-IE" altLang="en-US" sz="2200">
                <a:cs typeface="ArialMT" pitchFamily="32" charset="0"/>
              </a:rPr>
              <a:t> </a:t>
            </a:r>
            <a:r>
              <a:rPr lang="en-IE" altLang="en-US" sz="2200">
                <a:cs typeface="Arial" panose="020B0604020202020204" pitchFamily="34" charset="0"/>
              </a:rPr>
              <a:t>≤ 2</a:t>
            </a: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" panose="020B0604020202020204" pitchFamily="34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cs typeface="Arial" panose="020B0604020202020204" pitchFamily="34" charset="0"/>
            </a:endParaRPr>
          </a:p>
        </p:txBody>
      </p:sp>
      <p:pic>
        <p:nvPicPr>
          <p:cNvPr id="7168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7875" y="2351088"/>
            <a:ext cx="39131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68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87913" y="4505325"/>
            <a:ext cx="467201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5598606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Distance measures and connectivity</a:t>
            </a:r>
          </a:p>
        </p:txBody>
      </p:sp>
      <p:sp>
        <p:nvSpPr>
          <p:cNvPr id="73731" name="Text Box 2"/>
          <p:cNvSpPr txBox="1">
            <a:spLocks noChangeArrowheads="1"/>
          </p:cNvSpPr>
          <p:nvPr/>
        </p:nvSpPr>
        <p:spPr bwMode="auto">
          <a:xfrm>
            <a:off x="1892300" y="1406525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D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 distance between two points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is the shortest 4-path between the two points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The D</a:t>
            </a:r>
            <a:r>
              <a:rPr lang="en-IE" altLang="en-US" sz="1400">
                <a:cs typeface="ArialMT" pitchFamily="32" charset="0"/>
              </a:rPr>
              <a:t>8</a:t>
            </a:r>
            <a:r>
              <a:rPr lang="en-IE" altLang="en-US" sz="2200">
                <a:cs typeface="ArialMT" pitchFamily="32" charset="0"/>
              </a:rPr>
              <a:t> distance between two points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is the shortest 8-path between the two points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D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 and D</a:t>
            </a:r>
            <a:r>
              <a:rPr lang="en-IE" altLang="en-US" sz="1400">
                <a:cs typeface="ArialMT" pitchFamily="32" charset="0"/>
              </a:rPr>
              <a:t>8</a:t>
            </a:r>
            <a:r>
              <a:rPr lang="en-IE" altLang="en-US" sz="2200">
                <a:cs typeface="ArialMT" pitchFamily="32" charset="0"/>
              </a:rPr>
              <a:t> may be considered, regardless of whether a connected path exists between them, because the definition of these distances involves only the pixel coordinates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For </a:t>
            </a:r>
            <a:r>
              <a:rPr lang="en-IE" altLang="en-US" sz="2200" i="1">
                <a:cs typeface="ArialMT" pitchFamily="32" charset="0"/>
              </a:rPr>
              <a:t>m-connectivity</a:t>
            </a:r>
            <a:r>
              <a:rPr lang="en-IE" altLang="en-US" sz="2200">
                <a:cs typeface="ArialMT" pitchFamily="32" charset="0"/>
              </a:rPr>
              <a:t>, the value of the distance (the length of the path) between two points depends on the values of the pixels along the path</a:t>
            </a:r>
          </a:p>
        </p:txBody>
      </p:sp>
    </p:spTree>
    <p:extLst>
      <p:ext uri="{BB962C8B-B14F-4D97-AF65-F5344CB8AC3E}">
        <p14:creationId xmlns:p14="http://schemas.microsoft.com/office/powerpoint/2010/main" val="233215775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Distance measures and m-connectivity</a:t>
            </a:r>
          </a:p>
        </p:txBody>
      </p:sp>
      <p:sp>
        <p:nvSpPr>
          <p:cNvPr id="75779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800000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000">
              <a:solidFill>
                <a:srgbClr val="800000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800000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Consider the given arrangement of pixels and assume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p, p</a:t>
            </a:r>
            <a:r>
              <a:rPr lang="en-IE" altLang="en-US" sz="1400">
                <a:cs typeface="ArialMT" pitchFamily="32" charset="0"/>
              </a:rPr>
              <a:t>2</a:t>
            </a:r>
            <a:r>
              <a:rPr lang="en-IE" altLang="en-US" sz="2200">
                <a:cs typeface="ArialMT" pitchFamily="32" charset="0"/>
              </a:rPr>
              <a:t> and p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 =1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p</a:t>
            </a:r>
            <a:r>
              <a:rPr lang="en-IE" altLang="en-US" sz="1400">
                <a:cs typeface="ArialMT" pitchFamily="32" charset="0"/>
              </a:rPr>
              <a:t>1</a:t>
            </a:r>
            <a:r>
              <a:rPr lang="en-IE" altLang="en-US" sz="2200">
                <a:cs typeface="ArialMT" pitchFamily="32" charset="0"/>
              </a:rPr>
              <a:t> and p</a:t>
            </a:r>
            <a:r>
              <a:rPr lang="en-IE" altLang="en-US" sz="1400">
                <a:cs typeface="ArialMT" pitchFamily="32" charset="0"/>
              </a:rPr>
              <a:t>3</a:t>
            </a:r>
            <a:r>
              <a:rPr lang="en-IE" altLang="en-US" sz="2200">
                <a:cs typeface="ArialMT" pitchFamily="32" charset="0"/>
              </a:rPr>
              <a:t> can be 0 or 1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800000"/>
                </a:solidFill>
                <a:cs typeface="ArialMT" pitchFamily="32" charset="0"/>
              </a:rPr>
              <a:t>•</a:t>
            </a:r>
            <a:r>
              <a:rPr lang="en-IE" altLang="en-US" sz="2200">
                <a:cs typeface="ArialMT" pitchFamily="32" charset="0"/>
              </a:rPr>
              <a:t>  If </a:t>
            </a:r>
            <a:r>
              <a:rPr lang="en-IE" altLang="en-US" sz="2200" i="1">
                <a:cs typeface="ArialMT" pitchFamily="32" charset="0"/>
              </a:rPr>
              <a:t>V</a:t>
            </a:r>
            <a:r>
              <a:rPr lang="en-IE" altLang="en-US" sz="2200">
                <a:cs typeface="ArialMT" pitchFamily="32" charset="0"/>
              </a:rPr>
              <a:t>={1} and p</a:t>
            </a:r>
            <a:r>
              <a:rPr lang="en-IE" altLang="en-US" sz="1400">
                <a:cs typeface="ArialMT" pitchFamily="32" charset="0"/>
              </a:rPr>
              <a:t>1</a:t>
            </a:r>
            <a:r>
              <a:rPr lang="en-IE" altLang="en-US" sz="2200">
                <a:cs typeface="ArialMT" pitchFamily="32" charset="0"/>
              </a:rPr>
              <a:t> and p</a:t>
            </a:r>
            <a:r>
              <a:rPr lang="en-IE" altLang="en-US" sz="1400">
                <a:cs typeface="ArialMT" pitchFamily="32" charset="0"/>
              </a:rPr>
              <a:t>3</a:t>
            </a:r>
            <a:r>
              <a:rPr lang="en-IE" altLang="en-US" sz="2200">
                <a:cs typeface="ArialMT" pitchFamily="32" charset="0"/>
              </a:rPr>
              <a:t> are 0, the m-distance (p, p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) is 2 If either p</a:t>
            </a:r>
            <a:r>
              <a:rPr lang="en-IE" altLang="en-US" sz="1400">
                <a:cs typeface="ArialMT" pitchFamily="32" charset="0"/>
              </a:rPr>
              <a:t>1</a:t>
            </a:r>
            <a:r>
              <a:rPr lang="en-IE" altLang="en-US" sz="2200">
                <a:cs typeface="ArialMT" pitchFamily="32" charset="0"/>
              </a:rPr>
              <a:t> or p</a:t>
            </a:r>
            <a:r>
              <a:rPr lang="en-IE" altLang="en-US" sz="1400">
                <a:cs typeface="ArialMT" pitchFamily="32" charset="0"/>
              </a:rPr>
              <a:t>3</a:t>
            </a:r>
            <a:r>
              <a:rPr lang="en-IE" altLang="en-US" sz="2200">
                <a:cs typeface="ArialMT" pitchFamily="32" charset="0"/>
              </a:rPr>
              <a:t> are 1, the m-distance (p, p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) is 3 If p</a:t>
            </a:r>
            <a:r>
              <a:rPr lang="en-IE" altLang="en-US" sz="1400">
                <a:cs typeface="ArialMT" pitchFamily="32" charset="0"/>
              </a:rPr>
              <a:t>1</a:t>
            </a:r>
            <a:r>
              <a:rPr lang="en-IE" altLang="en-US" sz="2200">
                <a:cs typeface="ArialMT" pitchFamily="32" charset="0"/>
              </a:rPr>
              <a:t> and p</a:t>
            </a:r>
            <a:r>
              <a:rPr lang="en-IE" altLang="en-US" sz="1400">
                <a:cs typeface="ArialMT" pitchFamily="32" charset="0"/>
              </a:rPr>
              <a:t>3</a:t>
            </a:r>
            <a:r>
              <a:rPr lang="en-IE" altLang="en-US" sz="2200">
                <a:cs typeface="ArialMT" pitchFamily="32" charset="0"/>
              </a:rPr>
              <a:t> are 1, the m-distance (p, p</a:t>
            </a:r>
            <a:r>
              <a:rPr lang="en-IE" altLang="en-US" sz="1400">
                <a:cs typeface="ArialMT" pitchFamily="32" charset="0"/>
              </a:rPr>
              <a:t>4</a:t>
            </a:r>
            <a:r>
              <a:rPr lang="en-IE" altLang="en-US" sz="2200">
                <a:cs typeface="ArialMT" pitchFamily="32" charset="0"/>
              </a:rPr>
              <a:t>) is 4</a:t>
            </a:r>
          </a:p>
        </p:txBody>
      </p:sp>
      <p:pic>
        <p:nvPicPr>
          <p:cNvPr id="7578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75250" y="1789113"/>
            <a:ext cx="941388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24414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M-connectivity example</a:t>
            </a:r>
          </a:p>
        </p:txBody>
      </p:sp>
      <p:sp>
        <p:nvSpPr>
          <p:cNvPr id="77827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hangingPunct="1">
              <a:buClr>
                <a:srgbClr val="000000"/>
              </a:buClr>
              <a:buSzPct val="100000"/>
              <a:buFont typeface="Times New Roman" panose="02020603050405020304" pitchFamily="18" charset="0"/>
              <a:buNone/>
            </a:pPr>
            <a:endParaRPr lang="en-US" altLang="en-US"/>
          </a:p>
        </p:txBody>
      </p:sp>
      <p:pic>
        <p:nvPicPr>
          <p:cNvPr id="7782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5438" y="2728913"/>
            <a:ext cx="64373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0162132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Arithmetic &amp; logic operations</a:t>
            </a:r>
          </a:p>
        </p:txBody>
      </p:sp>
      <p:sp>
        <p:nvSpPr>
          <p:cNvPr id="79875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Arithmetic &amp; logic operations on images used extensively in most image processing applications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May cover the entire image or a subset Arithmetic operation between pixels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are defined as: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Addition: (</a:t>
            </a:r>
            <a:r>
              <a:rPr lang="en-IE" altLang="en-US" sz="2200" i="1">
                <a:cs typeface="ArialMT" pitchFamily="32" charset="0"/>
              </a:rPr>
              <a:t>p+q</a:t>
            </a:r>
            <a:r>
              <a:rPr lang="en-IE" altLang="en-US" sz="2200">
                <a:cs typeface="ArialMT" pitchFamily="32" charset="0"/>
              </a:rPr>
              <a:t>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      </a:t>
            </a:r>
            <a:r>
              <a:rPr lang="en-IE" altLang="en-US" sz="2200">
                <a:solidFill>
                  <a:srgbClr val="19C488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Used often for image averaging to reduce noise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Subtraction: (</a:t>
            </a:r>
            <a:r>
              <a:rPr lang="en-IE" altLang="en-US" sz="2200" i="1">
                <a:cs typeface="ArialMT" pitchFamily="32" charset="0"/>
              </a:rPr>
              <a:t>p-q</a:t>
            </a:r>
            <a:r>
              <a:rPr lang="en-IE" altLang="en-US" sz="2200">
                <a:cs typeface="ArialMT" pitchFamily="32" charset="0"/>
              </a:rPr>
              <a:t>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      </a:t>
            </a:r>
            <a:r>
              <a:rPr lang="en-IE" altLang="en-US" sz="2200">
                <a:solidFill>
                  <a:srgbClr val="19C488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Used often for static background removal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Multiplication: (</a:t>
            </a:r>
            <a:r>
              <a:rPr lang="en-IE" altLang="en-US" sz="2200" i="1">
                <a:cs typeface="ArialMT" pitchFamily="32" charset="0"/>
              </a:rPr>
              <a:t>p*q</a:t>
            </a:r>
            <a:r>
              <a:rPr lang="en-IE" altLang="en-US" sz="2200">
                <a:cs typeface="ArialMT" pitchFamily="32" charset="0"/>
              </a:rPr>
              <a:t>) (or </a:t>
            </a:r>
            <a:r>
              <a:rPr lang="en-IE" altLang="en-US" sz="2200" i="1">
                <a:cs typeface="ArialMT" pitchFamily="32" charset="0"/>
              </a:rPr>
              <a:t>pq</a:t>
            </a:r>
            <a:r>
              <a:rPr lang="en-IE" altLang="en-US" sz="2200">
                <a:cs typeface="ArialMT" pitchFamily="32" charset="0"/>
              </a:rPr>
              <a:t>, </a:t>
            </a:r>
            <a:r>
              <a:rPr lang="en-IE" altLang="en-US" sz="2200" i="1">
                <a:cs typeface="ArialMT" pitchFamily="32" charset="0"/>
              </a:rPr>
              <a:t>p</a:t>
            </a:r>
            <a:r>
              <a:rPr lang="en-IE" altLang="en-US" sz="2200">
                <a:cs typeface="Arial" panose="020B0604020202020204" pitchFamily="34" charset="0"/>
              </a:rPr>
              <a:t>×</a:t>
            </a:r>
            <a:r>
              <a:rPr lang="en-IE" altLang="en-US" sz="2200" i="1">
                <a:cs typeface="ArialMT" pitchFamily="32" charset="0"/>
              </a:rPr>
              <a:t>q</a:t>
            </a:r>
            <a:r>
              <a:rPr lang="en-IE" altLang="en-US" sz="2200">
                <a:cs typeface="ArialMT" pitchFamily="32" charset="0"/>
              </a:rPr>
              <a:t>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      </a:t>
            </a:r>
            <a:r>
              <a:rPr lang="en-IE" altLang="en-US" sz="2200">
                <a:solidFill>
                  <a:srgbClr val="19C488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Used to correct gray-level shading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Division: (</a:t>
            </a:r>
            <a:r>
              <a:rPr lang="en-IE" altLang="en-US" sz="2200" i="1">
                <a:cs typeface="ArialMT" pitchFamily="32" charset="0"/>
              </a:rPr>
              <a:t>p</a:t>
            </a:r>
            <a:r>
              <a:rPr lang="en-IE" altLang="en-US" sz="2200">
                <a:cs typeface="Arial" panose="020B0604020202020204" pitchFamily="34" charset="0"/>
              </a:rPr>
              <a:t>÷</a:t>
            </a:r>
            <a:r>
              <a:rPr lang="en-IE" altLang="en-US" sz="2200" i="1">
                <a:cs typeface="ArialMT" pitchFamily="32" charset="0"/>
              </a:rPr>
              <a:t>q</a:t>
            </a:r>
            <a:r>
              <a:rPr lang="en-IE" altLang="en-US" sz="2200">
                <a:cs typeface="ArialMT" pitchFamily="32" charset="0"/>
              </a:rPr>
              <a:t>) (or </a:t>
            </a:r>
            <a:r>
              <a:rPr lang="en-IE" altLang="en-US" sz="2200" i="1">
                <a:cs typeface="ArialMT" pitchFamily="32" charset="0"/>
              </a:rPr>
              <a:t>p/q</a:t>
            </a:r>
            <a:r>
              <a:rPr lang="en-IE" altLang="en-US" sz="2200">
                <a:cs typeface="ArialMT" pitchFamily="32" charset="0"/>
              </a:rPr>
              <a:t>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      </a:t>
            </a:r>
            <a:r>
              <a:rPr lang="en-IE" altLang="en-US" sz="2200">
                <a:solidFill>
                  <a:srgbClr val="19C488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As in multiplication</a:t>
            </a:r>
          </a:p>
        </p:txBody>
      </p:sp>
    </p:spTree>
    <p:extLst>
      <p:ext uri="{BB962C8B-B14F-4D97-AF65-F5344CB8AC3E}">
        <p14:creationId xmlns:p14="http://schemas.microsoft.com/office/powerpoint/2010/main" val="2285728686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Logic operations</a:t>
            </a:r>
          </a:p>
        </p:txBody>
      </p:sp>
      <p:sp>
        <p:nvSpPr>
          <p:cNvPr id="81923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Arithmetic operation between pixels </a:t>
            </a:r>
            <a:r>
              <a:rPr lang="en-IE" altLang="en-US" sz="2200" i="1">
                <a:cs typeface="ArialMT" pitchFamily="32" charset="0"/>
              </a:rPr>
              <a:t>p </a:t>
            </a:r>
            <a:r>
              <a:rPr lang="en-IE" altLang="en-US" sz="2200">
                <a:cs typeface="ArialMT" pitchFamily="32" charset="0"/>
              </a:rPr>
              <a:t>and </a:t>
            </a:r>
            <a:r>
              <a:rPr lang="en-IE" altLang="en-US" sz="2200" i="1">
                <a:cs typeface="ArialMT" pitchFamily="32" charset="0"/>
              </a:rPr>
              <a:t>q </a:t>
            </a:r>
            <a:r>
              <a:rPr lang="en-IE" altLang="en-US" sz="2200">
                <a:cs typeface="ArialMT" pitchFamily="32" charset="0"/>
              </a:rPr>
              <a:t>are defined as: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AND: </a:t>
            </a:r>
            <a:r>
              <a:rPr lang="en-IE" altLang="en-US" sz="2000" i="1">
                <a:cs typeface="ArialMT" pitchFamily="32" charset="0"/>
              </a:rPr>
              <a:t>p </a:t>
            </a:r>
            <a:r>
              <a:rPr lang="en-IE" altLang="en-US" sz="2000">
                <a:cs typeface="ArialMT" pitchFamily="32" charset="0"/>
              </a:rPr>
              <a:t>AND </a:t>
            </a:r>
            <a:r>
              <a:rPr lang="en-IE" altLang="en-US" sz="2000" i="1">
                <a:cs typeface="ArialMT" pitchFamily="32" charset="0"/>
              </a:rPr>
              <a:t>q </a:t>
            </a:r>
            <a:r>
              <a:rPr lang="en-IE" altLang="en-US" sz="2000">
                <a:cs typeface="ArialMT" pitchFamily="32" charset="0"/>
              </a:rPr>
              <a:t>(also p</a:t>
            </a:r>
            <a:r>
              <a:rPr lang="en-IE" altLang="en-US" sz="2000">
                <a:cs typeface="Arial" panose="020B0604020202020204" pitchFamily="34" charset="0"/>
              </a:rPr>
              <a:t>⋅</a:t>
            </a:r>
            <a:r>
              <a:rPr lang="en-IE" altLang="en-US" sz="2000">
                <a:cs typeface="ArialMT" pitchFamily="32" charset="0"/>
              </a:rPr>
              <a:t>q)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OR: </a:t>
            </a:r>
            <a:r>
              <a:rPr lang="en-IE" altLang="en-US" sz="2000" i="1">
                <a:cs typeface="ArialMT" pitchFamily="32" charset="0"/>
              </a:rPr>
              <a:t>p </a:t>
            </a:r>
            <a:r>
              <a:rPr lang="en-IE" altLang="en-US" sz="2000">
                <a:cs typeface="ArialMT" pitchFamily="32" charset="0"/>
              </a:rPr>
              <a:t>OR </a:t>
            </a:r>
            <a:r>
              <a:rPr lang="en-IE" altLang="en-US" sz="2000" i="1">
                <a:cs typeface="ArialMT" pitchFamily="32" charset="0"/>
              </a:rPr>
              <a:t>q </a:t>
            </a:r>
            <a:r>
              <a:rPr lang="en-IE" altLang="en-US" sz="2000">
                <a:cs typeface="ArialMT" pitchFamily="32" charset="0"/>
              </a:rPr>
              <a:t>(also p</a:t>
            </a:r>
            <a:r>
              <a:rPr lang="en-IE" altLang="en-US" sz="2000">
                <a:cs typeface="Arial" panose="020B0604020202020204" pitchFamily="34" charset="0"/>
              </a:rPr>
              <a:t>+</a:t>
            </a:r>
            <a:r>
              <a:rPr lang="en-IE" altLang="en-US" sz="2000">
                <a:cs typeface="ArialMT" pitchFamily="32" charset="0"/>
              </a:rPr>
              <a:t>q)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COMPLEMENT: NOT</a:t>
            </a:r>
            <a:r>
              <a:rPr lang="en-IE" altLang="en-US" sz="2000" i="1">
                <a:cs typeface="ArialMT" pitchFamily="32" charset="0"/>
              </a:rPr>
              <a:t>q </a:t>
            </a:r>
            <a:r>
              <a:rPr lang="en-IE" altLang="en-US" sz="2000">
                <a:cs typeface="ArialMT" pitchFamily="32" charset="0"/>
              </a:rPr>
              <a:t>(also </a:t>
            </a:r>
            <a:r>
              <a:rPr lang="en-IE" altLang="en-US" sz="2000" i="1">
                <a:cs typeface="ArialMT" pitchFamily="32" charset="0"/>
              </a:rPr>
              <a:t>q’</a:t>
            </a:r>
            <a:r>
              <a:rPr lang="en-IE" altLang="ja-JP" sz="2000">
                <a:cs typeface="ArialMT" pitchFamily="32" charset="0"/>
              </a:rPr>
              <a:t>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800000"/>
                </a:solidFill>
                <a:cs typeface="ArialMT" pitchFamily="32" charset="0"/>
              </a:rPr>
              <a:t>•</a:t>
            </a:r>
            <a:r>
              <a:rPr lang="en-IE" altLang="en-US" sz="2200">
                <a:cs typeface="ArialMT" pitchFamily="32" charset="0"/>
              </a:rPr>
              <a:t>  Form a </a:t>
            </a:r>
            <a:r>
              <a:rPr lang="en-IE" altLang="en-US" sz="2200" i="1">
                <a:cs typeface="ArialMT" pitchFamily="32" charset="0"/>
              </a:rPr>
              <a:t>functionally complete </a:t>
            </a:r>
            <a:r>
              <a:rPr lang="en-IE" altLang="en-US" sz="2200">
                <a:cs typeface="ArialMT" pitchFamily="32" charset="0"/>
              </a:rPr>
              <a:t>set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Applicable to binary images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800000"/>
                </a:solidFill>
                <a:cs typeface="ArialMT" pitchFamily="32" charset="0"/>
              </a:rPr>
              <a:t>•</a:t>
            </a:r>
            <a:r>
              <a:rPr lang="en-IE" altLang="en-US" sz="2200">
                <a:cs typeface="ArialMT" pitchFamily="32" charset="0"/>
              </a:rPr>
              <a:t>  Basic tools in binary image processing, used for: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cs typeface="ArialMT" pitchFamily="32" charset="0"/>
              </a:rPr>
              <a:t>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Masking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Feature detection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000">
                <a:cs typeface="ArialMT" pitchFamily="32" charset="0"/>
              </a:rPr>
              <a:t>   </a:t>
            </a:r>
            <a:r>
              <a:rPr lang="en-IE" altLang="en-US" sz="2000">
                <a:solidFill>
                  <a:srgbClr val="2617C0"/>
                </a:solidFill>
                <a:cs typeface="ArialMT" pitchFamily="32" charset="0"/>
              </a:rPr>
              <a:t>– </a:t>
            </a:r>
            <a:r>
              <a:rPr lang="en-IE" altLang="en-US" sz="2000">
                <a:cs typeface="ArialMT" pitchFamily="32" charset="0"/>
              </a:rPr>
              <a:t>Shape analysis</a:t>
            </a:r>
          </a:p>
        </p:txBody>
      </p:sp>
    </p:spTree>
    <p:extLst>
      <p:ext uri="{BB962C8B-B14F-4D97-AF65-F5344CB8AC3E}">
        <p14:creationId xmlns:p14="http://schemas.microsoft.com/office/powerpoint/2010/main" val="367642444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Examples of logic operations</a:t>
            </a:r>
          </a:p>
        </p:txBody>
      </p:sp>
      <p:sp>
        <p:nvSpPr>
          <p:cNvPr id="83971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000000"/>
              </a:solidFill>
              <a:ea typeface="TimesNewRomanPSMT"/>
              <a:cs typeface="TimesNewRomanPSMT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800000"/>
              </a:solidFill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800000"/>
              </a:solidFill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800000"/>
              </a:solidFill>
              <a:cs typeface="ArialMT" pitchFamily="32" charset="0"/>
            </a:endParaRPr>
          </a:p>
        </p:txBody>
      </p:sp>
      <p:pic>
        <p:nvPicPr>
          <p:cNvPr id="83972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8564" y="1858963"/>
            <a:ext cx="4700587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83119769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ext Box 1"/>
          <p:cNvSpPr txBox="1">
            <a:spLocks noChangeArrowheads="1"/>
          </p:cNvSpPr>
          <p:nvPr/>
        </p:nvSpPr>
        <p:spPr bwMode="auto">
          <a:xfrm>
            <a:off x="2162176" y="0"/>
            <a:ext cx="8505825" cy="1231900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Examples of logic operations</a:t>
            </a:r>
          </a:p>
        </p:txBody>
      </p:sp>
      <p:sp>
        <p:nvSpPr>
          <p:cNvPr id="86019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98193A"/>
              </a:solidFill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000000"/>
              </a:solidFill>
              <a:ea typeface="TimesNewRomanPSMT"/>
              <a:cs typeface="TimesNewRomanPSMT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800000"/>
              </a:solidFill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800000"/>
              </a:solidFill>
              <a:cs typeface="ArialMT" pitchFamily="32" charset="0"/>
            </a:endParaRPr>
          </a:p>
          <a:p>
            <a:pPr>
              <a:spcBef>
                <a:spcPts val="800"/>
              </a:spcBef>
              <a:buClrTx/>
            </a:pPr>
            <a:endParaRPr lang="en-IE" altLang="en-US" sz="2000">
              <a:solidFill>
                <a:srgbClr val="800000"/>
              </a:solidFill>
              <a:cs typeface="ArialMT" pitchFamily="32" charset="0"/>
            </a:endParaRPr>
          </a:p>
        </p:txBody>
      </p:sp>
      <p:pic>
        <p:nvPicPr>
          <p:cNvPr id="86020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6901" y="1897063"/>
            <a:ext cx="6354763" cy="349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9554612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Neighborhood-oriented operations</a:t>
            </a:r>
          </a:p>
        </p:txBody>
      </p:sp>
      <p:sp>
        <p:nvSpPr>
          <p:cNvPr id="88067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Arithmetic and logical operations may take place on a subset of the image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400">
                <a:cs typeface="ArialMT" pitchFamily="32" charset="0"/>
              </a:rPr>
              <a:t>Typically neighborhood oriented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Formulated in the context of </a:t>
            </a:r>
            <a:r>
              <a:rPr lang="en-IE" altLang="en-US" sz="2400" i="1">
                <a:cs typeface="ArialMT" pitchFamily="32" charset="0"/>
              </a:rPr>
              <a:t>mask </a:t>
            </a:r>
            <a:r>
              <a:rPr lang="en-IE" altLang="en-US" sz="2400">
                <a:cs typeface="ArialMT" pitchFamily="32" charset="0"/>
              </a:rPr>
              <a:t>operations (also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cs typeface="ArialMT" pitchFamily="32" charset="0"/>
              </a:rPr>
              <a:t>   called </a:t>
            </a:r>
            <a:r>
              <a:rPr lang="en-IE" altLang="en-US" sz="2400" i="1">
                <a:cs typeface="ArialMT" pitchFamily="32" charset="0"/>
              </a:rPr>
              <a:t>template</a:t>
            </a:r>
            <a:r>
              <a:rPr lang="en-IE" altLang="en-US" sz="2400">
                <a:cs typeface="ArialMT" pitchFamily="32" charset="0"/>
              </a:rPr>
              <a:t>, </a:t>
            </a:r>
            <a:r>
              <a:rPr lang="en-IE" altLang="en-US" sz="2400" i="1">
                <a:cs typeface="ArialMT" pitchFamily="32" charset="0"/>
              </a:rPr>
              <a:t>window </a:t>
            </a:r>
            <a:r>
              <a:rPr lang="en-IE" altLang="en-US" sz="2400">
                <a:cs typeface="ArialMT" pitchFamily="32" charset="0"/>
              </a:rPr>
              <a:t>or </a:t>
            </a:r>
            <a:r>
              <a:rPr lang="en-IE" altLang="en-US" sz="2400" i="1">
                <a:cs typeface="ArialMT" pitchFamily="32" charset="0"/>
              </a:rPr>
              <a:t>filter </a:t>
            </a:r>
            <a:r>
              <a:rPr lang="en-IE" altLang="en-US" sz="2400">
                <a:cs typeface="ArialMT" pitchFamily="32" charset="0"/>
              </a:rPr>
              <a:t>operations)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4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400">
                <a:cs typeface="ArialMT" pitchFamily="32" charset="0"/>
              </a:rPr>
              <a:t>Basic concept:let the value of a pixel be a function of its (current) gray level and the gray level of its neighbors (in some sense)</a:t>
            </a:r>
          </a:p>
        </p:txBody>
      </p:sp>
    </p:spTree>
    <p:extLst>
      <p:ext uri="{BB962C8B-B14F-4D97-AF65-F5344CB8AC3E}">
        <p14:creationId xmlns:p14="http://schemas.microsoft.com/office/powerpoint/2010/main" val="26262219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Neighborhood-oriented operations</a:t>
            </a:r>
          </a:p>
        </p:txBody>
      </p:sp>
      <p:sp>
        <p:nvSpPr>
          <p:cNvPr id="90115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Consider the following subset of pixels in an image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Suppose we want to filter the image by replacing the value at Z</a:t>
            </a:r>
            <a:r>
              <a:rPr lang="en-IE" altLang="en-US" sz="1400">
                <a:cs typeface="ArialMT" pitchFamily="32" charset="0"/>
              </a:rPr>
              <a:t>5</a:t>
            </a:r>
            <a:r>
              <a:rPr lang="en-IE" altLang="en-US" sz="2200">
                <a:cs typeface="ArialMT" pitchFamily="32" charset="0"/>
              </a:rPr>
              <a:t> with the average value of the pixels in a 3x3 region centered around Z</a:t>
            </a:r>
            <a:r>
              <a:rPr lang="en-IE" altLang="en-US" sz="1400">
                <a:cs typeface="ArialMT" pitchFamily="32" charset="0"/>
              </a:rPr>
              <a:t>5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Perform an operation of the form: </a:t>
            </a:r>
          </a:p>
          <a:p>
            <a:pPr eaLnBrk="1" hangingPunct="1">
              <a:buClrTx/>
              <a:buFontTx/>
              <a:buNone/>
            </a:pPr>
            <a:endParaRPr lang="en-IE" altLang="en-US" sz="2200"/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and assign to z</a:t>
            </a:r>
            <a:r>
              <a:rPr lang="en-IE" altLang="en-US" sz="1400">
                <a:cs typeface="ArialMT" pitchFamily="32" charset="0"/>
              </a:rPr>
              <a:t>5</a:t>
            </a:r>
            <a:r>
              <a:rPr lang="en-IE" altLang="en-US" sz="2200">
                <a:cs typeface="ArialMT" pitchFamily="32" charset="0"/>
              </a:rPr>
              <a:t> the value of z</a:t>
            </a:r>
          </a:p>
        </p:txBody>
      </p:sp>
      <p:pic>
        <p:nvPicPr>
          <p:cNvPr id="90116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76" y="3551239"/>
            <a:ext cx="3502025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0117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2976" y="2719389"/>
            <a:ext cx="2962275" cy="242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5343219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ext Box 1"/>
          <p:cNvSpPr txBox="1">
            <a:spLocks noChangeArrowheads="1"/>
          </p:cNvSpPr>
          <p:nvPr/>
        </p:nvSpPr>
        <p:spPr bwMode="auto">
          <a:xfrm>
            <a:off x="2162176" y="-39688"/>
            <a:ext cx="8505825" cy="1311276"/>
          </a:xfrm>
          <a:prstGeom prst="rect">
            <a:avLst/>
          </a:prstGeom>
          <a:solidFill>
            <a:srgbClr val="333399"/>
          </a:solidFill>
          <a:ln w="25560">
            <a:solidFill>
              <a:srgbClr val="000000"/>
            </a:solidFill>
            <a:miter lim="800000"/>
            <a:headEnd/>
            <a:tailEnd/>
          </a:ln>
        </p:spPr>
        <p:txBody>
          <a:bodyPr anchor="ctr"/>
          <a:lstStyle>
            <a:lvl1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chemeClr val="bg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buClrTx/>
              <a:buFontTx/>
              <a:buNone/>
            </a:pPr>
            <a:r>
              <a:rPr lang="en-IE" altLang="en-US" sz="4000" b="1">
                <a:solidFill>
                  <a:srgbClr val="FFFFFF"/>
                </a:solidFill>
                <a:cs typeface="ArialMT" pitchFamily="32" charset="0"/>
              </a:rPr>
              <a:t>Neighborhood-oriented operations</a:t>
            </a:r>
          </a:p>
        </p:txBody>
      </p:sp>
      <p:sp>
        <p:nvSpPr>
          <p:cNvPr id="92163" name="Text Box 2"/>
          <p:cNvSpPr txBox="1">
            <a:spLocks noChangeArrowheads="1"/>
          </p:cNvSpPr>
          <p:nvPr/>
        </p:nvSpPr>
        <p:spPr bwMode="auto">
          <a:xfrm>
            <a:off x="2209800" y="13716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8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32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ts val="7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>
              <a:spcBef>
                <a:spcPts val="6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>
              <a:spcBef>
                <a:spcPts val="500"/>
              </a:spcBef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ts val="50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anose="02020603050405020304" pitchFamily="18" charset="0"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</a:t>
            </a:r>
            <a:r>
              <a:rPr lang="en-IE" altLang="en-US" sz="2200">
                <a:cs typeface="ArialMT" pitchFamily="32" charset="0"/>
              </a:rPr>
              <a:t>In the more general form, the operation may look like: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 i="1">
                <a:cs typeface="ArialMT" pitchFamily="32" charset="0"/>
              </a:rPr>
              <a:t>   </a:t>
            </a:r>
          </a:p>
          <a:p>
            <a:pPr eaLnBrk="1" hangingPunct="1">
              <a:buClrTx/>
              <a:buFontTx/>
              <a:buNone/>
            </a:pPr>
            <a:endParaRPr lang="en-IE" altLang="en-US" sz="2200">
              <a:solidFill>
                <a:srgbClr val="98193A"/>
              </a:solidFill>
              <a:cs typeface="ArialMT" pitchFamily="32" charset="0"/>
            </a:endParaRP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</a:t>
            </a:r>
            <a:r>
              <a:rPr lang="en-IE" altLang="en-US" sz="2200">
                <a:cs typeface="ArialMT" pitchFamily="32" charset="0"/>
              </a:rPr>
              <a:t>This equation is widely used in image processing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98193A"/>
                </a:solidFill>
                <a:cs typeface="ArialMT" pitchFamily="32" charset="0"/>
              </a:rPr>
              <a:t>•   </a:t>
            </a:r>
            <a:r>
              <a:rPr lang="en-IE" altLang="en-US" sz="2200">
                <a:cs typeface="ArialMT" pitchFamily="32" charset="0"/>
              </a:rPr>
              <a:t>Proper selection of coefficients (weights) allows for operations such as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noise reduction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region thinning </a:t>
            </a:r>
          </a:p>
          <a:p>
            <a:pPr eaLnBrk="1" hangingPunct="1">
              <a:buClrTx/>
              <a:buFontTx/>
              <a:buNone/>
            </a:pPr>
            <a:r>
              <a:rPr lang="en-IE" altLang="en-US" sz="2200">
                <a:solidFill>
                  <a:srgbClr val="2617C0"/>
                </a:solidFill>
                <a:cs typeface="ArialMT" pitchFamily="32" charset="0"/>
              </a:rPr>
              <a:t>   – </a:t>
            </a:r>
            <a:r>
              <a:rPr lang="en-IE" altLang="en-US" sz="2200">
                <a:cs typeface="ArialMT" pitchFamily="32" charset="0"/>
              </a:rPr>
              <a:t>edge detection</a:t>
            </a:r>
          </a:p>
        </p:txBody>
      </p:sp>
      <p:pic>
        <p:nvPicPr>
          <p:cNvPr id="92164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8976" y="1779589"/>
            <a:ext cx="5065713" cy="904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1101" y="3852863"/>
            <a:ext cx="2378075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166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8413" y="3860800"/>
            <a:ext cx="2405062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9847310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6186</Words>
  <Application>Microsoft Office PowerPoint</Application>
  <PresentationFormat>Widescreen</PresentationFormat>
  <Paragraphs>1037</Paragraphs>
  <Slides>130</Slides>
  <Notes>130</Notes>
  <HiddenSlides>0</HiddenSlides>
  <MMClips>0</MMClips>
  <ScaleCrop>false</ScaleCrop>
  <HeadingPairs>
    <vt:vector size="8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130</vt:i4>
      </vt:variant>
    </vt:vector>
  </HeadingPairs>
  <TitlesOfParts>
    <vt:vector size="141" baseType="lpstr">
      <vt:lpstr>ＭＳ Ｐゴシック</vt:lpstr>
      <vt:lpstr>Arial</vt:lpstr>
      <vt:lpstr>Arial Unicode MS</vt:lpstr>
      <vt:lpstr>ArialMT</vt:lpstr>
      <vt:lpstr>Calibri</vt:lpstr>
      <vt:lpstr>Calibri Light</vt:lpstr>
      <vt:lpstr>Times New Roman</vt:lpstr>
      <vt:lpstr>TimesNewRomanPSMT</vt:lpstr>
      <vt:lpstr>Wingdings</vt:lpstr>
      <vt:lpstr>Zapfino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nandan</dc:creator>
  <cp:lastModifiedBy>nandan</cp:lastModifiedBy>
  <cp:revision>2</cp:revision>
  <dcterms:created xsi:type="dcterms:W3CDTF">2023-01-28T15:46:49Z</dcterms:created>
  <dcterms:modified xsi:type="dcterms:W3CDTF">2023-01-28T16:08:04Z</dcterms:modified>
</cp:coreProperties>
</file>