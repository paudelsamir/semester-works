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0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07" Type="http://schemas.openxmlformats.org/officeDocument/2006/relationships/presProps" Target="presProps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viewProps" Target="viewProps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theme" Target="theme/theme1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tableStyles" Target="tableStyles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2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7" Type="http://schemas.openxmlformats.org/officeDocument/2006/relationships/image" Target="../media/image94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7" Type="http://schemas.openxmlformats.org/officeDocument/2006/relationships/image" Target="../media/image99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7DF5A-0B2D-4945-9CE3-609DFB6D3748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71952B-42E5-4886-A858-B5F6AA7C2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906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58E9B4-B2B1-4525-8E3B-7557A7B242D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1457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B3F6C39-DB17-4383-96E4-BDBCD2C1B06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1038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FC4131-979C-461F-9442-4FBC63FAC4E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3332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65A8F1-D0FA-46A6-A93C-E2F444D023ED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24977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E558F4-DCE7-4E77-B5DC-530F7EA484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79929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9E4AF4-13C1-4461-9B56-BDD0D94BFCB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44868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AF0D41-FE9B-41D4-9605-5BE5614CB05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3122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18F731-CE9E-4828-B7F8-D102AABB79A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8683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6AB3D3-3F32-404F-BC3E-4D6691E3312D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15336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F8E34-4264-4D13-B635-FC88F1456AD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8494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010A8D-41BC-4D4B-A5A2-ADEB1891E3E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8330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982049-E7CB-42FF-9E61-734908B96DA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707198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151EBA-47C6-4DF0-AC86-C1733A38034D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36042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D97FC7-D8F4-429C-A3B1-CFBBA2BF415D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91053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0AE420-9AAE-43D4-B5D9-D759A3428436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040595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1EC695-328D-4D1C-910C-437DD4075BD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515355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9F2B13C-0A5C-4DD2-8F98-B990DCECC30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41031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21C2BB-70FB-4CED-A9CB-DEE54F5F98D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555731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32ACEF-DCA1-47F7-9FC7-DC32BC1DCE18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17228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D04441-F090-4682-B5FC-64ABC3846C88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773571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69359C2-301C-4F54-A5DC-CA86F8F47BF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1657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15F397-DA4B-43B2-8C53-285A6372D2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39911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9BEE2E-95EE-40FF-B847-5829F2A8590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55587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BA8D8A-AC9B-40AD-AFBF-3056975CA2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97714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746132E-B29F-42FC-B804-587DA905413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95808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BA7297-69AA-4D6C-A20B-911D21B4106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70346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0A776C-A11D-4C6E-998C-497CE96B267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972813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96A3D0-0A3A-4E02-B0FC-D32D075F33B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6158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E18C69-76EE-48F1-8157-85EDB5CD4EA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89943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D5004A-DAF2-4CB9-9ED3-4A48DBDC5078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116082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EA830F-2341-4980-9A4A-589CCBE46D0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70125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FFA666D-E5E1-442D-B558-6A95A8B6399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00126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ACCA45-A09D-410C-9187-11BFCC8E85C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825576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0FE17F-5D70-4778-9690-7A35AA6A056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31777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2D2D92B-697F-4E4E-B8E2-FD0A02B735B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21829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7D6C7E1-04BA-48C1-A78D-674B9DB85E2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48970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2B6CB66-D5A4-4BDF-86E9-54AAA8EF962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72611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3E7812-9A09-4E8A-822F-769C52987CF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13098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35AE9AD-B5AA-4463-ADC4-53EA04D8DD6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799748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AB6E5F-EF57-4B17-9130-C4C94E052DF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0548747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EA13F4-069D-40E2-80E7-CAD1A1E711E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282190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CCD876-C4CC-4782-8BBE-EB3DCB0CA9B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84931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C84EC4-621A-4A31-87AE-0D550C09114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969171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B1D0A5-2083-4282-B225-0ADED665E80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83509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71A3CC-2B3D-4532-AC11-9773A0859D3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78441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C0691D-0F1B-49FE-8B15-6BDA0522B39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5051528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2C598F-7949-4077-88A0-52830D8E057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990080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B224E7B-5B7D-46DE-9065-99763571393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4528854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707FCA-5F50-4365-98F2-8BCFE5A2B91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3092468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CA76F5-9B1E-4348-A987-54E4FAB4765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806972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DE1EF7-8421-4869-B5E1-4E6A6E7407E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6162942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3D525D5-0FB5-4C94-973A-8AB00D31BA1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475630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4C94F8-2E0E-4F2A-9ABF-A67402DB7506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7925749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B05E23-3E30-4197-8443-83CE969883C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8506970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DB616C-01FA-4FD3-977F-10E509EE1C1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696721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5B4358-8BFF-4171-81CD-9DDD028CAF1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767131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5D5A727E-EA67-40A8-9F77-27F38D895D0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58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7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0E1F7DD2-D8B1-43F4-970D-F6EAC19FDDA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58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73430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2EA9F5C5-7253-42BB-9B49-3FBB99A311BB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59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08E8B735-243C-4A7F-A76E-8BF32935631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59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51783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E9472D8D-6858-4232-8844-8D488D7507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60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26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F1463569-FF25-4BF7-9BA8-0422D2D1684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60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2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32149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913ACAA2-E527-4209-B361-DDDF4FB0F69C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61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876D9862-3908-447B-9E19-F0A7282CE8F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61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05720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DB104384-1BDB-439F-98E8-CC923AC9097B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62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36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9E2F0BF-BF33-4F56-AFEF-A5EF7873136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62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3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7831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1E82A3C5-C96D-4986-B068-2CA9241F1A7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63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41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44F293E6-4AC6-4908-8FFD-E49333497BD5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63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4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82305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CEF35087-A164-4912-B892-C0E3BE5BD92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64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45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DD9BFB89-2DBE-4AB3-A00F-F4120478C02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64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4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29695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A4C034E7-A2DB-4AB0-B985-43D4037E53E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65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150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5F5B19B8-8B1D-442A-93A1-F5B826BB58B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65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15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57434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7F65A2B1-69B7-48F1-8663-27C877779F0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66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355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F478B761-6F5E-49EC-A3FF-F6BDBD74FA6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66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35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46543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CF81E64D-4152-4DCF-B0EE-F34CE464A8A5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67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560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EED99174-8EB5-49C2-8CDC-33A68637EED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67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56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68787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545B981B-C9CA-4F86-8AB0-89F67A68009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68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765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90F9A2A2-138B-4253-B713-1DE1125B61B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68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76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07649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628EA8B1-DC4D-482F-B847-62636C7A49AB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69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969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54D52E3-01BC-4B89-B16A-D50BA49280F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69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97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99193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55009AA4-8315-49B3-8828-7D4AD4152EA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70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174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6FC2CFD8-E1A4-4643-9804-0682F870764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70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737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CD00E978-D452-4BF9-8C66-CDADC2A49D05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71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79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07368F25-F224-4B9B-B618-95656F2EDCD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71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7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337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57180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4289A24F-B7EA-4C4D-83B0-FA241AD31AF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72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4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084D4389-6FF6-4DE0-B296-FCD3A00F595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72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97398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9C5E8A86-BD2E-498A-B267-79554E1D26D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73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89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A8DE7B02-DFD9-4682-806D-9DAED2130D1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73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8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40430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E2B72A43-3F84-429F-8A3F-04E514F1EBC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74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993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B277FA3F-5001-4D85-9BB2-B1694FC7ADF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74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99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40395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EB56B30F-CDD8-4560-AF40-4F03C64E5A13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75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198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B1868E65-1889-4928-8D43-3492595BECD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75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19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34792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BA77081E-7EE8-4C51-AADC-F74FFD0A743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76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3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CEC69805-9D21-41D6-9FD7-CCB0BE06B0BB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76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440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61230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E75DD1CE-978C-4FF6-BB94-E185CDB1AFB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77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608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72145943-E2F3-49D0-A9FC-393049A5C37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77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66945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673A520A-961E-485E-B1A7-CDB5830FA93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78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3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51C0CF1F-91D8-4B9F-92C1-7A4CEF54B94C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78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5307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2767365B-F351-4F5B-9858-0A09E4C407E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79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7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F91841E-E7DF-4269-8E9B-17C3CA434CA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79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501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55222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4C09AE79-7CEC-4B88-8CE1-E8F1C860388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80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222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B3D20C58-0D93-4667-A5F3-6ABD58C5DD1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80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89035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626452AA-8586-4E01-A702-FB202971AE8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81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7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FA78C6FF-BD96-4232-A9AB-3F51066729B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81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94798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791AC91B-026D-4576-90DB-4BE6E0C44C45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82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632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C2689F20-1757-4033-A159-AB8CAAF56BC3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82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63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563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96767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D9A7CE83-5390-4BCC-BB3D-2E8D945BE2EC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83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837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CE826C97-7C35-4EC9-B661-E763F1960F03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83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87990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ACA97AD6-F083-4E89-8AE2-B5D27B6C0E1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84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1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76AD8430-9DF0-444E-ACB7-1CD1F269846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84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604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62668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DBB34B8E-0EA9-4843-8740-E7A7038F2B6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85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6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E796C389-D58C-41BD-A09E-9EA3AC660CF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85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624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33415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C5CF3FD0-8B18-45BA-92C0-567E83E2152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86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451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2643C116-9EF2-4CEF-8D43-DD83D619C2D5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86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45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645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64917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E378E8A7-9F88-48CC-9681-D70D194F50F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87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656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25E84ECA-0E7A-49FA-826A-DB3C37CCF36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87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65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665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88569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C523EC65-B45B-48E2-930C-D9CA15F0B80C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88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861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FF563DD8-E57F-4EA4-97FA-D5F6061DAFA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88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86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686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36605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85261707-52CF-4540-BAF7-35A0081D42C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89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065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45C20543-E24D-4D96-88FC-40B45305E785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89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06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</p:spPr>
      </p:sp>
      <p:sp>
        <p:nvSpPr>
          <p:cNvPr id="706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82549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54B48C8F-8F74-48B0-B263-579727029CA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90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270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89508C9F-B2B7-45C4-8C54-B73B7890183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90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27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727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143115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0C489AAD-7791-4C9D-BBEC-E8C8E187DE6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91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5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C843C646-307C-433B-90EF-12F488D905E3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91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67488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85BC3088-0485-49A0-A99D-38D71E435FD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92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680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6726D186-DE62-4FA4-A164-E832872FC46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92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68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768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57275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93104542-B5F6-4E4C-A13F-89B6E04A2FFC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93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5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4C08269F-9A87-4D02-B9BB-A52E1F3B92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93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788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04893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0F9D9B19-3532-49D8-9AA6-B389AFEF88E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94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89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5E8AD93A-3759-4A34-8F47-E097783B31C5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94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09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</p:spPr>
      </p:sp>
      <p:sp>
        <p:nvSpPr>
          <p:cNvPr id="809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0967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0FF85C90-E2BB-42CE-955F-99ECA92A944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95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294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B840D06C-19BC-4C29-903C-E19B03CD72DC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95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29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829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784039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23C3D6D5-11E2-4383-B05C-88EF681A30A5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96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499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B5E7BE32-5E55-4DD0-8A6B-48911B257D2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96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49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849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347158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9B6DD51E-6266-4EAC-9B73-B214D721319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97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704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9FD80759-6887-4D43-A46C-4A0CAE883A3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97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70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870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320612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8CF14235-BB27-4012-B7DA-F22E1E80F0D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98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909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EEF30BCC-3E6E-4726-A795-A5104A24420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98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90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890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726607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5FF0F4D8-39C6-4975-A013-5B0B43EECCF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99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3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D04D0E92-A332-4F04-9EFB-FC8EE0D1295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99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911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579178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0984547B-CEBD-412D-8FA5-9DBCA6E0340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100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18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535A078E-6D44-43D7-9E34-C185033F32B5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100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1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931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865844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44C7D280-251D-4AF7-BE5B-BD9E75930EF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101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3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FA543896-DFB4-41A0-B044-B02DA3F0D80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101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952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626545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fld id="{009AD63F-AA50-49F8-A428-8E022A794DCC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/>
              </a:pPr>
              <a:t>102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28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9991B7B6-4A78-459A-A378-F3F9654EEDA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102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2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972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580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07862-0A53-48BC-BF69-53C91192766E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EFC7-1013-45F3-94BD-03CE097D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984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07862-0A53-48BC-BF69-53C91192766E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EFC7-1013-45F3-94BD-03CE097D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293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07862-0A53-48BC-BF69-53C91192766E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EFC7-1013-45F3-94BD-03CE097D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699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07862-0A53-48BC-BF69-53C91192766E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EFC7-1013-45F3-94BD-03CE097D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03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07862-0A53-48BC-BF69-53C91192766E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EFC7-1013-45F3-94BD-03CE097D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3509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07862-0A53-48BC-BF69-53C91192766E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EFC7-1013-45F3-94BD-03CE097D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3804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07862-0A53-48BC-BF69-53C91192766E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EFC7-1013-45F3-94BD-03CE097D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476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07862-0A53-48BC-BF69-53C91192766E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EFC7-1013-45F3-94BD-03CE097D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535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07862-0A53-48BC-BF69-53C91192766E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EFC7-1013-45F3-94BD-03CE097D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1777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07862-0A53-48BC-BF69-53C91192766E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EFC7-1013-45F3-94BD-03CE097D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561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07862-0A53-48BC-BF69-53C91192766E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EFC7-1013-45F3-94BD-03CE097D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4909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noFill/>
          <a:ln w="9525"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43200" y="4400550"/>
            <a:ext cx="8534400" cy="123825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853505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ga-IE" smtClean="0"/>
              <a:t>Click to edit Master text styles</a:t>
            </a:r>
          </a:p>
          <a:p>
            <a:pPr lvl="1"/>
            <a:r>
              <a:rPr lang="ga-IE" smtClean="0"/>
              <a:t>Second level</a:t>
            </a:r>
          </a:p>
          <a:p>
            <a:pPr lvl="2"/>
            <a:r>
              <a:rPr lang="ga-IE" smtClean="0"/>
              <a:t>Third level</a:t>
            </a:r>
          </a:p>
          <a:p>
            <a:pPr lvl="3"/>
            <a:r>
              <a:rPr lang="ga-IE" smtClean="0"/>
              <a:t>Fourth level</a:t>
            </a:r>
          </a:p>
          <a:p>
            <a:pPr lvl="4"/>
            <a:r>
              <a:rPr lang="ga-IE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41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ga-I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ga-IE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99477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333500"/>
            <a:ext cx="5384800" cy="5524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 smtClean="0"/>
              <a:t>Click to edit Master text styles</a:t>
            </a:r>
          </a:p>
          <a:p>
            <a:pPr lvl="1"/>
            <a:r>
              <a:rPr lang="ga-IE" smtClean="0"/>
              <a:t>Second level</a:t>
            </a:r>
          </a:p>
          <a:p>
            <a:pPr lvl="2"/>
            <a:r>
              <a:rPr lang="ga-IE" smtClean="0"/>
              <a:t>Third level</a:t>
            </a:r>
          </a:p>
          <a:p>
            <a:pPr lvl="3"/>
            <a:r>
              <a:rPr lang="ga-IE" smtClean="0"/>
              <a:t>Fourth level</a:t>
            </a:r>
          </a:p>
          <a:p>
            <a:pPr lvl="4"/>
            <a:r>
              <a:rPr lang="ga-IE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33500"/>
            <a:ext cx="5384800" cy="5524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 smtClean="0"/>
              <a:t>Click to edit Master text styles</a:t>
            </a:r>
          </a:p>
          <a:p>
            <a:pPr lvl="1"/>
            <a:r>
              <a:rPr lang="ga-IE" smtClean="0"/>
              <a:t>Second level</a:t>
            </a:r>
          </a:p>
          <a:p>
            <a:pPr lvl="2"/>
            <a:r>
              <a:rPr lang="ga-IE" smtClean="0"/>
              <a:t>Third level</a:t>
            </a:r>
          </a:p>
          <a:p>
            <a:pPr lvl="3"/>
            <a:r>
              <a:rPr lang="ga-IE" smtClean="0"/>
              <a:t>Fourth level</a:t>
            </a:r>
          </a:p>
          <a:p>
            <a:pPr lvl="4"/>
            <a:r>
              <a:rPr lang="ga-IE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920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ga-I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 smtClean="0"/>
              <a:t>Click to edit Master text styles</a:t>
            </a:r>
          </a:p>
          <a:p>
            <a:pPr lvl="1"/>
            <a:r>
              <a:rPr lang="ga-IE" smtClean="0"/>
              <a:t>Second level</a:t>
            </a:r>
          </a:p>
          <a:p>
            <a:pPr lvl="2"/>
            <a:r>
              <a:rPr lang="ga-IE" smtClean="0"/>
              <a:t>Third level</a:t>
            </a:r>
          </a:p>
          <a:p>
            <a:pPr lvl="3"/>
            <a:r>
              <a:rPr lang="ga-IE" smtClean="0"/>
              <a:t>Fourth level</a:t>
            </a:r>
          </a:p>
          <a:p>
            <a:pPr lvl="4"/>
            <a:r>
              <a:rPr lang="ga-IE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 smtClean="0"/>
              <a:t>Click to edit Master text styles</a:t>
            </a:r>
          </a:p>
          <a:p>
            <a:pPr lvl="1"/>
            <a:r>
              <a:rPr lang="ga-IE" smtClean="0"/>
              <a:t>Second level</a:t>
            </a:r>
          </a:p>
          <a:p>
            <a:pPr lvl="2"/>
            <a:r>
              <a:rPr lang="ga-IE" smtClean="0"/>
              <a:t>Third level</a:t>
            </a:r>
          </a:p>
          <a:p>
            <a:pPr lvl="3"/>
            <a:r>
              <a:rPr lang="ga-IE" smtClean="0"/>
              <a:t>Fourth level</a:t>
            </a:r>
          </a:p>
          <a:p>
            <a:pPr lvl="4"/>
            <a:r>
              <a:rPr lang="ga-IE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394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433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09124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ga-I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ga-IE" smtClean="0"/>
              <a:t>Click to edit Master text styles</a:t>
            </a:r>
          </a:p>
          <a:p>
            <a:pPr lvl="1"/>
            <a:r>
              <a:rPr lang="ga-IE" smtClean="0"/>
              <a:t>Second level</a:t>
            </a:r>
          </a:p>
          <a:p>
            <a:pPr lvl="2"/>
            <a:r>
              <a:rPr lang="ga-IE" smtClean="0"/>
              <a:t>Third level</a:t>
            </a:r>
          </a:p>
          <a:p>
            <a:pPr lvl="3"/>
            <a:r>
              <a:rPr lang="ga-IE" smtClean="0"/>
              <a:t>Fourth level</a:t>
            </a:r>
          </a:p>
          <a:p>
            <a:pPr lvl="4"/>
            <a:r>
              <a:rPr lang="ga-IE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14026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ga-I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7025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ga-IE" smtClean="0"/>
              <a:t>Click to edit Master text styles</a:t>
            </a:r>
          </a:p>
          <a:p>
            <a:pPr lvl="1"/>
            <a:r>
              <a:rPr lang="ga-IE" smtClean="0"/>
              <a:t>Second level</a:t>
            </a:r>
          </a:p>
          <a:p>
            <a:pPr lvl="2"/>
            <a:r>
              <a:rPr lang="ga-IE" smtClean="0"/>
              <a:t>Third level</a:t>
            </a:r>
          </a:p>
          <a:p>
            <a:pPr lvl="3"/>
            <a:r>
              <a:rPr lang="ga-IE" smtClean="0"/>
              <a:t>Fourth level</a:t>
            </a:r>
          </a:p>
          <a:p>
            <a:pPr lvl="4"/>
            <a:r>
              <a:rPr lang="ga-IE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290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6400" y="0"/>
            <a:ext cx="2895600" cy="6858000"/>
          </a:xfrm>
        </p:spPr>
        <p:txBody>
          <a:bodyPr vert="eaVert"/>
          <a:lstStyle/>
          <a:p>
            <a:r>
              <a:rPr lang="ga-I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0"/>
            <a:ext cx="8483600" cy="6858000"/>
          </a:xfrm>
        </p:spPr>
        <p:txBody>
          <a:bodyPr vert="eaVert"/>
          <a:lstStyle/>
          <a:p>
            <a:pPr lvl="0"/>
            <a:r>
              <a:rPr lang="ga-IE" smtClean="0"/>
              <a:t>Click to edit Master text styles</a:t>
            </a:r>
          </a:p>
          <a:p>
            <a:pPr lvl="1"/>
            <a:r>
              <a:rPr lang="ga-IE" smtClean="0"/>
              <a:t>Second level</a:t>
            </a:r>
          </a:p>
          <a:p>
            <a:pPr lvl="2"/>
            <a:r>
              <a:rPr lang="ga-IE" smtClean="0"/>
              <a:t>Third level</a:t>
            </a:r>
          </a:p>
          <a:p>
            <a:pPr lvl="3"/>
            <a:r>
              <a:rPr lang="ga-IE" smtClean="0"/>
              <a:t>Fourth level</a:t>
            </a:r>
          </a:p>
          <a:p>
            <a:pPr lvl="4"/>
            <a:r>
              <a:rPr lang="ga-IE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319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920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806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30932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333500"/>
            <a:ext cx="5369984" cy="5503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2785" y="1333500"/>
            <a:ext cx="5372100" cy="5503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910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234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1614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9538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3340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96728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393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1" y="1"/>
            <a:ext cx="2887133" cy="68373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1" y="1"/>
            <a:ext cx="8464551" cy="68373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37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07862-0A53-48BC-BF69-53C91192766E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9EFC7-1013-45F3-94BD-03CE097D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2673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50901" y="0"/>
            <a:ext cx="11341100" cy="12319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3500"/>
            <a:ext cx="109728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1" y="1"/>
            <a:ext cx="876300" cy="12287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fld id="{7CC702DB-167F-4024-A30E-DA865D894414}" type="slidenum">
              <a:rPr lang="en-US" altLang="en-US" sz="1800">
                <a:solidFill>
                  <a:schemeClr val="bg1"/>
                </a:solidFill>
              </a:rPr>
              <a:pPr algn="ctr" eaLnBrk="1" hangingPunct="1">
                <a:spcBef>
                  <a:spcPct val="50000"/>
                </a:spcBef>
              </a:pPr>
              <a:t>‹#›</a:t>
            </a:fld>
            <a:r>
              <a:rPr lang="en-US" altLang="en-US" sz="1800">
                <a:solidFill>
                  <a:schemeClr val="bg1"/>
                </a:solidFill>
              </a:rPr>
              <a:t/>
            </a:r>
            <a:br>
              <a:rPr lang="en-US" altLang="en-US" sz="1800">
                <a:solidFill>
                  <a:schemeClr val="bg1"/>
                </a:solidFill>
              </a:rPr>
            </a:br>
            <a:r>
              <a:rPr lang="en-US" altLang="en-US" sz="1800">
                <a:solidFill>
                  <a:schemeClr val="bg1"/>
                </a:solidFill>
              </a:rPr>
              <a:t>o</a:t>
            </a:r>
            <a:r>
              <a:rPr lang="en-IE" altLang="en-US" sz="1800">
                <a:solidFill>
                  <a:schemeClr val="bg1"/>
                </a:solidFill>
              </a:rPr>
              <a:t>f</a:t>
            </a:r>
            <a:br>
              <a:rPr lang="en-IE" altLang="en-US" sz="1800">
                <a:solidFill>
                  <a:schemeClr val="bg1"/>
                </a:solidFill>
              </a:rPr>
            </a:br>
            <a:r>
              <a:rPr lang="en-IE" altLang="en-US" sz="1800">
                <a:solidFill>
                  <a:schemeClr val="bg1"/>
                </a:solidFill>
              </a:rPr>
              <a:t>71</a:t>
            </a:r>
            <a:endParaRPr lang="en-US" alt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19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pitchFamily="-112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pitchFamily="-112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pitchFamily="-112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pitchFamily="-112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pitchFamily="-112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pitchFamily="-112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pitchFamily="-112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pitchFamily="-112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827088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12" charset="-128"/>
        </a:defRPr>
      </a:lvl2pPr>
      <a:lvl3pPr marL="123507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12" charset="-128"/>
        </a:defRPr>
      </a:lvl3pPr>
      <a:lvl4pPr marL="164306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1"/>
            <a:ext cx="11288184" cy="121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333500"/>
            <a:ext cx="10945284" cy="550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the outline text format</a:t>
            </a:r>
          </a:p>
          <a:p>
            <a:pPr lvl="1"/>
            <a:r>
              <a:rPr lang="en-GB" altLang="en-US" smtClean="0"/>
              <a:t>Second Outline Level</a:t>
            </a:r>
          </a:p>
          <a:p>
            <a:pPr lvl="2"/>
            <a:r>
              <a:rPr lang="en-GB" altLang="en-US" smtClean="0"/>
              <a:t>Third Outline Level</a:t>
            </a:r>
          </a:p>
          <a:p>
            <a:pPr lvl="3"/>
            <a:r>
              <a:rPr lang="en-GB" altLang="en-US" smtClean="0"/>
              <a:t>Fourth Outline Level</a:t>
            </a:r>
          </a:p>
          <a:p>
            <a:pPr lvl="4"/>
            <a:r>
              <a:rPr lang="en-GB" altLang="en-US" smtClean="0"/>
              <a:t>Fifth Outline Level</a:t>
            </a:r>
          </a:p>
          <a:p>
            <a:pPr lvl="4"/>
            <a:r>
              <a:rPr lang="en-GB" altLang="en-US" smtClean="0"/>
              <a:t>Sixth Outline Level</a:t>
            </a:r>
          </a:p>
          <a:p>
            <a:pPr lvl="4"/>
            <a:r>
              <a:rPr lang="en-GB" altLang="en-US" smtClean="0"/>
              <a:t>Seventh Outline Level</a:t>
            </a:r>
          </a:p>
          <a:p>
            <a:pPr lvl="4"/>
            <a:r>
              <a:rPr lang="en-GB" altLang="en-US" smtClean="0"/>
              <a:t>Eighth Outline Level</a:t>
            </a:r>
          </a:p>
          <a:p>
            <a:pPr lvl="4"/>
            <a:r>
              <a:rPr lang="en-GB" altLang="en-US" smtClean="0"/>
              <a:t>Ninth Outline Level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1" y="1"/>
            <a:ext cx="876300" cy="1228725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 anchorCtr="1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fld id="{14F1C5F9-97EA-4CC2-80C4-476218659785}" type="slidenum">
              <a:rPr lang="en-US" altLang="en-US" sz="1800">
                <a:solidFill>
                  <a:srgbClr val="FFFFFF"/>
                </a:solidFill>
              </a:rPr>
              <a:pPr algn="ctr" eaLnBrk="1" hangingPunct="1">
                <a:spcBef>
                  <a:spcPts val="1125"/>
                </a:spcBef>
                <a:buClrTx/>
                <a:buFontTx/>
                <a:buNone/>
              </a:pPr>
              <a:t>‹#›</a:t>
            </a:fld>
            <a:r>
              <a:rPr lang="en-US" altLang="en-US" sz="1800">
                <a:solidFill>
                  <a:srgbClr val="FFFFFF"/>
                </a:solidFill>
              </a:rPr>
              <a:t/>
            </a:r>
            <a:br>
              <a:rPr lang="en-US" altLang="en-US" sz="1800">
                <a:solidFill>
                  <a:srgbClr val="FFFFFF"/>
                </a:solidFill>
              </a:rPr>
            </a:br>
            <a:r>
              <a:rPr lang="en-US" altLang="en-US" sz="1800">
                <a:solidFill>
                  <a:srgbClr val="FFFFFF"/>
                </a:solidFill>
              </a:rPr>
              <a:t>o</a:t>
            </a:r>
            <a:r>
              <a:rPr lang="en-IE" altLang="en-US" sz="1800">
                <a:solidFill>
                  <a:srgbClr val="FFFFFF"/>
                </a:solidFill>
              </a:rPr>
              <a:t>f</a:t>
            </a:r>
            <a:br>
              <a:rPr lang="en-IE" altLang="en-US" sz="1800">
                <a:solidFill>
                  <a:srgbClr val="FFFFFF"/>
                </a:solidFill>
              </a:rPr>
            </a:br>
            <a:r>
              <a:rPr lang="en-IE" altLang="en-US" sz="1800">
                <a:solidFill>
                  <a:srgbClr val="FFFFFF"/>
                </a:solidFill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963583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FFFFFF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FFFFFF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FFFFFF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FFFFFF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FFFFFF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2514600" indent="-228600" algn="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000">
          <a:solidFill>
            <a:srgbClr val="FFFFFF"/>
          </a:solidFill>
          <a:latin typeface="Arial" charset="0"/>
          <a:ea typeface="ＭＳ Ｐゴシック" charset="-128"/>
        </a:defRPr>
      </a:lvl6pPr>
      <a:lvl7pPr marL="2971800" indent="-228600" algn="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000">
          <a:solidFill>
            <a:srgbClr val="FFFFFF"/>
          </a:solidFill>
          <a:latin typeface="Arial" charset="0"/>
          <a:ea typeface="ＭＳ Ｐゴシック" charset="-128"/>
        </a:defRPr>
      </a:lvl7pPr>
      <a:lvl8pPr marL="3429000" indent="-228600" algn="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000">
          <a:solidFill>
            <a:srgbClr val="FFFFFF"/>
          </a:solidFill>
          <a:latin typeface="Arial" charset="0"/>
          <a:ea typeface="ＭＳ Ｐゴシック" charset="-128"/>
        </a:defRPr>
      </a:lvl8pPr>
      <a:lvl9pPr marL="3886200" indent="-228600" algn="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000">
          <a:solidFill>
            <a:srgbClr val="FFFFFF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000000"/>
          </a:solidFill>
          <a:latin typeface="+mn-lt"/>
          <a:ea typeface="MS PGothic" panose="020B0600070205080204" pitchFamily="34" charset="-128"/>
        </a:defRPr>
      </a:lvl2pPr>
      <a:lvl3pPr marL="1143000" indent="-228600" algn="l" defTabSz="45720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+mn-lt"/>
          <a:ea typeface="MS PGothic" panose="020B0600070205080204" pitchFamily="34" charset="-128"/>
        </a:defRPr>
      </a:lvl3pPr>
      <a:lvl4pPr marL="1600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MS PGothic" panose="020B0600070205080204" pitchFamily="34" charset="-128"/>
        </a:defRPr>
      </a:lvl4pPr>
      <a:lvl5pPr marL="20574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MS PGothic" panose="020B0600070205080204" pitchFamily="34" charset="-128"/>
        </a:defRPr>
      </a:lvl5pPr>
      <a:lvl6pPr marL="25146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29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3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5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7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9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7" Type="http://schemas.openxmlformats.org/officeDocument/2006/relationships/image" Target="../media/image37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10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38.wmf"/><Relationship Id="rId4" Type="http://schemas.openxmlformats.org/officeDocument/2006/relationships/oleObject" Target="../embeddings/oleObject12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13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3.png"/><Relationship Id="rId4" Type="http://schemas.openxmlformats.org/officeDocument/2006/relationships/image" Target="../media/image4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46.wmf"/><Relationship Id="rId4" Type="http://schemas.openxmlformats.org/officeDocument/2006/relationships/oleObject" Target="../embeddings/oleObject14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9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9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9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9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9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9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6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9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9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6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9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9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9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9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9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9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9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9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9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9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9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9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9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9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92.wmf"/><Relationship Id="rId3" Type="http://schemas.openxmlformats.org/officeDocument/2006/relationships/notesSlide" Target="../notesSlides/notesSlide88.xml"/><Relationship Id="rId7" Type="http://schemas.openxmlformats.org/officeDocument/2006/relationships/image" Target="../media/image89.w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94.wmf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21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91.wmf"/><Relationship Id="rId5" Type="http://schemas.openxmlformats.org/officeDocument/2006/relationships/image" Target="../media/image88.wmf"/><Relationship Id="rId15" Type="http://schemas.openxmlformats.org/officeDocument/2006/relationships/image" Target="../media/image93.w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90.wmf"/><Relationship Id="rId14" Type="http://schemas.openxmlformats.org/officeDocument/2006/relationships/oleObject" Target="../embeddings/oleObject20.bin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9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9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9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9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92.wmf"/><Relationship Id="rId3" Type="http://schemas.openxmlformats.org/officeDocument/2006/relationships/notesSlide" Target="../notesSlides/notesSlide93.xml"/><Relationship Id="rId7" Type="http://schemas.openxmlformats.org/officeDocument/2006/relationships/image" Target="../media/image89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99.wmf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28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91.wmf"/><Relationship Id="rId5" Type="http://schemas.openxmlformats.org/officeDocument/2006/relationships/image" Target="../media/image88.wmf"/><Relationship Id="rId15" Type="http://schemas.openxmlformats.org/officeDocument/2006/relationships/image" Target="../media/image93.w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90.wmf"/><Relationship Id="rId14" Type="http://schemas.openxmlformats.org/officeDocument/2006/relationships/oleObject" Target="../embeddings/oleObject27.bin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9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9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9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9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9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9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9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e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0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0126" y="2049826"/>
            <a:ext cx="9144000" cy="2387600"/>
          </a:xfrm>
        </p:spPr>
        <p:txBody>
          <a:bodyPr/>
          <a:lstStyle/>
          <a:p>
            <a:r>
              <a:rPr lang="en-US" dirty="0" smtClean="0"/>
              <a:t>Image Restoration and Compression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5744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What is Image Restoration?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Image restoration attempts to restore images that have been degraded</a:t>
            </a:r>
          </a:p>
          <a:p>
            <a:pPr lvl="1" eaLnBrk="1" hangingPunct="1"/>
            <a:r>
              <a:rPr lang="en-IE" altLang="en-US" smtClean="0">
                <a:ea typeface="ＭＳ Ｐゴシック" panose="020B0600070205080204" pitchFamily="34" charset="-128"/>
              </a:rPr>
              <a:t>Identify the degradation process and attempt to reverse it</a:t>
            </a:r>
          </a:p>
          <a:p>
            <a:pPr lvl="1" eaLnBrk="1" hangingPunct="1"/>
            <a:r>
              <a:rPr lang="en-IE" altLang="en-US" smtClean="0">
                <a:ea typeface="ＭＳ Ｐゴシック" panose="020B0600070205080204" pitchFamily="34" charset="-128"/>
              </a:rPr>
              <a:t>Similar to image enhancement, but more objective</a:t>
            </a:r>
          </a:p>
          <a:p>
            <a:pPr marL="0" indent="0" eaLnBrk="1" hangingPunct="1">
              <a:buNone/>
            </a:pP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717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216" b="49875"/>
          <a:stretch>
            <a:fillRect/>
          </a:stretch>
        </p:blipFill>
        <p:spPr bwMode="auto">
          <a:xfrm>
            <a:off x="2901950" y="4394201"/>
            <a:ext cx="2509838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34" t="50250" r="20204" b="-1212"/>
          <a:stretch>
            <a:fillRect/>
          </a:stretch>
        </p:blipFill>
        <p:spPr bwMode="auto">
          <a:xfrm>
            <a:off x="6762750" y="4394201"/>
            <a:ext cx="252730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AutoShape 6"/>
          <p:cNvSpPr>
            <a:spLocks noChangeArrowheads="1"/>
          </p:cNvSpPr>
          <p:nvPr/>
        </p:nvSpPr>
        <p:spPr bwMode="auto">
          <a:xfrm>
            <a:off x="5480050" y="5038726"/>
            <a:ext cx="1212850" cy="614363"/>
          </a:xfrm>
          <a:prstGeom prst="rightArrow">
            <a:avLst>
              <a:gd name="adj1" fmla="val 50000"/>
              <a:gd name="adj2" fmla="val 49354"/>
            </a:avLst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40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and Images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grpSp>
        <p:nvGrpSpPr>
          <p:cNvPr id="9218" name="Group 15"/>
          <p:cNvGrpSpPr>
            <a:grpSpLocks/>
          </p:cNvGrpSpPr>
          <p:nvPr/>
        </p:nvGrpSpPr>
        <p:grpSpPr bwMode="auto">
          <a:xfrm>
            <a:off x="6596064" y="1589089"/>
            <a:ext cx="3786187" cy="4924425"/>
            <a:chOff x="3195" y="1001"/>
            <a:chExt cx="2385" cy="3102"/>
          </a:xfrm>
        </p:grpSpPr>
        <p:pic>
          <p:nvPicPr>
            <p:cNvPr id="9220" name="Picture 4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886"/>
            <a:stretch>
              <a:fillRect/>
            </a:stretch>
          </p:blipFill>
          <p:spPr bwMode="auto">
            <a:xfrm>
              <a:off x="4347" y="1001"/>
              <a:ext cx="1233" cy="1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221" name="Group 11"/>
            <p:cNvGrpSpPr>
              <a:grpSpLocks/>
            </p:cNvGrpSpPr>
            <p:nvPr/>
          </p:nvGrpSpPr>
          <p:grpSpPr bwMode="auto">
            <a:xfrm>
              <a:off x="3195" y="1700"/>
              <a:ext cx="2205" cy="1686"/>
              <a:chOff x="3195" y="1700"/>
              <a:chExt cx="2205" cy="1686"/>
            </a:xfrm>
          </p:grpSpPr>
          <p:pic>
            <p:nvPicPr>
              <p:cNvPr id="9223" name="Picture 7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-9352212">
                <a:off x="3584" y="1700"/>
                <a:ext cx="1816" cy="16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224" name="Rectangle 8"/>
              <p:cNvSpPr>
                <a:spLocks noChangeArrowheads="1"/>
              </p:cNvSpPr>
              <p:nvPr/>
            </p:nvSpPr>
            <p:spPr bwMode="auto">
              <a:xfrm rot="-916088">
                <a:off x="3195" y="2464"/>
                <a:ext cx="506" cy="5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180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9222" name="Picture 6" descr="j031145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8" y="2960"/>
              <a:ext cx="1042" cy="1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1" y="1333500"/>
            <a:ext cx="5707063" cy="55245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The sources of noise in digital images arise during image acquisition (digitization) and transmission</a:t>
            </a:r>
          </a:p>
          <a:p>
            <a:pPr lvl="1" eaLnBrk="1" hangingPunct="1"/>
            <a:r>
              <a:rPr lang="en-IE" altLang="en-US" smtClean="0">
                <a:ea typeface="ＭＳ Ｐゴシック" panose="020B0600070205080204" pitchFamily="34" charset="-128"/>
              </a:rPr>
              <a:t>Imaging sensors can be affected by ambient conditions</a:t>
            </a:r>
          </a:p>
          <a:p>
            <a:pPr lvl="1" eaLnBrk="1" hangingPunct="1"/>
            <a:r>
              <a:rPr lang="en-IE" altLang="en-US" smtClean="0">
                <a:ea typeface="ＭＳ Ｐゴシック" panose="020B0600070205080204" pitchFamily="34" charset="-128"/>
              </a:rPr>
              <a:t>Interference can be added </a:t>
            </a:r>
            <a:br>
              <a:rPr lang="en-IE" altLang="en-US" smtClean="0">
                <a:ea typeface="ＭＳ Ｐゴシック" panose="020B0600070205080204" pitchFamily="34" charset="-128"/>
              </a:rPr>
            </a:br>
            <a:r>
              <a:rPr lang="en-IE" altLang="en-US" smtClean="0">
                <a:ea typeface="ＭＳ Ｐゴシック" panose="020B0600070205080204" pitchFamily="34" charset="-128"/>
              </a:rPr>
              <a:t>to an image during transmission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7101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and Images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11266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163" y="1449388"/>
            <a:ext cx="8813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247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and Images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1331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788" y="1474788"/>
            <a:ext cx="8763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222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and Images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1536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25" y="1333500"/>
            <a:ext cx="8585200" cy="543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366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and Images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1741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1174750"/>
            <a:ext cx="8509000" cy="561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8192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Model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We can consider a noisy image to be modelled as follows:</a:t>
            </a:r>
          </a:p>
          <a:p>
            <a:pPr marL="0" indent="0" eaLnBrk="1" hangingPunct="1">
              <a:buNone/>
            </a:pPr>
            <a:endParaRPr lang="en-IE" altLang="en-US" smtClean="0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endParaRPr lang="en-IE" altLang="en-US" smtClean="0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where </a:t>
            </a:r>
            <a:r>
              <a:rPr lang="en-IE" altLang="en-US" i="1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f(x, y)</a:t>
            </a:r>
            <a:r>
              <a:rPr lang="en-IE" altLang="en-US" smtClean="0">
                <a:ea typeface="ＭＳ Ｐゴシック" panose="020B0600070205080204" pitchFamily="34" charset="-128"/>
              </a:rPr>
              <a:t> is the original image pixel,     </a:t>
            </a:r>
            <a:r>
              <a:rPr lang="el-GR" altLang="en-US" i="1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η</a:t>
            </a:r>
            <a:r>
              <a:rPr lang="en-IE" altLang="en-US" i="1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(x, y)</a:t>
            </a:r>
            <a:r>
              <a:rPr lang="en-IE" altLang="en-US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 is the noise term and </a:t>
            </a:r>
            <a:r>
              <a:rPr lang="en-IE" altLang="en-US" i="1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g(x, y)</a:t>
            </a:r>
            <a:r>
              <a:rPr lang="en-IE" altLang="en-US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 is the resulting noisy pixel</a:t>
            </a:r>
          </a:p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If we can estimate the model the noise in an image is based on this will help us to figure out how to restore the image</a:t>
            </a:r>
            <a:endParaRPr lang="el-GR" altLang="en-US" i="1" smtClean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graphicFrame>
        <p:nvGraphicFramePr>
          <p:cNvPr id="19459" name="Object 2"/>
          <p:cNvGraphicFramePr>
            <a:graphicFrameLocks noChangeAspect="1"/>
          </p:cNvGraphicFramePr>
          <p:nvPr/>
        </p:nvGraphicFramePr>
        <p:xfrm>
          <a:off x="2470150" y="2574926"/>
          <a:ext cx="5367338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4" imgW="1612900" imgH="203200" progId="Equation.3">
                  <p:embed/>
                </p:oleObj>
              </mc:Choice>
              <mc:Fallback>
                <p:oleObj name="Equation" r:id="rId4" imgW="1612900" imgH="203200" progId="Equation.3">
                  <p:embed/>
                  <p:pic>
                    <p:nvPicPr>
                      <p:cNvPr id="1945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2574926"/>
                        <a:ext cx="5367338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87617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Corruption Example</a:t>
            </a:r>
            <a:endParaRPr lang="en-GB" altLang="en-US" smtClean="0">
              <a:ea typeface="ＭＳ Ｐゴシック" panose="020B0600070205080204" pitchFamily="34" charset="-128"/>
            </a:endParaRPr>
          </a:p>
        </p:txBody>
      </p:sp>
      <p:grpSp>
        <p:nvGrpSpPr>
          <p:cNvPr id="21506" name="Group 118"/>
          <p:cNvGrpSpPr>
            <a:grpSpLocks/>
          </p:cNvGrpSpPr>
          <p:nvPr/>
        </p:nvGrpSpPr>
        <p:grpSpPr bwMode="auto">
          <a:xfrm>
            <a:off x="6335711" y="1720850"/>
            <a:ext cx="4243386" cy="4219576"/>
            <a:chOff x="3031" y="1084"/>
            <a:chExt cx="2673" cy="2658"/>
          </a:xfrm>
        </p:grpSpPr>
        <p:sp>
          <p:nvSpPr>
            <p:cNvPr id="21563" name="Rectangle 61"/>
            <p:cNvSpPr>
              <a:spLocks noChangeArrowheads="1"/>
            </p:cNvSpPr>
            <p:nvPr/>
          </p:nvSpPr>
          <p:spPr bwMode="auto">
            <a:xfrm>
              <a:off x="3209" y="1328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64" name="Rectangle 62"/>
            <p:cNvSpPr>
              <a:spLocks noChangeArrowheads="1"/>
            </p:cNvSpPr>
            <p:nvPr/>
          </p:nvSpPr>
          <p:spPr bwMode="auto">
            <a:xfrm>
              <a:off x="3506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65" name="Rectangle 63"/>
            <p:cNvSpPr>
              <a:spLocks noChangeArrowheads="1"/>
            </p:cNvSpPr>
            <p:nvPr/>
          </p:nvSpPr>
          <p:spPr bwMode="auto">
            <a:xfrm>
              <a:off x="3801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66" name="Rectangle 64"/>
            <p:cNvSpPr>
              <a:spLocks noChangeArrowheads="1"/>
            </p:cNvSpPr>
            <p:nvPr/>
          </p:nvSpPr>
          <p:spPr bwMode="auto">
            <a:xfrm>
              <a:off x="4096" y="1328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67" name="Rectangle 65"/>
            <p:cNvSpPr>
              <a:spLocks noChangeArrowheads="1"/>
            </p:cNvSpPr>
            <p:nvPr/>
          </p:nvSpPr>
          <p:spPr bwMode="auto">
            <a:xfrm>
              <a:off x="4392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68" name="Rectangle 66"/>
            <p:cNvSpPr>
              <a:spLocks noChangeArrowheads="1"/>
            </p:cNvSpPr>
            <p:nvPr/>
          </p:nvSpPr>
          <p:spPr bwMode="auto">
            <a:xfrm>
              <a:off x="4676" y="1328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69" name="Rectangle 67"/>
            <p:cNvSpPr>
              <a:spLocks noChangeArrowheads="1"/>
            </p:cNvSpPr>
            <p:nvPr/>
          </p:nvSpPr>
          <p:spPr bwMode="auto">
            <a:xfrm>
              <a:off x="4973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70" name="Rectangle 68"/>
            <p:cNvSpPr>
              <a:spLocks noChangeArrowheads="1"/>
            </p:cNvSpPr>
            <p:nvPr/>
          </p:nvSpPr>
          <p:spPr bwMode="auto">
            <a:xfrm>
              <a:off x="3209" y="1618"/>
              <a:ext cx="297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71" name="Rectangle 69"/>
            <p:cNvSpPr>
              <a:spLocks noChangeArrowheads="1"/>
            </p:cNvSpPr>
            <p:nvPr/>
          </p:nvSpPr>
          <p:spPr bwMode="auto">
            <a:xfrm>
              <a:off x="3506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72" name="Rectangle 70"/>
            <p:cNvSpPr>
              <a:spLocks noChangeArrowheads="1"/>
            </p:cNvSpPr>
            <p:nvPr/>
          </p:nvSpPr>
          <p:spPr bwMode="auto">
            <a:xfrm>
              <a:off x="3801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73" name="Rectangle 71"/>
            <p:cNvSpPr>
              <a:spLocks noChangeArrowheads="1"/>
            </p:cNvSpPr>
            <p:nvPr/>
          </p:nvSpPr>
          <p:spPr bwMode="auto">
            <a:xfrm>
              <a:off x="4096" y="1618"/>
              <a:ext cx="296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74" name="Rectangle 72"/>
            <p:cNvSpPr>
              <a:spLocks noChangeArrowheads="1"/>
            </p:cNvSpPr>
            <p:nvPr/>
          </p:nvSpPr>
          <p:spPr bwMode="auto">
            <a:xfrm>
              <a:off x="4392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75" name="Rectangle 73"/>
            <p:cNvSpPr>
              <a:spLocks noChangeArrowheads="1"/>
            </p:cNvSpPr>
            <p:nvPr/>
          </p:nvSpPr>
          <p:spPr bwMode="auto">
            <a:xfrm>
              <a:off x="4676" y="1618"/>
              <a:ext cx="297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76" name="Rectangle 74"/>
            <p:cNvSpPr>
              <a:spLocks noChangeArrowheads="1"/>
            </p:cNvSpPr>
            <p:nvPr/>
          </p:nvSpPr>
          <p:spPr bwMode="auto">
            <a:xfrm>
              <a:off x="4973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77" name="Rectangle 75"/>
            <p:cNvSpPr>
              <a:spLocks noChangeArrowheads="1"/>
            </p:cNvSpPr>
            <p:nvPr/>
          </p:nvSpPr>
          <p:spPr bwMode="auto">
            <a:xfrm>
              <a:off x="3209" y="1915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78" name="Rectangle 76"/>
            <p:cNvSpPr>
              <a:spLocks noChangeArrowheads="1"/>
            </p:cNvSpPr>
            <p:nvPr/>
          </p:nvSpPr>
          <p:spPr bwMode="auto">
            <a:xfrm>
              <a:off x="3506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79" name="Rectangle 77"/>
            <p:cNvSpPr>
              <a:spLocks noChangeArrowheads="1"/>
            </p:cNvSpPr>
            <p:nvPr/>
          </p:nvSpPr>
          <p:spPr bwMode="auto">
            <a:xfrm>
              <a:off x="3801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80" name="Rectangle 78"/>
            <p:cNvSpPr>
              <a:spLocks noChangeArrowheads="1"/>
            </p:cNvSpPr>
            <p:nvPr/>
          </p:nvSpPr>
          <p:spPr bwMode="auto">
            <a:xfrm>
              <a:off x="4096" y="1915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81" name="Rectangle 79"/>
            <p:cNvSpPr>
              <a:spLocks noChangeArrowheads="1"/>
            </p:cNvSpPr>
            <p:nvPr/>
          </p:nvSpPr>
          <p:spPr bwMode="auto">
            <a:xfrm>
              <a:off x="4392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82" name="Rectangle 80"/>
            <p:cNvSpPr>
              <a:spLocks noChangeArrowheads="1"/>
            </p:cNvSpPr>
            <p:nvPr/>
          </p:nvSpPr>
          <p:spPr bwMode="auto">
            <a:xfrm>
              <a:off x="4676" y="1915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83" name="Rectangle 81"/>
            <p:cNvSpPr>
              <a:spLocks noChangeArrowheads="1"/>
            </p:cNvSpPr>
            <p:nvPr/>
          </p:nvSpPr>
          <p:spPr bwMode="auto">
            <a:xfrm>
              <a:off x="4973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84" name="Rectangle 82"/>
            <p:cNvSpPr>
              <a:spLocks noChangeArrowheads="1"/>
            </p:cNvSpPr>
            <p:nvPr/>
          </p:nvSpPr>
          <p:spPr bwMode="auto">
            <a:xfrm>
              <a:off x="3209" y="220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85" name="Rectangle 83"/>
            <p:cNvSpPr>
              <a:spLocks noChangeArrowheads="1"/>
            </p:cNvSpPr>
            <p:nvPr/>
          </p:nvSpPr>
          <p:spPr bwMode="auto">
            <a:xfrm>
              <a:off x="3506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86" name="Rectangle 84"/>
            <p:cNvSpPr>
              <a:spLocks noChangeArrowheads="1"/>
            </p:cNvSpPr>
            <p:nvPr/>
          </p:nvSpPr>
          <p:spPr bwMode="auto">
            <a:xfrm>
              <a:off x="3801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87" name="Rectangle 85"/>
            <p:cNvSpPr>
              <a:spLocks noChangeArrowheads="1"/>
            </p:cNvSpPr>
            <p:nvPr/>
          </p:nvSpPr>
          <p:spPr bwMode="auto">
            <a:xfrm>
              <a:off x="4096" y="2207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88" name="Rectangle 86"/>
            <p:cNvSpPr>
              <a:spLocks noChangeArrowheads="1"/>
            </p:cNvSpPr>
            <p:nvPr/>
          </p:nvSpPr>
          <p:spPr bwMode="auto">
            <a:xfrm>
              <a:off x="4392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89" name="Rectangle 87"/>
            <p:cNvSpPr>
              <a:spLocks noChangeArrowheads="1"/>
            </p:cNvSpPr>
            <p:nvPr/>
          </p:nvSpPr>
          <p:spPr bwMode="auto">
            <a:xfrm>
              <a:off x="4676" y="220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90" name="Rectangle 88"/>
            <p:cNvSpPr>
              <a:spLocks noChangeArrowheads="1"/>
            </p:cNvSpPr>
            <p:nvPr/>
          </p:nvSpPr>
          <p:spPr bwMode="auto">
            <a:xfrm>
              <a:off x="4973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91" name="Rectangle 89"/>
            <p:cNvSpPr>
              <a:spLocks noChangeArrowheads="1"/>
            </p:cNvSpPr>
            <p:nvPr/>
          </p:nvSpPr>
          <p:spPr bwMode="auto">
            <a:xfrm>
              <a:off x="3209" y="248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92" name="Rectangle 90"/>
            <p:cNvSpPr>
              <a:spLocks noChangeArrowheads="1"/>
            </p:cNvSpPr>
            <p:nvPr/>
          </p:nvSpPr>
          <p:spPr bwMode="auto">
            <a:xfrm>
              <a:off x="3506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93" name="Rectangle 91"/>
            <p:cNvSpPr>
              <a:spLocks noChangeArrowheads="1"/>
            </p:cNvSpPr>
            <p:nvPr/>
          </p:nvSpPr>
          <p:spPr bwMode="auto">
            <a:xfrm>
              <a:off x="3801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94" name="Rectangle 92"/>
            <p:cNvSpPr>
              <a:spLocks noChangeArrowheads="1"/>
            </p:cNvSpPr>
            <p:nvPr/>
          </p:nvSpPr>
          <p:spPr bwMode="auto">
            <a:xfrm>
              <a:off x="4096" y="2487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95" name="Rectangle 93"/>
            <p:cNvSpPr>
              <a:spLocks noChangeArrowheads="1"/>
            </p:cNvSpPr>
            <p:nvPr/>
          </p:nvSpPr>
          <p:spPr bwMode="auto">
            <a:xfrm>
              <a:off x="4392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96" name="Rectangle 94"/>
            <p:cNvSpPr>
              <a:spLocks noChangeArrowheads="1"/>
            </p:cNvSpPr>
            <p:nvPr/>
          </p:nvSpPr>
          <p:spPr bwMode="auto">
            <a:xfrm>
              <a:off x="4676" y="248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97" name="Rectangle 95"/>
            <p:cNvSpPr>
              <a:spLocks noChangeArrowheads="1"/>
            </p:cNvSpPr>
            <p:nvPr/>
          </p:nvSpPr>
          <p:spPr bwMode="auto">
            <a:xfrm>
              <a:off x="4973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98" name="Rectangle 96"/>
            <p:cNvSpPr>
              <a:spLocks noChangeArrowheads="1"/>
            </p:cNvSpPr>
            <p:nvPr/>
          </p:nvSpPr>
          <p:spPr bwMode="auto">
            <a:xfrm>
              <a:off x="3209" y="2779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99" name="Rectangle 97"/>
            <p:cNvSpPr>
              <a:spLocks noChangeArrowheads="1"/>
            </p:cNvSpPr>
            <p:nvPr/>
          </p:nvSpPr>
          <p:spPr bwMode="auto">
            <a:xfrm>
              <a:off x="3506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600" name="Rectangle 98"/>
            <p:cNvSpPr>
              <a:spLocks noChangeArrowheads="1"/>
            </p:cNvSpPr>
            <p:nvPr/>
          </p:nvSpPr>
          <p:spPr bwMode="auto">
            <a:xfrm>
              <a:off x="3801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601" name="Rectangle 99"/>
            <p:cNvSpPr>
              <a:spLocks noChangeArrowheads="1"/>
            </p:cNvSpPr>
            <p:nvPr/>
          </p:nvSpPr>
          <p:spPr bwMode="auto">
            <a:xfrm>
              <a:off x="4096" y="2779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602" name="Rectangle 100"/>
            <p:cNvSpPr>
              <a:spLocks noChangeArrowheads="1"/>
            </p:cNvSpPr>
            <p:nvPr/>
          </p:nvSpPr>
          <p:spPr bwMode="auto">
            <a:xfrm>
              <a:off x="4392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603" name="Rectangle 101"/>
            <p:cNvSpPr>
              <a:spLocks noChangeArrowheads="1"/>
            </p:cNvSpPr>
            <p:nvPr/>
          </p:nvSpPr>
          <p:spPr bwMode="auto">
            <a:xfrm>
              <a:off x="4676" y="2779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604" name="Rectangle 102"/>
            <p:cNvSpPr>
              <a:spLocks noChangeArrowheads="1"/>
            </p:cNvSpPr>
            <p:nvPr/>
          </p:nvSpPr>
          <p:spPr bwMode="auto">
            <a:xfrm>
              <a:off x="4973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605" name="Rectangle 103"/>
            <p:cNvSpPr>
              <a:spLocks noChangeArrowheads="1"/>
            </p:cNvSpPr>
            <p:nvPr/>
          </p:nvSpPr>
          <p:spPr bwMode="auto">
            <a:xfrm>
              <a:off x="3209" y="3074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606" name="Rectangle 104"/>
            <p:cNvSpPr>
              <a:spLocks noChangeArrowheads="1"/>
            </p:cNvSpPr>
            <p:nvPr/>
          </p:nvSpPr>
          <p:spPr bwMode="auto">
            <a:xfrm>
              <a:off x="3506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607" name="Rectangle 105"/>
            <p:cNvSpPr>
              <a:spLocks noChangeArrowheads="1"/>
            </p:cNvSpPr>
            <p:nvPr/>
          </p:nvSpPr>
          <p:spPr bwMode="auto">
            <a:xfrm>
              <a:off x="3801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608" name="Rectangle 106"/>
            <p:cNvSpPr>
              <a:spLocks noChangeArrowheads="1"/>
            </p:cNvSpPr>
            <p:nvPr/>
          </p:nvSpPr>
          <p:spPr bwMode="auto">
            <a:xfrm>
              <a:off x="4096" y="3074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609" name="Rectangle 107"/>
            <p:cNvSpPr>
              <a:spLocks noChangeArrowheads="1"/>
            </p:cNvSpPr>
            <p:nvPr/>
          </p:nvSpPr>
          <p:spPr bwMode="auto">
            <a:xfrm>
              <a:off x="4392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610" name="Rectangle 108"/>
            <p:cNvSpPr>
              <a:spLocks noChangeArrowheads="1"/>
            </p:cNvSpPr>
            <p:nvPr/>
          </p:nvSpPr>
          <p:spPr bwMode="auto">
            <a:xfrm>
              <a:off x="4676" y="3074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611" name="Rectangle 109"/>
            <p:cNvSpPr>
              <a:spLocks noChangeArrowheads="1"/>
            </p:cNvSpPr>
            <p:nvPr/>
          </p:nvSpPr>
          <p:spPr bwMode="auto">
            <a:xfrm>
              <a:off x="4973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612" name="Line 110"/>
            <p:cNvSpPr>
              <a:spLocks noChangeShapeType="1"/>
            </p:cNvSpPr>
            <p:nvPr/>
          </p:nvSpPr>
          <p:spPr bwMode="auto">
            <a:xfrm>
              <a:off x="3209" y="1328"/>
              <a:ext cx="230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1613" name="Line 111"/>
            <p:cNvSpPr>
              <a:spLocks noChangeShapeType="1"/>
            </p:cNvSpPr>
            <p:nvPr/>
          </p:nvSpPr>
          <p:spPr bwMode="auto">
            <a:xfrm rot="5400000">
              <a:off x="2037" y="2500"/>
              <a:ext cx="234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1614" name="Text Box 112"/>
            <p:cNvSpPr txBox="1">
              <a:spLocks noChangeArrowheads="1"/>
            </p:cNvSpPr>
            <p:nvPr/>
          </p:nvSpPr>
          <p:spPr bwMode="auto">
            <a:xfrm>
              <a:off x="3154" y="1084"/>
              <a:ext cx="117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Noisy Image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615" name="Text Box 113"/>
            <p:cNvSpPr txBox="1">
              <a:spLocks noChangeArrowheads="1"/>
            </p:cNvSpPr>
            <p:nvPr/>
          </p:nvSpPr>
          <p:spPr bwMode="auto">
            <a:xfrm>
              <a:off x="5394" y="1104"/>
              <a:ext cx="21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616" name="Text Box 114"/>
            <p:cNvSpPr txBox="1">
              <a:spLocks noChangeArrowheads="1"/>
            </p:cNvSpPr>
            <p:nvPr/>
          </p:nvSpPr>
          <p:spPr bwMode="auto">
            <a:xfrm>
              <a:off x="3031" y="3509"/>
              <a:ext cx="23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617" name="Text Box 115"/>
            <p:cNvSpPr txBox="1">
              <a:spLocks noChangeArrowheads="1"/>
            </p:cNvSpPr>
            <p:nvPr/>
          </p:nvSpPr>
          <p:spPr bwMode="auto">
            <a:xfrm>
              <a:off x="4423" y="3361"/>
              <a:ext cx="12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 f (x, y)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</p:grpSp>
      <p:pic>
        <p:nvPicPr>
          <p:cNvPr id="21507" name="Picture 119" descr="MCj031081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900" y="149226"/>
            <a:ext cx="1042988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2044700" y="2093913"/>
            <a:ext cx="471488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2516188" y="20939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2984501" y="20939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3452813" y="2093913"/>
            <a:ext cx="469900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3922713" y="20939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56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4373564" y="2093913"/>
            <a:ext cx="471487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14" name="Rectangle 10"/>
          <p:cNvSpPr>
            <a:spLocks noChangeArrowheads="1"/>
          </p:cNvSpPr>
          <p:nvPr/>
        </p:nvSpPr>
        <p:spPr bwMode="auto">
          <a:xfrm>
            <a:off x="4845051" y="20939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15" name="Rectangle 11"/>
          <p:cNvSpPr>
            <a:spLocks noChangeArrowheads="1"/>
          </p:cNvSpPr>
          <p:nvPr/>
        </p:nvSpPr>
        <p:spPr bwMode="auto">
          <a:xfrm>
            <a:off x="2044700" y="2555875"/>
            <a:ext cx="471488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16" name="Rectangle 12"/>
          <p:cNvSpPr>
            <a:spLocks noChangeArrowheads="1"/>
          </p:cNvSpPr>
          <p:nvPr/>
        </p:nvSpPr>
        <p:spPr bwMode="auto">
          <a:xfrm>
            <a:off x="2516188" y="2555875"/>
            <a:ext cx="468312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17" name="Rectangle 13"/>
          <p:cNvSpPr>
            <a:spLocks noChangeArrowheads="1"/>
          </p:cNvSpPr>
          <p:nvPr/>
        </p:nvSpPr>
        <p:spPr bwMode="auto">
          <a:xfrm>
            <a:off x="2984501" y="2555875"/>
            <a:ext cx="468313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18" name="Rectangle 14"/>
          <p:cNvSpPr>
            <a:spLocks noChangeArrowheads="1"/>
          </p:cNvSpPr>
          <p:nvPr/>
        </p:nvSpPr>
        <p:spPr bwMode="auto">
          <a:xfrm>
            <a:off x="3452813" y="2555875"/>
            <a:ext cx="469900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19" name="Rectangle 15"/>
          <p:cNvSpPr>
            <a:spLocks noChangeArrowheads="1"/>
          </p:cNvSpPr>
          <p:nvPr/>
        </p:nvSpPr>
        <p:spPr bwMode="auto">
          <a:xfrm>
            <a:off x="3922713" y="2555875"/>
            <a:ext cx="468312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20" name="Rectangle 16"/>
          <p:cNvSpPr>
            <a:spLocks noChangeArrowheads="1"/>
          </p:cNvSpPr>
          <p:nvPr/>
        </p:nvSpPr>
        <p:spPr bwMode="auto">
          <a:xfrm>
            <a:off x="4373564" y="2555875"/>
            <a:ext cx="471487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21" name="Rectangle 17"/>
          <p:cNvSpPr>
            <a:spLocks noChangeArrowheads="1"/>
          </p:cNvSpPr>
          <p:nvPr/>
        </p:nvSpPr>
        <p:spPr bwMode="auto">
          <a:xfrm>
            <a:off x="4845051" y="2555875"/>
            <a:ext cx="468313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22" name="Rectangle 18"/>
          <p:cNvSpPr>
            <a:spLocks noChangeArrowheads="1"/>
          </p:cNvSpPr>
          <p:nvPr/>
        </p:nvSpPr>
        <p:spPr bwMode="auto">
          <a:xfrm>
            <a:off x="2044700" y="3025776"/>
            <a:ext cx="471488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23" name="Rectangle 19"/>
          <p:cNvSpPr>
            <a:spLocks noChangeArrowheads="1"/>
          </p:cNvSpPr>
          <p:nvPr/>
        </p:nvSpPr>
        <p:spPr bwMode="auto">
          <a:xfrm>
            <a:off x="2516188" y="30257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24" name="Rectangle 20"/>
          <p:cNvSpPr>
            <a:spLocks noChangeArrowheads="1"/>
          </p:cNvSpPr>
          <p:nvPr/>
        </p:nvSpPr>
        <p:spPr bwMode="auto">
          <a:xfrm>
            <a:off x="2984501" y="30257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25" name="Rectangle 21"/>
          <p:cNvSpPr>
            <a:spLocks noChangeArrowheads="1"/>
          </p:cNvSpPr>
          <p:nvPr/>
        </p:nvSpPr>
        <p:spPr bwMode="auto">
          <a:xfrm>
            <a:off x="3452813" y="3025776"/>
            <a:ext cx="469900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26" name="Rectangle 22"/>
          <p:cNvSpPr>
            <a:spLocks noChangeArrowheads="1"/>
          </p:cNvSpPr>
          <p:nvPr/>
        </p:nvSpPr>
        <p:spPr bwMode="auto">
          <a:xfrm>
            <a:off x="3922713" y="30257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56</a:t>
            </a:r>
          </a:p>
        </p:txBody>
      </p:sp>
      <p:sp>
        <p:nvSpPr>
          <p:cNvPr id="21527" name="Rectangle 23"/>
          <p:cNvSpPr>
            <a:spLocks noChangeArrowheads="1"/>
          </p:cNvSpPr>
          <p:nvPr/>
        </p:nvSpPr>
        <p:spPr bwMode="auto">
          <a:xfrm>
            <a:off x="4373564" y="3025776"/>
            <a:ext cx="471487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28" name="Rectangle 24"/>
          <p:cNvSpPr>
            <a:spLocks noChangeArrowheads="1"/>
          </p:cNvSpPr>
          <p:nvPr/>
        </p:nvSpPr>
        <p:spPr bwMode="auto">
          <a:xfrm>
            <a:off x="4845051" y="30257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29" name="Rectangle 25"/>
          <p:cNvSpPr>
            <a:spLocks noChangeArrowheads="1"/>
          </p:cNvSpPr>
          <p:nvPr/>
        </p:nvSpPr>
        <p:spPr bwMode="auto">
          <a:xfrm>
            <a:off x="2044700" y="3486150"/>
            <a:ext cx="471488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30" name="Rectangle 26"/>
          <p:cNvSpPr>
            <a:spLocks noChangeArrowheads="1"/>
          </p:cNvSpPr>
          <p:nvPr/>
        </p:nvSpPr>
        <p:spPr bwMode="auto">
          <a:xfrm>
            <a:off x="2516188" y="3486150"/>
            <a:ext cx="468312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31" name="Rectangle 27"/>
          <p:cNvSpPr>
            <a:spLocks noChangeArrowheads="1"/>
          </p:cNvSpPr>
          <p:nvPr/>
        </p:nvSpPr>
        <p:spPr bwMode="auto">
          <a:xfrm>
            <a:off x="2984501" y="3486150"/>
            <a:ext cx="468313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32" name="Rectangle 28"/>
          <p:cNvSpPr>
            <a:spLocks noChangeArrowheads="1"/>
          </p:cNvSpPr>
          <p:nvPr/>
        </p:nvSpPr>
        <p:spPr bwMode="auto">
          <a:xfrm>
            <a:off x="3452813" y="3486150"/>
            <a:ext cx="469900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33" name="Rectangle 29"/>
          <p:cNvSpPr>
            <a:spLocks noChangeArrowheads="1"/>
          </p:cNvSpPr>
          <p:nvPr/>
        </p:nvSpPr>
        <p:spPr bwMode="auto">
          <a:xfrm>
            <a:off x="3922713" y="3486150"/>
            <a:ext cx="468312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34" name="Rectangle 30"/>
          <p:cNvSpPr>
            <a:spLocks noChangeArrowheads="1"/>
          </p:cNvSpPr>
          <p:nvPr/>
        </p:nvSpPr>
        <p:spPr bwMode="auto">
          <a:xfrm>
            <a:off x="4373564" y="3486150"/>
            <a:ext cx="471487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35" name="Rectangle 31"/>
          <p:cNvSpPr>
            <a:spLocks noChangeArrowheads="1"/>
          </p:cNvSpPr>
          <p:nvPr/>
        </p:nvSpPr>
        <p:spPr bwMode="auto">
          <a:xfrm>
            <a:off x="4845051" y="3486150"/>
            <a:ext cx="468313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36" name="Rectangle 32"/>
          <p:cNvSpPr>
            <a:spLocks noChangeArrowheads="1"/>
          </p:cNvSpPr>
          <p:nvPr/>
        </p:nvSpPr>
        <p:spPr bwMode="auto">
          <a:xfrm>
            <a:off x="2044700" y="3935413"/>
            <a:ext cx="471488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37" name="Rectangle 33"/>
          <p:cNvSpPr>
            <a:spLocks noChangeArrowheads="1"/>
          </p:cNvSpPr>
          <p:nvPr/>
        </p:nvSpPr>
        <p:spPr bwMode="auto">
          <a:xfrm>
            <a:off x="2516188" y="39354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38" name="Rectangle 34"/>
          <p:cNvSpPr>
            <a:spLocks noChangeArrowheads="1"/>
          </p:cNvSpPr>
          <p:nvPr/>
        </p:nvSpPr>
        <p:spPr bwMode="auto">
          <a:xfrm>
            <a:off x="2984501" y="39354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39" name="Rectangle 35"/>
          <p:cNvSpPr>
            <a:spLocks noChangeArrowheads="1"/>
          </p:cNvSpPr>
          <p:nvPr/>
        </p:nvSpPr>
        <p:spPr bwMode="auto">
          <a:xfrm>
            <a:off x="3452813" y="3935413"/>
            <a:ext cx="469900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40" name="Rectangle 36"/>
          <p:cNvSpPr>
            <a:spLocks noChangeArrowheads="1"/>
          </p:cNvSpPr>
          <p:nvPr/>
        </p:nvSpPr>
        <p:spPr bwMode="auto">
          <a:xfrm>
            <a:off x="3922713" y="39354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41" name="Rectangle 37"/>
          <p:cNvSpPr>
            <a:spLocks noChangeArrowheads="1"/>
          </p:cNvSpPr>
          <p:nvPr/>
        </p:nvSpPr>
        <p:spPr bwMode="auto">
          <a:xfrm>
            <a:off x="4373564" y="3935413"/>
            <a:ext cx="471487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42" name="Rectangle 38"/>
          <p:cNvSpPr>
            <a:spLocks noChangeArrowheads="1"/>
          </p:cNvSpPr>
          <p:nvPr/>
        </p:nvSpPr>
        <p:spPr bwMode="auto">
          <a:xfrm>
            <a:off x="4845051" y="39354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43" name="Rectangle 39"/>
          <p:cNvSpPr>
            <a:spLocks noChangeArrowheads="1"/>
          </p:cNvSpPr>
          <p:nvPr/>
        </p:nvSpPr>
        <p:spPr bwMode="auto">
          <a:xfrm>
            <a:off x="2044700" y="4395789"/>
            <a:ext cx="471488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148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44" name="Rectangle 40"/>
          <p:cNvSpPr>
            <a:spLocks noChangeArrowheads="1"/>
          </p:cNvSpPr>
          <p:nvPr/>
        </p:nvSpPr>
        <p:spPr bwMode="auto">
          <a:xfrm>
            <a:off x="2516188" y="4395789"/>
            <a:ext cx="468312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154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45" name="Rectangle 41"/>
          <p:cNvSpPr>
            <a:spLocks noChangeArrowheads="1"/>
          </p:cNvSpPr>
          <p:nvPr/>
        </p:nvSpPr>
        <p:spPr bwMode="auto">
          <a:xfrm>
            <a:off x="2984501" y="4395789"/>
            <a:ext cx="468313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46" name="Rectangle 42"/>
          <p:cNvSpPr>
            <a:spLocks noChangeArrowheads="1"/>
          </p:cNvSpPr>
          <p:nvPr/>
        </p:nvSpPr>
        <p:spPr bwMode="auto">
          <a:xfrm>
            <a:off x="3452813" y="4395789"/>
            <a:ext cx="469900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160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47" name="Rectangle 43"/>
          <p:cNvSpPr>
            <a:spLocks noChangeArrowheads="1"/>
          </p:cNvSpPr>
          <p:nvPr/>
        </p:nvSpPr>
        <p:spPr bwMode="auto">
          <a:xfrm>
            <a:off x="3922713" y="4395789"/>
            <a:ext cx="468312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163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48" name="Rectangle 44"/>
          <p:cNvSpPr>
            <a:spLocks noChangeArrowheads="1"/>
          </p:cNvSpPr>
          <p:nvPr/>
        </p:nvSpPr>
        <p:spPr bwMode="auto">
          <a:xfrm>
            <a:off x="4373564" y="4395789"/>
            <a:ext cx="471487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167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49" name="Rectangle 45"/>
          <p:cNvSpPr>
            <a:spLocks noChangeArrowheads="1"/>
          </p:cNvSpPr>
          <p:nvPr/>
        </p:nvSpPr>
        <p:spPr bwMode="auto">
          <a:xfrm>
            <a:off x="4845051" y="4395789"/>
            <a:ext cx="468313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170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50" name="Rectangle 46"/>
          <p:cNvSpPr>
            <a:spLocks noChangeArrowheads="1"/>
          </p:cNvSpPr>
          <p:nvPr/>
        </p:nvSpPr>
        <p:spPr bwMode="auto">
          <a:xfrm>
            <a:off x="2044700" y="4867276"/>
            <a:ext cx="471488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51" name="Rectangle 47"/>
          <p:cNvSpPr>
            <a:spLocks noChangeArrowheads="1"/>
          </p:cNvSpPr>
          <p:nvPr/>
        </p:nvSpPr>
        <p:spPr bwMode="auto">
          <a:xfrm>
            <a:off x="2516188" y="48672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52" name="Rectangle 48"/>
          <p:cNvSpPr>
            <a:spLocks noChangeArrowheads="1"/>
          </p:cNvSpPr>
          <p:nvPr/>
        </p:nvSpPr>
        <p:spPr bwMode="auto">
          <a:xfrm>
            <a:off x="2984501" y="48672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159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53" name="Rectangle 49"/>
          <p:cNvSpPr>
            <a:spLocks noChangeArrowheads="1"/>
          </p:cNvSpPr>
          <p:nvPr/>
        </p:nvSpPr>
        <p:spPr bwMode="auto">
          <a:xfrm>
            <a:off x="3452813" y="4867276"/>
            <a:ext cx="469900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162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54" name="Rectangle 50"/>
          <p:cNvSpPr>
            <a:spLocks noChangeArrowheads="1"/>
          </p:cNvSpPr>
          <p:nvPr/>
        </p:nvSpPr>
        <p:spPr bwMode="auto">
          <a:xfrm>
            <a:off x="3922713" y="48672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165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55" name="Rectangle 51"/>
          <p:cNvSpPr>
            <a:spLocks noChangeArrowheads="1"/>
          </p:cNvSpPr>
          <p:nvPr/>
        </p:nvSpPr>
        <p:spPr bwMode="auto">
          <a:xfrm>
            <a:off x="4373564" y="4867276"/>
            <a:ext cx="471487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169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56" name="Rectangle 52"/>
          <p:cNvSpPr>
            <a:spLocks noChangeArrowheads="1"/>
          </p:cNvSpPr>
          <p:nvPr/>
        </p:nvSpPr>
        <p:spPr bwMode="auto">
          <a:xfrm>
            <a:off x="4845051" y="48672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172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21557" name="Line 53"/>
          <p:cNvSpPr>
            <a:spLocks noChangeShapeType="1"/>
          </p:cNvSpPr>
          <p:nvPr/>
        </p:nvSpPr>
        <p:spPr bwMode="auto">
          <a:xfrm>
            <a:off x="2044700" y="2093913"/>
            <a:ext cx="3657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1558" name="Line 54"/>
          <p:cNvSpPr>
            <a:spLocks noChangeShapeType="1"/>
          </p:cNvSpPr>
          <p:nvPr/>
        </p:nvSpPr>
        <p:spPr bwMode="auto">
          <a:xfrm rot="5400000">
            <a:off x="184944" y="3953669"/>
            <a:ext cx="3719512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1559" name="Text Box 55"/>
          <p:cNvSpPr txBox="1">
            <a:spLocks noChangeArrowheads="1"/>
          </p:cNvSpPr>
          <p:nvPr/>
        </p:nvSpPr>
        <p:spPr bwMode="auto">
          <a:xfrm>
            <a:off x="1917700" y="1720850"/>
            <a:ext cx="22012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Original Image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60" name="Text Box 56"/>
          <p:cNvSpPr txBox="1">
            <a:spLocks noChangeArrowheads="1"/>
          </p:cNvSpPr>
          <p:nvPr/>
        </p:nvSpPr>
        <p:spPr bwMode="auto">
          <a:xfrm>
            <a:off x="5513388" y="1752600"/>
            <a:ext cx="3449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x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61" name="Text Box 57"/>
          <p:cNvSpPr txBox="1">
            <a:spLocks noChangeArrowheads="1"/>
          </p:cNvSpPr>
          <p:nvPr/>
        </p:nvSpPr>
        <p:spPr bwMode="auto">
          <a:xfrm>
            <a:off x="1762125" y="5556250"/>
            <a:ext cx="3690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y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62" name="Text Box 58"/>
          <p:cNvSpPr txBox="1">
            <a:spLocks noChangeArrowheads="1"/>
          </p:cNvSpPr>
          <p:nvPr/>
        </p:nvSpPr>
        <p:spPr bwMode="auto">
          <a:xfrm>
            <a:off x="3963989" y="5335588"/>
            <a:ext cx="20329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Image f (x, y)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584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Models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2355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263" y="1039813"/>
            <a:ext cx="8661400" cy="576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650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Models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2560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088" y="1357313"/>
            <a:ext cx="8813800" cy="515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67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Models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grpSp>
        <p:nvGrpSpPr>
          <p:cNvPr id="27650" name="Group 12"/>
          <p:cNvGrpSpPr>
            <a:grpSpLocks/>
          </p:cNvGrpSpPr>
          <p:nvPr/>
        </p:nvGrpSpPr>
        <p:grpSpPr bwMode="auto">
          <a:xfrm>
            <a:off x="6773864" y="1279526"/>
            <a:ext cx="3889375" cy="5535613"/>
            <a:chOff x="3137" y="806"/>
            <a:chExt cx="2450" cy="3487"/>
          </a:xfrm>
        </p:grpSpPr>
        <p:pic>
          <p:nvPicPr>
            <p:cNvPr id="27655" name="Picture 4"/>
            <p:cNvPicPr>
              <a:picLocks noChangeAspect="1" noChangeArrowheads="1"/>
            </p:cNvPicPr>
            <p:nvPr/>
          </p:nvPicPr>
          <p:blipFill>
            <a:blip r:embed="rId3">
              <a:lum bright="-42000" contras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7" y="806"/>
              <a:ext cx="2404" cy="3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56" name="Text Box 5"/>
            <p:cNvSpPr txBox="1">
              <a:spLocks noChangeArrowheads="1"/>
            </p:cNvSpPr>
            <p:nvPr/>
          </p:nvSpPr>
          <p:spPr bwMode="auto">
            <a:xfrm>
              <a:off x="3929" y="1115"/>
              <a:ext cx="477" cy="1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400">
                  <a:solidFill>
                    <a:srgbClr val="000000"/>
                  </a:solidFill>
                </a:rPr>
                <a:t>Gaussian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7657" name="Text Box 6"/>
            <p:cNvSpPr txBox="1">
              <a:spLocks noChangeArrowheads="1"/>
            </p:cNvSpPr>
            <p:nvPr/>
          </p:nvSpPr>
          <p:spPr bwMode="auto">
            <a:xfrm>
              <a:off x="4848" y="1116"/>
              <a:ext cx="439" cy="1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400">
                  <a:solidFill>
                    <a:srgbClr val="000000"/>
                  </a:solidFill>
                </a:rPr>
                <a:t>Rayleigh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7658" name="Text Box 7"/>
            <p:cNvSpPr txBox="1">
              <a:spLocks noChangeArrowheads="1"/>
            </p:cNvSpPr>
            <p:nvPr/>
          </p:nvSpPr>
          <p:spPr bwMode="auto">
            <a:xfrm>
              <a:off x="3589" y="2269"/>
              <a:ext cx="326" cy="1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400">
                  <a:solidFill>
                    <a:srgbClr val="000000"/>
                  </a:solidFill>
                </a:rPr>
                <a:t>Erlang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7659" name="Text Box 8"/>
            <p:cNvSpPr txBox="1">
              <a:spLocks noChangeArrowheads="1"/>
            </p:cNvSpPr>
            <p:nvPr/>
          </p:nvSpPr>
          <p:spPr bwMode="auto">
            <a:xfrm>
              <a:off x="4597" y="2269"/>
              <a:ext cx="590" cy="1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400">
                  <a:solidFill>
                    <a:srgbClr val="000000"/>
                  </a:solidFill>
                </a:rPr>
                <a:t>Exponential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7660" name="Text Box 9"/>
            <p:cNvSpPr txBox="1">
              <a:spLocks noChangeArrowheads="1"/>
            </p:cNvSpPr>
            <p:nvPr/>
          </p:nvSpPr>
          <p:spPr bwMode="auto">
            <a:xfrm>
              <a:off x="3842" y="3305"/>
              <a:ext cx="395" cy="1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400">
                  <a:solidFill>
                    <a:srgbClr val="000000"/>
                  </a:solidFill>
                </a:rPr>
                <a:t>Uniform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7661" name="Text Box 10"/>
            <p:cNvSpPr txBox="1">
              <a:spLocks noChangeArrowheads="1"/>
            </p:cNvSpPr>
            <p:nvPr/>
          </p:nvSpPr>
          <p:spPr bwMode="auto">
            <a:xfrm>
              <a:off x="5192" y="3494"/>
              <a:ext cx="395" cy="1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400">
                  <a:solidFill>
                    <a:srgbClr val="000000"/>
                  </a:solidFill>
                </a:rPr>
                <a:t>Impulse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7662" name="Rectangle 11"/>
            <p:cNvSpPr>
              <a:spLocks noChangeArrowheads="1"/>
            </p:cNvSpPr>
            <p:nvPr/>
          </p:nvSpPr>
          <p:spPr bwMode="auto">
            <a:xfrm>
              <a:off x="4068" y="3483"/>
              <a:ext cx="243" cy="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</p:grpSp>
      <p:grpSp>
        <p:nvGrpSpPr>
          <p:cNvPr id="27651" name="Group 13"/>
          <p:cNvGrpSpPr>
            <a:grpSpLocks/>
          </p:cNvGrpSpPr>
          <p:nvPr/>
        </p:nvGrpSpPr>
        <p:grpSpPr bwMode="auto">
          <a:xfrm>
            <a:off x="1520825" y="1631951"/>
            <a:ext cx="260350" cy="5229225"/>
            <a:chOff x="-2" y="1034"/>
            <a:chExt cx="164" cy="3294"/>
          </a:xfrm>
        </p:grpSpPr>
        <p:pic>
          <p:nvPicPr>
            <p:cNvPr id="27653" name="Picture 14" descr="book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54" name="Rectangle 15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  <a:endParaRPr lang="en-US" altLang="en-US" sz="1200">
                <a:solidFill>
                  <a:srgbClr val="FFFFFF"/>
                </a:solidFill>
              </a:endParaRPr>
            </a:p>
          </p:txBody>
        </p:sp>
      </p:grpSp>
      <p:sp>
        <p:nvSpPr>
          <p:cNvPr id="27652" name="Rectangle 17"/>
          <p:cNvSpPr>
            <a:spLocks noGrp="1" noChangeArrowheads="1"/>
          </p:cNvSpPr>
          <p:nvPr>
            <p:ph type="body" idx="1"/>
          </p:nvPr>
        </p:nvSpPr>
        <p:spPr>
          <a:xfrm>
            <a:off x="1981200" y="1333500"/>
            <a:ext cx="5138738" cy="55245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There are many different models for the image </a:t>
            </a:r>
            <a:br>
              <a:rPr lang="en-IE" altLang="en-US" smtClean="0">
                <a:ea typeface="ＭＳ Ｐゴシック" panose="020B0600070205080204" pitchFamily="34" charset="-128"/>
              </a:rPr>
            </a:br>
            <a:r>
              <a:rPr lang="en-IE" altLang="en-US" smtClean="0">
                <a:ea typeface="ＭＳ Ｐゴシック" panose="020B0600070205080204" pitchFamily="34" charset="-128"/>
              </a:rPr>
              <a:t>noise term </a:t>
            </a:r>
            <a:r>
              <a:rPr lang="el-GR" altLang="en-US" i="1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η</a:t>
            </a:r>
            <a:r>
              <a:rPr lang="en-IE" altLang="en-US" i="1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(x, y)</a:t>
            </a:r>
            <a:r>
              <a:rPr lang="en-IE" altLang="en-US" smtClean="0">
                <a:ea typeface="ＭＳ Ｐゴシック" panose="020B0600070205080204" pitchFamily="34" charset="-128"/>
              </a:rPr>
              <a:t>:</a:t>
            </a:r>
          </a:p>
          <a:p>
            <a:pPr lvl="1" eaLnBrk="1" hangingPunct="1"/>
            <a:r>
              <a:rPr lang="en-IE" altLang="en-US" smtClean="0">
                <a:ea typeface="ＭＳ Ｐゴシック" panose="020B0600070205080204" pitchFamily="34" charset="-128"/>
              </a:rPr>
              <a:t>Gaussian</a:t>
            </a:r>
          </a:p>
          <a:p>
            <a:pPr lvl="2" eaLnBrk="1" hangingPunct="1"/>
            <a:r>
              <a:rPr lang="en-IE" altLang="en-US" smtClean="0">
                <a:ea typeface="ＭＳ Ｐゴシック" panose="020B0600070205080204" pitchFamily="34" charset="-128"/>
              </a:rPr>
              <a:t>Most common model</a:t>
            </a:r>
          </a:p>
          <a:p>
            <a:pPr lvl="1" eaLnBrk="1" hangingPunct="1"/>
            <a:r>
              <a:rPr lang="en-IE" altLang="en-US" smtClean="0">
                <a:ea typeface="ＭＳ Ｐゴシック" panose="020B0600070205080204" pitchFamily="34" charset="-128"/>
              </a:rPr>
              <a:t>Rayleigh</a:t>
            </a:r>
          </a:p>
          <a:p>
            <a:pPr lvl="1" eaLnBrk="1" hangingPunct="1"/>
            <a:r>
              <a:rPr lang="en-IE" altLang="en-US" smtClean="0">
                <a:ea typeface="ＭＳ Ｐゴシック" panose="020B0600070205080204" pitchFamily="34" charset="-128"/>
              </a:rPr>
              <a:t>Erlang</a:t>
            </a:r>
          </a:p>
          <a:p>
            <a:pPr lvl="1" eaLnBrk="1" hangingPunct="1"/>
            <a:r>
              <a:rPr lang="en-IE" altLang="en-US" smtClean="0">
                <a:ea typeface="ＭＳ Ｐゴシック" panose="020B0600070205080204" pitchFamily="34" charset="-128"/>
              </a:rPr>
              <a:t>Exponential</a:t>
            </a:r>
          </a:p>
          <a:p>
            <a:pPr lvl="1" eaLnBrk="1" hangingPunct="1"/>
            <a:r>
              <a:rPr lang="en-IE" altLang="en-US" smtClean="0">
                <a:ea typeface="ＭＳ Ｐゴシック" panose="020B0600070205080204" pitchFamily="34" charset="-128"/>
              </a:rPr>
              <a:t>Uniform</a:t>
            </a:r>
          </a:p>
          <a:p>
            <a:pPr lvl="1" eaLnBrk="1" hangingPunct="1"/>
            <a:r>
              <a:rPr lang="en-IE" altLang="en-US" smtClean="0">
                <a:ea typeface="ＭＳ Ｐゴシック" panose="020B0600070205080204" pitchFamily="34" charset="-128"/>
              </a:rPr>
              <a:t>Impulse</a:t>
            </a:r>
          </a:p>
          <a:p>
            <a:pPr lvl="2" eaLnBrk="1" hangingPunct="1"/>
            <a:r>
              <a:rPr lang="en-IE" altLang="en-US" i="1" smtClean="0">
                <a:ea typeface="ＭＳ Ｐゴシック" panose="020B0600070205080204" pitchFamily="34" charset="-128"/>
              </a:rPr>
              <a:t>Salt and pepper</a:t>
            </a:r>
            <a:r>
              <a:rPr lang="en-IE" altLang="en-US" smtClean="0">
                <a:ea typeface="ＭＳ Ｐゴシック" panose="020B0600070205080204" pitchFamily="34" charset="-128"/>
              </a:rPr>
              <a:t> noise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5761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Models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29698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363" y="1065213"/>
            <a:ext cx="8813800" cy="574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860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Models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31746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25" y="1255713"/>
            <a:ext cx="88138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4694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Models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3379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220788"/>
            <a:ext cx="8788400" cy="55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245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Models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3584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25" y="1268413"/>
            <a:ext cx="8813800" cy="553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632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Models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37890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163" y="1311275"/>
            <a:ext cx="88392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1351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Models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3993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1306513"/>
            <a:ext cx="8915400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954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Example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333500"/>
            <a:ext cx="5753100" cy="55245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The test pattern to the right is ideal for demonstrating the addition of noise</a:t>
            </a:r>
          </a:p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The following slides will show the result of adding noise based on various models to this image 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4198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633"/>
          <a:stretch>
            <a:fillRect/>
          </a:stretch>
        </p:blipFill>
        <p:spPr bwMode="auto">
          <a:xfrm>
            <a:off x="7729538" y="1304926"/>
            <a:ext cx="2474912" cy="245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988" name="Group 5"/>
          <p:cNvGrpSpPr>
            <a:grpSpLocks/>
          </p:cNvGrpSpPr>
          <p:nvPr/>
        </p:nvGrpSpPr>
        <p:grpSpPr bwMode="auto">
          <a:xfrm>
            <a:off x="1520825" y="1631951"/>
            <a:ext cx="260350" cy="5229225"/>
            <a:chOff x="-2" y="1034"/>
            <a:chExt cx="164" cy="3294"/>
          </a:xfrm>
        </p:grpSpPr>
        <p:pic>
          <p:nvPicPr>
            <p:cNvPr id="41997" name="Picture 6" descr="book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998" name="Rectangle 7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  <a:endParaRPr lang="en-US" altLang="en-US"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41989" name="Group 15"/>
          <p:cNvGrpSpPr>
            <a:grpSpLocks/>
          </p:cNvGrpSpPr>
          <p:nvPr/>
        </p:nvGrpSpPr>
        <p:grpSpPr bwMode="auto">
          <a:xfrm>
            <a:off x="7767639" y="4041776"/>
            <a:ext cx="2371725" cy="2486025"/>
            <a:chOff x="3933" y="2546"/>
            <a:chExt cx="1494" cy="1566"/>
          </a:xfrm>
        </p:grpSpPr>
        <p:sp>
          <p:nvSpPr>
            <p:cNvPr id="41992" name="Rectangle 8"/>
            <p:cNvSpPr>
              <a:spLocks noChangeArrowheads="1"/>
            </p:cNvSpPr>
            <p:nvPr/>
          </p:nvSpPr>
          <p:spPr bwMode="auto">
            <a:xfrm>
              <a:off x="3953" y="2582"/>
              <a:ext cx="1449" cy="153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>
                  <a:solidFill>
                    <a:srgbClr val="000000"/>
                  </a:solidFill>
                </a:rPr>
                <a:t>Histogram to go here</a:t>
              </a: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41993" name="Rectangle 9"/>
            <p:cNvSpPr>
              <a:spLocks noChangeArrowheads="1"/>
            </p:cNvSpPr>
            <p:nvPr/>
          </p:nvSpPr>
          <p:spPr bwMode="auto">
            <a:xfrm>
              <a:off x="3933" y="2546"/>
              <a:ext cx="1494" cy="1566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41994" name="Line 10"/>
            <p:cNvSpPr>
              <a:spLocks noChangeShapeType="1"/>
            </p:cNvSpPr>
            <p:nvPr/>
          </p:nvSpPr>
          <p:spPr bwMode="auto">
            <a:xfrm flipV="1">
              <a:off x="4005" y="2771"/>
              <a:ext cx="0" cy="1341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995" name="Line 11"/>
            <p:cNvSpPr>
              <a:spLocks noChangeShapeType="1"/>
            </p:cNvSpPr>
            <p:nvPr/>
          </p:nvSpPr>
          <p:spPr bwMode="auto">
            <a:xfrm flipV="1">
              <a:off x="4667" y="2888"/>
              <a:ext cx="0" cy="122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996" name="Line 12"/>
            <p:cNvSpPr>
              <a:spLocks noChangeShapeType="1"/>
            </p:cNvSpPr>
            <p:nvPr/>
          </p:nvSpPr>
          <p:spPr bwMode="auto">
            <a:xfrm flipV="1">
              <a:off x="5330" y="2978"/>
              <a:ext cx="0" cy="113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41990" name="Text Box 13"/>
          <p:cNvSpPr txBox="1">
            <a:spLocks noChangeArrowheads="1"/>
          </p:cNvSpPr>
          <p:nvPr/>
        </p:nvSpPr>
        <p:spPr bwMode="auto">
          <a:xfrm>
            <a:off x="8562975" y="3679826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Image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41991" name="Text Box 14"/>
          <p:cNvSpPr txBox="1">
            <a:spLocks noChangeArrowheads="1"/>
          </p:cNvSpPr>
          <p:nvPr/>
        </p:nvSpPr>
        <p:spPr bwMode="auto">
          <a:xfrm>
            <a:off x="8339138" y="6529388"/>
            <a:ext cx="1225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Histogram</a:t>
            </a:r>
            <a:endParaRPr lang="en-GB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94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Example (cont…)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4403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27"/>
          <a:stretch>
            <a:fillRect/>
          </a:stretch>
        </p:blipFill>
        <p:spPr bwMode="auto">
          <a:xfrm>
            <a:off x="2462213" y="1439864"/>
            <a:ext cx="7256462" cy="511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4035" name="Group 5"/>
          <p:cNvGrpSpPr>
            <a:grpSpLocks/>
          </p:cNvGrpSpPr>
          <p:nvPr/>
        </p:nvGrpSpPr>
        <p:grpSpPr bwMode="auto">
          <a:xfrm>
            <a:off x="1520825" y="1631951"/>
            <a:ext cx="260350" cy="5229225"/>
            <a:chOff x="-2" y="1034"/>
            <a:chExt cx="164" cy="3294"/>
          </a:xfrm>
        </p:grpSpPr>
        <p:pic>
          <p:nvPicPr>
            <p:cNvPr id="44039" name="Picture 6" descr="book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40" name="Rectangle 7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  <a:endParaRPr lang="en-US" altLang="en-US" sz="1200">
                <a:solidFill>
                  <a:srgbClr val="FFFFFF"/>
                </a:solidFill>
              </a:endParaRPr>
            </a:p>
          </p:txBody>
        </p:sp>
      </p:grpSp>
      <p:sp>
        <p:nvSpPr>
          <p:cNvPr id="44036" name="Text Box 8"/>
          <p:cNvSpPr txBox="1">
            <a:spLocks noChangeArrowheads="1"/>
          </p:cNvSpPr>
          <p:nvPr/>
        </p:nvSpPr>
        <p:spPr bwMode="auto">
          <a:xfrm>
            <a:off x="3181350" y="6257926"/>
            <a:ext cx="11493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Gaussian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44037" name="Text Box 9"/>
          <p:cNvSpPr txBox="1">
            <a:spLocks noChangeArrowheads="1"/>
          </p:cNvSpPr>
          <p:nvPr/>
        </p:nvSpPr>
        <p:spPr bwMode="auto">
          <a:xfrm>
            <a:off x="5572125" y="6257926"/>
            <a:ext cx="10731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Rayleigh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44038" name="Text Box 10"/>
          <p:cNvSpPr txBox="1">
            <a:spLocks noChangeArrowheads="1"/>
          </p:cNvSpPr>
          <p:nvPr/>
        </p:nvSpPr>
        <p:spPr bwMode="auto">
          <a:xfrm>
            <a:off x="8112125" y="6257926"/>
            <a:ext cx="8445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Erlang</a:t>
            </a:r>
            <a:endParaRPr lang="en-US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58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Example (cont…)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4608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20"/>
          <a:stretch>
            <a:fillRect/>
          </a:stretch>
        </p:blipFill>
        <p:spPr bwMode="auto">
          <a:xfrm>
            <a:off x="2500313" y="1438276"/>
            <a:ext cx="7180262" cy="512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6083" name="Group 5"/>
          <p:cNvGrpSpPr>
            <a:grpSpLocks/>
          </p:cNvGrpSpPr>
          <p:nvPr/>
        </p:nvGrpSpPr>
        <p:grpSpPr bwMode="auto">
          <a:xfrm>
            <a:off x="1520825" y="1631951"/>
            <a:ext cx="260350" cy="5229225"/>
            <a:chOff x="-2" y="1034"/>
            <a:chExt cx="164" cy="3294"/>
          </a:xfrm>
        </p:grpSpPr>
        <p:pic>
          <p:nvPicPr>
            <p:cNvPr id="46119" name="Picture 6" descr="book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120" name="Rectangle 7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  <a:endParaRPr lang="en-US" altLang="en-US" sz="1200">
                <a:solidFill>
                  <a:srgbClr val="FFFFFF"/>
                </a:solidFill>
              </a:endParaRPr>
            </a:p>
          </p:txBody>
        </p:sp>
      </p:grpSp>
      <p:sp>
        <p:nvSpPr>
          <p:cNvPr id="46084" name="Text Box 8"/>
          <p:cNvSpPr txBox="1">
            <a:spLocks noChangeArrowheads="1"/>
          </p:cNvSpPr>
          <p:nvPr/>
        </p:nvSpPr>
        <p:spPr bwMode="auto">
          <a:xfrm>
            <a:off x="3067050" y="6257926"/>
            <a:ext cx="13779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Exponential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46085" name="Text Box 9"/>
          <p:cNvSpPr txBox="1">
            <a:spLocks noChangeArrowheads="1"/>
          </p:cNvSpPr>
          <p:nvPr/>
        </p:nvSpPr>
        <p:spPr bwMode="auto">
          <a:xfrm>
            <a:off x="5572125" y="6257926"/>
            <a:ext cx="9842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Uniform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46086" name="Text Box 10"/>
          <p:cNvSpPr txBox="1">
            <a:spLocks noChangeArrowheads="1"/>
          </p:cNvSpPr>
          <p:nvPr/>
        </p:nvSpPr>
        <p:spPr bwMode="auto">
          <a:xfrm>
            <a:off x="7875588" y="6257926"/>
            <a:ext cx="1223962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Impulse</a:t>
            </a:r>
            <a:endParaRPr lang="en-US" altLang="en-US" sz="1800">
              <a:solidFill>
                <a:srgbClr val="000000"/>
              </a:solidFill>
            </a:endParaRPr>
          </a:p>
        </p:txBody>
      </p:sp>
      <p:grpSp>
        <p:nvGrpSpPr>
          <p:cNvPr id="46087" name="Group 20"/>
          <p:cNvGrpSpPr>
            <a:grpSpLocks/>
          </p:cNvGrpSpPr>
          <p:nvPr/>
        </p:nvGrpSpPr>
        <p:grpSpPr bwMode="auto">
          <a:xfrm>
            <a:off x="7342188" y="3876676"/>
            <a:ext cx="2303462" cy="2314575"/>
            <a:chOff x="3665" y="2442"/>
            <a:chExt cx="1451" cy="1458"/>
          </a:xfrm>
        </p:grpSpPr>
        <p:sp>
          <p:nvSpPr>
            <p:cNvPr id="46114" name="Rectangle 13"/>
            <p:cNvSpPr>
              <a:spLocks noChangeArrowheads="1"/>
            </p:cNvSpPr>
            <p:nvPr/>
          </p:nvSpPr>
          <p:spPr bwMode="auto">
            <a:xfrm>
              <a:off x="3684" y="2476"/>
              <a:ext cx="1408" cy="142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>
                  <a:solidFill>
                    <a:srgbClr val="000000"/>
                  </a:solidFill>
                </a:rPr>
                <a:t>Histogram to go here</a:t>
              </a: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46115" name="Rectangle 14"/>
            <p:cNvSpPr>
              <a:spLocks noChangeArrowheads="1"/>
            </p:cNvSpPr>
            <p:nvPr/>
          </p:nvSpPr>
          <p:spPr bwMode="auto">
            <a:xfrm>
              <a:off x="3665" y="2442"/>
              <a:ext cx="1451" cy="145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46116" name="Line 15"/>
            <p:cNvSpPr>
              <a:spLocks noChangeShapeType="1"/>
            </p:cNvSpPr>
            <p:nvPr/>
          </p:nvSpPr>
          <p:spPr bwMode="auto">
            <a:xfrm flipV="1">
              <a:off x="3735" y="2651"/>
              <a:ext cx="0" cy="1249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6117" name="Line 16"/>
            <p:cNvSpPr>
              <a:spLocks noChangeShapeType="1"/>
            </p:cNvSpPr>
            <p:nvPr/>
          </p:nvSpPr>
          <p:spPr bwMode="auto">
            <a:xfrm flipV="1">
              <a:off x="4378" y="2760"/>
              <a:ext cx="0" cy="114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6118" name="Line 17"/>
            <p:cNvSpPr>
              <a:spLocks noChangeShapeType="1"/>
            </p:cNvSpPr>
            <p:nvPr/>
          </p:nvSpPr>
          <p:spPr bwMode="auto">
            <a:xfrm flipV="1">
              <a:off x="5022" y="2844"/>
              <a:ext cx="0" cy="1056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46088" name="Line 19"/>
          <p:cNvSpPr>
            <a:spLocks noChangeShapeType="1"/>
          </p:cNvSpPr>
          <p:nvPr/>
        </p:nvSpPr>
        <p:spPr bwMode="auto">
          <a:xfrm flipV="1">
            <a:off x="9401175" y="6121400"/>
            <a:ext cx="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089" name="Line 21"/>
          <p:cNvSpPr>
            <a:spLocks noChangeShapeType="1"/>
          </p:cNvSpPr>
          <p:nvPr/>
        </p:nvSpPr>
        <p:spPr bwMode="auto">
          <a:xfrm flipV="1">
            <a:off x="9264650" y="6134100"/>
            <a:ext cx="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090" name="Line 22"/>
          <p:cNvSpPr>
            <a:spLocks noChangeShapeType="1"/>
          </p:cNvSpPr>
          <p:nvPr/>
        </p:nvSpPr>
        <p:spPr bwMode="auto">
          <a:xfrm flipV="1">
            <a:off x="8856663" y="6127750"/>
            <a:ext cx="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091" name="Line 23"/>
          <p:cNvSpPr>
            <a:spLocks noChangeShapeType="1"/>
          </p:cNvSpPr>
          <p:nvPr/>
        </p:nvSpPr>
        <p:spPr bwMode="auto">
          <a:xfrm flipV="1">
            <a:off x="7554913" y="6146800"/>
            <a:ext cx="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092" name="Line 24"/>
          <p:cNvSpPr>
            <a:spLocks noChangeShapeType="1"/>
          </p:cNvSpPr>
          <p:nvPr/>
        </p:nvSpPr>
        <p:spPr bwMode="auto">
          <a:xfrm flipV="1">
            <a:off x="9128125" y="6127750"/>
            <a:ext cx="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093" name="Line 25"/>
          <p:cNvSpPr>
            <a:spLocks noChangeShapeType="1"/>
          </p:cNvSpPr>
          <p:nvPr/>
        </p:nvSpPr>
        <p:spPr bwMode="auto">
          <a:xfrm flipV="1">
            <a:off x="8993188" y="6121400"/>
            <a:ext cx="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094" name="Line 27"/>
          <p:cNvSpPr>
            <a:spLocks noChangeShapeType="1"/>
          </p:cNvSpPr>
          <p:nvPr/>
        </p:nvSpPr>
        <p:spPr bwMode="auto">
          <a:xfrm flipV="1">
            <a:off x="8370888" y="6134100"/>
            <a:ext cx="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095" name="Line 28"/>
          <p:cNvSpPr>
            <a:spLocks noChangeShapeType="1"/>
          </p:cNvSpPr>
          <p:nvPr/>
        </p:nvSpPr>
        <p:spPr bwMode="auto">
          <a:xfrm flipV="1">
            <a:off x="8234363" y="6172200"/>
            <a:ext cx="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096" name="Line 29"/>
          <p:cNvSpPr>
            <a:spLocks noChangeShapeType="1"/>
          </p:cNvSpPr>
          <p:nvPr/>
        </p:nvSpPr>
        <p:spPr bwMode="auto">
          <a:xfrm flipV="1">
            <a:off x="7691438" y="6127750"/>
            <a:ext cx="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097" name="Line 30"/>
          <p:cNvSpPr>
            <a:spLocks noChangeShapeType="1"/>
          </p:cNvSpPr>
          <p:nvPr/>
        </p:nvSpPr>
        <p:spPr bwMode="auto">
          <a:xfrm flipV="1">
            <a:off x="8721725" y="6159500"/>
            <a:ext cx="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098" name="Line 31"/>
          <p:cNvSpPr>
            <a:spLocks noChangeShapeType="1"/>
          </p:cNvSpPr>
          <p:nvPr/>
        </p:nvSpPr>
        <p:spPr bwMode="auto">
          <a:xfrm flipV="1">
            <a:off x="8585200" y="6127750"/>
            <a:ext cx="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099" name="Line 32"/>
          <p:cNvSpPr>
            <a:spLocks noChangeShapeType="1"/>
          </p:cNvSpPr>
          <p:nvPr/>
        </p:nvSpPr>
        <p:spPr bwMode="auto">
          <a:xfrm flipV="1">
            <a:off x="8099425" y="6134100"/>
            <a:ext cx="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100" name="Line 33"/>
          <p:cNvSpPr>
            <a:spLocks noChangeShapeType="1"/>
          </p:cNvSpPr>
          <p:nvPr/>
        </p:nvSpPr>
        <p:spPr bwMode="auto">
          <a:xfrm flipV="1">
            <a:off x="7962900" y="6127750"/>
            <a:ext cx="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101" name="Line 34"/>
          <p:cNvSpPr>
            <a:spLocks noChangeShapeType="1"/>
          </p:cNvSpPr>
          <p:nvPr/>
        </p:nvSpPr>
        <p:spPr bwMode="auto">
          <a:xfrm flipV="1">
            <a:off x="7826375" y="6153150"/>
            <a:ext cx="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102" name="Line 36"/>
          <p:cNvSpPr>
            <a:spLocks noChangeShapeType="1"/>
          </p:cNvSpPr>
          <p:nvPr/>
        </p:nvSpPr>
        <p:spPr bwMode="auto">
          <a:xfrm flipV="1">
            <a:off x="9331325" y="6089650"/>
            <a:ext cx="0" cy="1143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103" name="Line 37"/>
          <p:cNvSpPr>
            <a:spLocks noChangeShapeType="1"/>
          </p:cNvSpPr>
          <p:nvPr/>
        </p:nvSpPr>
        <p:spPr bwMode="auto">
          <a:xfrm flipV="1">
            <a:off x="9194800" y="6165850"/>
            <a:ext cx="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104" name="Line 38"/>
          <p:cNvSpPr>
            <a:spLocks noChangeShapeType="1"/>
          </p:cNvSpPr>
          <p:nvPr/>
        </p:nvSpPr>
        <p:spPr bwMode="auto">
          <a:xfrm flipV="1">
            <a:off x="8786813" y="6140450"/>
            <a:ext cx="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105" name="Line 40"/>
          <p:cNvSpPr>
            <a:spLocks noChangeShapeType="1"/>
          </p:cNvSpPr>
          <p:nvPr/>
        </p:nvSpPr>
        <p:spPr bwMode="auto">
          <a:xfrm flipV="1">
            <a:off x="9058275" y="6096000"/>
            <a:ext cx="0" cy="10795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106" name="Line 41"/>
          <p:cNvSpPr>
            <a:spLocks noChangeShapeType="1"/>
          </p:cNvSpPr>
          <p:nvPr/>
        </p:nvSpPr>
        <p:spPr bwMode="auto">
          <a:xfrm flipV="1">
            <a:off x="8923338" y="6153150"/>
            <a:ext cx="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107" name="Line 42"/>
          <p:cNvSpPr>
            <a:spLocks noChangeShapeType="1"/>
          </p:cNvSpPr>
          <p:nvPr/>
        </p:nvSpPr>
        <p:spPr bwMode="auto">
          <a:xfrm flipV="1">
            <a:off x="8301038" y="6102350"/>
            <a:ext cx="0" cy="1397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108" name="Line 43"/>
          <p:cNvSpPr>
            <a:spLocks noChangeShapeType="1"/>
          </p:cNvSpPr>
          <p:nvPr/>
        </p:nvSpPr>
        <p:spPr bwMode="auto">
          <a:xfrm flipV="1">
            <a:off x="8164513" y="6140450"/>
            <a:ext cx="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109" name="Line 44"/>
          <p:cNvSpPr>
            <a:spLocks noChangeShapeType="1"/>
          </p:cNvSpPr>
          <p:nvPr/>
        </p:nvSpPr>
        <p:spPr bwMode="auto">
          <a:xfrm flipV="1">
            <a:off x="7621588" y="6096000"/>
            <a:ext cx="0" cy="1651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110" name="Line 45"/>
          <p:cNvSpPr>
            <a:spLocks noChangeShapeType="1"/>
          </p:cNvSpPr>
          <p:nvPr/>
        </p:nvSpPr>
        <p:spPr bwMode="auto">
          <a:xfrm flipV="1">
            <a:off x="8651875" y="6127750"/>
            <a:ext cx="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111" name="Line 47"/>
          <p:cNvSpPr>
            <a:spLocks noChangeShapeType="1"/>
          </p:cNvSpPr>
          <p:nvPr/>
        </p:nvSpPr>
        <p:spPr bwMode="auto">
          <a:xfrm flipV="1">
            <a:off x="8029575" y="6134100"/>
            <a:ext cx="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112" name="Line 48"/>
          <p:cNvSpPr>
            <a:spLocks noChangeShapeType="1"/>
          </p:cNvSpPr>
          <p:nvPr/>
        </p:nvSpPr>
        <p:spPr bwMode="auto">
          <a:xfrm flipV="1">
            <a:off x="7893050" y="6096000"/>
            <a:ext cx="0" cy="13335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113" name="Line 49"/>
          <p:cNvSpPr>
            <a:spLocks noChangeShapeType="1"/>
          </p:cNvSpPr>
          <p:nvPr/>
        </p:nvSpPr>
        <p:spPr bwMode="auto">
          <a:xfrm flipV="1">
            <a:off x="7756525" y="6121400"/>
            <a:ext cx="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3850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Models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48130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563" y="1293813"/>
            <a:ext cx="8737600" cy="543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4286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Models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5017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113" y="1123950"/>
            <a:ext cx="8864600" cy="566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542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Models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52226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513" y="1282700"/>
            <a:ext cx="8839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0412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Filtering to Remove Noise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defTabSz="993775" eaLnBrk="1" hangingPunct="1">
              <a:buNone/>
              <a:tabLst>
                <a:tab pos="2333625" algn="l"/>
              </a:tabLst>
            </a:pPr>
            <a:r>
              <a:rPr lang="en-IE" altLang="en-US" smtClean="0">
                <a:ea typeface="ＭＳ Ｐゴシック" panose="020B0600070205080204" pitchFamily="34" charset="-128"/>
              </a:rPr>
              <a:t>We can use spatial filters of different kinds to remove different kinds of noise</a:t>
            </a:r>
          </a:p>
          <a:p>
            <a:pPr marL="0" indent="0" defTabSz="993775" eaLnBrk="1" hangingPunct="1">
              <a:buNone/>
              <a:tabLst>
                <a:tab pos="2333625" algn="l"/>
              </a:tabLst>
            </a:pPr>
            <a:r>
              <a:rPr lang="en-IE" altLang="en-US" smtClean="0">
                <a:ea typeface="ＭＳ Ｐゴシック" panose="020B0600070205080204" pitchFamily="34" charset="-128"/>
              </a:rPr>
              <a:t>The </a:t>
            </a:r>
            <a:r>
              <a:rPr lang="en-IE" altLang="en-US" i="1" smtClean="0">
                <a:ea typeface="ＭＳ Ｐゴシック" panose="020B0600070205080204" pitchFamily="34" charset="-128"/>
              </a:rPr>
              <a:t>arithmetic</a:t>
            </a:r>
            <a:r>
              <a:rPr lang="en-IE" altLang="en-US" smtClean="0">
                <a:ea typeface="ＭＳ Ｐゴシック" panose="020B0600070205080204" pitchFamily="34" charset="-128"/>
              </a:rPr>
              <a:t> </a:t>
            </a:r>
            <a:r>
              <a:rPr lang="en-IE" altLang="en-US" i="1" smtClean="0">
                <a:ea typeface="ＭＳ Ｐゴシック" panose="020B0600070205080204" pitchFamily="34" charset="-128"/>
              </a:rPr>
              <a:t>mean</a:t>
            </a:r>
            <a:r>
              <a:rPr lang="en-IE" altLang="en-US" smtClean="0">
                <a:ea typeface="ＭＳ Ｐゴシック" panose="020B0600070205080204" pitchFamily="34" charset="-128"/>
              </a:rPr>
              <a:t> filter is a very simple one and is calculated as follows:</a:t>
            </a:r>
          </a:p>
          <a:p>
            <a:pPr marL="0" indent="0" defTabSz="993775" eaLnBrk="1" hangingPunct="1">
              <a:buNone/>
              <a:tabLst>
                <a:tab pos="2333625" algn="l"/>
              </a:tabLst>
            </a:pPr>
            <a:endParaRPr lang="en-IE" altLang="en-US" smtClean="0">
              <a:ea typeface="ＭＳ Ｐゴシック" panose="020B0600070205080204" pitchFamily="34" charset="-128"/>
            </a:endParaRPr>
          </a:p>
          <a:p>
            <a:pPr marL="0" indent="0" defTabSz="993775" eaLnBrk="1" hangingPunct="1">
              <a:buNone/>
              <a:tabLst>
                <a:tab pos="2333625" algn="l"/>
              </a:tabLst>
            </a:pPr>
            <a:endParaRPr lang="en-IE" altLang="en-US" smtClean="0">
              <a:ea typeface="ＭＳ Ｐゴシック" panose="020B0600070205080204" pitchFamily="34" charset="-128"/>
            </a:endParaRPr>
          </a:p>
          <a:p>
            <a:pPr marL="0" indent="0" defTabSz="993775" eaLnBrk="1" hangingPunct="1">
              <a:buNone/>
              <a:tabLst>
                <a:tab pos="2333625" algn="l"/>
              </a:tabLst>
            </a:pPr>
            <a:r>
              <a:rPr lang="en-IE" altLang="en-US" smtClean="0">
                <a:ea typeface="ＭＳ Ｐゴシック" panose="020B0600070205080204" pitchFamily="34" charset="-128"/>
              </a:rPr>
              <a:t>	This is implemented as the </a:t>
            </a:r>
            <a:br>
              <a:rPr lang="en-IE" altLang="en-US" smtClean="0">
                <a:ea typeface="ＭＳ Ｐゴシック" panose="020B0600070205080204" pitchFamily="34" charset="-128"/>
              </a:rPr>
            </a:br>
            <a:r>
              <a:rPr lang="en-IE" altLang="en-US" smtClean="0">
                <a:ea typeface="ＭＳ Ｐゴシック" panose="020B0600070205080204" pitchFamily="34" charset="-128"/>
              </a:rPr>
              <a:t>	simple smoothing filter</a:t>
            </a:r>
          </a:p>
          <a:p>
            <a:pPr marL="0" indent="0" defTabSz="993775" eaLnBrk="1" hangingPunct="1">
              <a:buNone/>
              <a:tabLst>
                <a:tab pos="2333625" algn="l"/>
              </a:tabLst>
            </a:pPr>
            <a:r>
              <a:rPr lang="en-IE" altLang="en-US" smtClean="0">
                <a:ea typeface="ＭＳ Ｐゴシック" panose="020B0600070205080204" pitchFamily="34" charset="-128"/>
              </a:rPr>
              <a:t>	Blurs the image to remove </a:t>
            </a:r>
            <a:br>
              <a:rPr lang="en-IE" altLang="en-US" smtClean="0">
                <a:ea typeface="ＭＳ Ｐゴシック" panose="020B0600070205080204" pitchFamily="34" charset="-128"/>
              </a:rPr>
            </a:br>
            <a:r>
              <a:rPr lang="en-IE" altLang="en-US" smtClean="0">
                <a:ea typeface="ＭＳ Ｐゴシック" panose="020B0600070205080204" pitchFamily="34" charset="-128"/>
              </a:rPr>
              <a:t>	noise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graphicFrame>
        <p:nvGraphicFramePr>
          <p:cNvPr id="54275" name="Object 2"/>
          <p:cNvGraphicFramePr>
            <a:graphicFrameLocks noChangeAspect="1"/>
          </p:cNvGraphicFramePr>
          <p:nvPr/>
        </p:nvGraphicFramePr>
        <p:xfrm>
          <a:off x="2670175" y="3406775"/>
          <a:ext cx="4224338" cy="1277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4" imgW="1511300" imgH="457200" progId="Equation.3">
                  <p:embed/>
                </p:oleObj>
              </mc:Choice>
              <mc:Fallback>
                <p:oleObj name="Equation" r:id="rId4" imgW="1511300" imgH="457200" progId="Equation.3">
                  <p:embed/>
                  <p:pic>
                    <p:nvPicPr>
                      <p:cNvPr id="5427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3406775"/>
                        <a:ext cx="4224338" cy="1277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7" name="Group 5"/>
          <p:cNvGraphicFramePr>
            <a:graphicFrameLocks noGrp="1"/>
          </p:cNvGraphicFramePr>
          <p:nvPr/>
        </p:nvGraphicFramePr>
        <p:xfrm>
          <a:off x="2101850" y="4748213"/>
          <a:ext cx="2057400" cy="1970088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9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540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Removal Example</a:t>
            </a:r>
            <a:endParaRPr lang="en-GB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56322" name="Rectangle 4"/>
          <p:cNvSpPr>
            <a:spLocks noChangeArrowheads="1"/>
          </p:cNvSpPr>
          <p:nvPr/>
        </p:nvSpPr>
        <p:spPr bwMode="auto">
          <a:xfrm>
            <a:off x="2044700" y="2093913"/>
            <a:ext cx="471488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23" name="Rectangle 5"/>
          <p:cNvSpPr>
            <a:spLocks noChangeArrowheads="1"/>
          </p:cNvSpPr>
          <p:nvPr/>
        </p:nvSpPr>
        <p:spPr bwMode="auto">
          <a:xfrm>
            <a:off x="2516188" y="20939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24" name="Rectangle 6"/>
          <p:cNvSpPr>
            <a:spLocks noChangeArrowheads="1"/>
          </p:cNvSpPr>
          <p:nvPr/>
        </p:nvSpPr>
        <p:spPr bwMode="auto">
          <a:xfrm>
            <a:off x="2984501" y="20939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25" name="Rectangle 7"/>
          <p:cNvSpPr>
            <a:spLocks noChangeArrowheads="1"/>
          </p:cNvSpPr>
          <p:nvPr/>
        </p:nvSpPr>
        <p:spPr bwMode="auto">
          <a:xfrm>
            <a:off x="3452813" y="2093913"/>
            <a:ext cx="469900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26" name="Rectangle 8"/>
          <p:cNvSpPr>
            <a:spLocks noChangeArrowheads="1"/>
          </p:cNvSpPr>
          <p:nvPr/>
        </p:nvSpPr>
        <p:spPr bwMode="auto">
          <a:xfrm>
            <a:off x="3922713" y="20939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56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27" name="Rectangle 9"/>
          <p:cNvSpPr>
            <a:spLocks noChangeArrowheads="1"/>
          </p:cNvSpPr>
          <p:nvPr/>
        </p:nvSpPr>
        <p:spPr bwMode="auto">
          <a:xfrm>
            <a:off x="4373564" y="2093913"/>
            <a:ext cx="471487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28" name="Rectangle 10"/>
          <p:cNvSpPr>
            <a:spLocks noChangeArrowheads="1"/>
          </p:cNvSpPr>
          <p:nvPr/>
        </p:nvSpPr>
        <p:spPr bwMode="auto">
          <a:xfrm>
            <a:off x="4845051" y="20939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29" name="Rectangle 11"/>
          <p:cNvSpPr>
            <a:spLocks noChangeArrowheads="1"/>
          </p:cNvSpPr>
          <p:nvPr/>
        </p:nvSpPr>
        <p:spPr bwMode="auto">
          <a:xfrm>
            <a:off x="2044700" y="2555875"/>
            <a:ext cx="471488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30" name="Rectangle 12"/>
          <p:cNvSpPr>
            <a:spLocks noChangeArrowheads="1"/>
          </p:cNvSpPr>
          <p:nvPr/>
        </p:nvSpPr>
        <p:spPr bwMode="auto">
          <a:xfrm>
            <a:off x="2516188" y="2555875"/>
            <a:ext cx="468312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31" name="Rectangle 13"/>
          <p:cNvSpPr>
            <a:spLocks noChangeArrowheads="1"/>
          </p:cNvSpPr>
          <p:nvPr/>
        </p:nvSpPr>
        <p:spPr bwMode="auto">
          <a:xfrm>
            <a:off x="2984501" y="2555875"/>
            <a:ext cx="468313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32" name="Rectangle 14"/>
          <p:cNvSpPr>
            <a:spLocks noChangeArrowheads="1"/>
          </p:cNvSpPr>
          <p:nvPr/>
        </p:nvSpPr>
        <p:spPr bwMode="auto">
          <a:xfrm>
            <a:off x="3452813" y="2555875"/>
            <a:ext cx="469900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33" name="Rectangle 15"/>
          <p:cNvSpPr>
            <a:spLocks noChangeArrowheads="1"/>
          </p:cNvSpPr>
          <p:nvPr/>
        </p:nvSpPr>
        <p:spPr bwMode="auto">
          <a:xfrm>
            <a:off x="3922713" y="2555875"/>
            <a:ext cx="468312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34" name="Rectangle 16"/>
          <p:cNvSpPr>
            <a:spLocks noChangeArrowheads="1"/>
          </p:cNvSpPr>
          <p:nvPr/>
        </p:nvSpPr>
        <p:spPr bwMode="auto">
          <a:xfrm>
            <a:off x="4373564" y="2555875"/>
            <a:ext cx="471487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35" name="Rectangle 17"/>
          <p:cNvSpPr>
            <a:spLocks noChangeArrowheads="1"/>
          </p:cNvSpPr>
          <p:nvPr/>
        </p:nvSpPr>
        <p:spPr bwMode="auto">
          <a:xfrm>
            <a:off x="4845051" y="2555875"/>
            <a:ext cx="468313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36" name="Rectangle 18"/>
          <p:cNvSpPr>
            <a:spLocks noChangeArrowheads="1"/>
          </p:cNvSpPr>
          <p:nvPr/>
        </p:nvSpPr>
        <p:spPr bwMode="auto">
          <a:xfrm>
            <a:off x="2044700" y="3025776"/>
            <a:ext cx="471488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37" name="Rectangle 19"/>
          <p:cNvSpPr>
            <a:spLocks noChangeArrowheads="1"/>
          </p:cNvSpPr>
          <p:nvPr/>
        </p:nvSpPr>
        <p:spPr bwMode="auto">
          <a:xfrm>
            <a:off x="2516188" y="30257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204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38" name="Rectangle 20"/>
          <p:cNvSpPr>
            <a:spLocks noChangeArrowheads="1"/>
          </p:cNvSpPr>
          <p:nvPr/>
        </p:nvSpPr>
        <p:spPr bwMode="auto">
          <a:xfrm>
            <a:off x="2984501" y="30257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39" name="Rectangle 21"/>
          <p:cNvSpPr>
            <a:spLocks noChangeArrowheads="1"/>
          </p:cNvSpPr>
          <p:nvPr/>
        </p:nvSpPr>
        <p:spPr bwMode="auto">
          <a:xfrm>
            <a:off x="3452813" y="3025776"/>
            <a:ext cx="469900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40" name="Rectangle 22"/>
          <p:cNvSpPr>
            <a:spLocks noChangeArrowheads="1"/>
          </p:cNvSpPr>
          <p:nvPr/>
        </p:nvSpPr>
        <p:spPr bwMode="auto">
          <a:xfrm>
            <a:off x="3922713" y="30257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41" name="Rectangle 23"/>
          <p:cNvSpPr>
            <a:spLocks noChangeArrowheads="1"/>
          </p:cNvSpPr>
          <p:nvPr/>
        </p:nvSpPr>
        <p:spPr bwMode="auto">
          <a:xfrm>
            <a:off x="4373564" y="3025776"/>
            <a:ext cx="471487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42" name="Rectangle 24"/>
          <p:cNvSpPr>
            <a:spLocks noChangeArrowheads="1"/>
          </p:cNvSpPr>
          <p:nvPr/>
        </p:nvSpPr>
        <p:spPr bwMode="auto">
          <a:xfrm>
            <a:off x="4845051" y="30257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43" name="Rectangle 25"/>
          <p:cNvSpPr>
            <a:spLocks noChangeArrowheads="1"/>
          </p:cNvSpPr>
          <p:nvPr/>
        </p:nvSpPr>
        <p:spPr bwMode="auto">
          <a:xfrm>
            <a:off x="2044700" y="3486150"/>
            <a:ext cx="471488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44" name="Rectangle 26"/>
          <p:cNvSpPr>
            <a:spLocks noChangeArrowheads="1"/>
          </p:cNvSpPr>
          <p:nvPr/>
        </p:nvSpPr>
        <p:spPr bwMode="auto">
          <a:xfrm>
            <a:off x="2516188" y="3486150"/>
            <a:ext cx="468312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45" name="Rectangle 27"/>
          <p:cNvSpPr>
            <a:spLocks noChangeArrowheads="1"/>
          </p:cNvSpPr>
          <p:nvPr/>
        </p:nvSpPr>
        <p:spPr bwMode="auto">
          <a:xfrm>
            <a:off x="2984501" y="3486150"/>
            <a:ext cx="468313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46" name="Rectangle 28"/>
          <p:cNvSpPr>
            <a:spLocks noChangeArrowheads="1"/>
          </p:cNvSpPr>
          <p:nvPr/>
        </p:nvSpPr>
        <p:spPr bwMode="auto">
          <a:xfrm>
            <a:off x="3452813" y="3486150"/>
            <a:ext cx="469900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47" name="Rectangle 29"/>
          <p:cNvSpPr>
            <a:spLocks noChangeArrowheads="1"/>
          </p:cNvSpPr>
          <p:nvPr/>
        </p:nvSpPr>
        <p:spPr bwMode="auto">
          <a:xfrm>
            <a:off x="3922713" y="3486150"/>
            <a:ext cx="468312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48" name="Rectangle 30"/>
          <p:cNvSpPr>
            <a:spLocks noChangeArrowheads="1"/>
          </p:cNvSpPr>
          <p:nvPr/>
        </p:nvSpPr>
        <p:spPr bwMode="auto">
          <a:xfrm>
            <a:off x="4373564" y="3486150"/>
            <a:ext cx="471487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49" name="Rectangle 31"/>
          <p:cNvSpPr>
            <a:spLocks noChangeArrowheads="1"/>
          </p:cNvSpPr>
          <p:nvPr/>
        </p:nvSpPr>
        <p:spPr bwMode="auto">
          <a:xfrm>
            <a:off x="4845051" y="3486150"/>
            <a:ext cx="468313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50" name="Rectangle 32"/>
          <p:cNvSpPr>
            <a:spLocks noChangeArrowheads="1"/>
          </p:cNvSpPr>
          <p:nvPr/>
        </p:nvSpPr>
        <p:spPr bwMode="auto">
          <a:xfrm>
            <a:off x="2044700" y="3935413"/>
            <a:ext cx="471488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51" name="Rectangle 33"/>
          <p:cNvSpPr>
            <a:spLocks noChangeArrowheads="1"/>
          </p:cNvSpPr>
          <p:nvPr/>
        </p:nvSpPr>
        <p:spPr bwMode="auto">
          <a:xfrm>
            <a:off x="2516188" y="39354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52" name="Rectangle 34"/>
          <p:cNvSpPr>
            <a:spLocks noChangeArrowheads="1"/>
          </p:cNvSpPr>
          <p:nvPr/>
        </p:nvSpPr>
        <p:spPr bwMode="auto">
          <a:xfrm>
            <a:off x="2984501" y="39354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53" name="Rectangle 35"/>
          <p:cNvSpPr>
            <a:spLocks noChangeArrowheads="1"/>
          </p:cNvSpPr>
          <p:nvPr/>
        </p:nvSpPr>
        <p:spPr bwMode="auto">
          <a:xfrm>
            <a:off x="3452813" y="3935413"/>
            <a:ext cx="469900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54" name="Rectangle 36"/>
          <p:cNvSpPr>
            <a:spLocks noChangeArrowheads="1"/>
          </p:cNvSpPr>
          <p:nvPr/>
        </p:nvSpPr>
        <p:spPr bwMode="auto">
          <a:xfrm>
            <a:off x="3922713" y="39354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55" name="Rectangle 37"/>
          <p:cNvSpPr>
            <a:spLocks noChangeArrowheads="1"/>
          </p:cNvSpPr>
          <p:nvPr/>
        </p:nvSpPr>
        <p:spPr bwMode="auto">
          <a:xfrm>
            <a:off x="4373564" y="3935413"/>
            <a:ext cx="471487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56" name="Rectangle 38"/>
          <p:cNvSpPr>
            <a:spLocks noChangeArrowheads="1"/>
          </p:cNvSpPr>
          <p:nvPr/>
        </p:nvSpPr>
        <p:spPr bwMode="auto">
          <a:xfrm>
            <a:off x="4845051" y="39354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57" name="Rectangle 39"/>
          <p:cNvSpPr>
            <a:spLocks noChangeArrowheads="1"/>
          </p:cNvSpPr>
          <p:nvPr/>
        </p:nvSpPr>
        <p:spPr bwMode="auto">
          <a:xfrm>
            <a:off x="2044700" y="4395789"/>
            <a:ext cx="471488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148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58" name="Rectangle 40"/>
          <p:cNvSpPr>
            <a:spLocks noChangeArrowheads="1"/>
          </p:cNvSpPr>
          <p:nvPr/>
        </p:nvSpPr>
        <p:spPr bwMode="auto">
          <a:xfrm>
            <a:off x="2516188" y="4395789"/>
            <a:ext cx="468312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154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59" name="Rectangle 41"/>
          <p:cNvSpPr>
            <a:spLocks noChangeArrowheads="1"/>
          </p:cNvSpPr>
          <p:nvPr/>
        </p:nvSpPr>
        <p:spPr bwMode="auto">
          <a:xfrm>
            <a:off x="2984501" y="4395789"/>
            <a:ext cx="468313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60" name="Rectangle 42"/>
          <p:cNvSpPr>
            <a:spLocks noChangeArrowheads="1"/>
          </p:cNvSpPr>
          <p:nvPr/>
        </p:nvSpPr>
        <p:spPr bwMode="auto">
          <a:xfrm>
            <a:off x="3452813" y="4395789"/>
            <a:ext cx="469900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160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61" name="Rectangle 43"/>
          <p:cNvSpPr>
            <a:spLocks noChangeArrowheads="1"/>
          </p:cNvSpPr>
          <p:nvPr/>
        </p:nvSpPr>
        <p:spPr bwMode="auto">
          <a:xfrm>
            <a:off x="3922713" y="4395789"/>
            <a:ext cx="468312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163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62" name="Rectangle 44"/>
          <p:cNvSpPr>
            <a:spLocks noChangeArrowheads="1"/>
          </p:cNvSpPr>
          <p:nvPr/>
        </p:nvSpPr>
        <p:spPr bwMode="auto">
          <a:xfrm>
            <a:off x="4373564" y="4395789"/>
            <a:ext cx="471487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167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63" name="Rectangle 45"/>
          <p:cNvSpPr>
            <a:spLocks noChangeArrowheads="1"/>
          </p:cNvSpPr>
          <p:nvPr/>
        </p:nvSpPr>
        <p:spPr bwMode="auto">
          <a:xfrm>
            <a:off x="4845051" y="4395789"/>
            <a:ext cx="468313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170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64" name="Rectangle 46"/>
          <p:cNvSpPr>
            <a:spLocks noChangeArrowheads="1"/>
          </p:cNvSpPr>
          <p:nvPr/>
        </p:nvSpPr>
        <p:spPr bwMode="auto">
          <a:xfrm>
            <a:off x="2044700" y="4867276"/>
            <a:ext cx="471488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65" name="Rectangle 47"/>
          <p:cNvSpPr>
            <a:spLocks noChangeArrowheads="1"/>
          </p:cNvSpPr>
          <p:nvPr/>
        </p:nvSpPr>
        <p:spPr bwMode="auto">
          <a:xfrm>
            <a:off x="2516188" y="48672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66" name="Rectangle 48"/>
          <p:cNvSpPr>
            <a:spLocks noChangeArrowheads="1"/>
          </p:cNvSpPr>
          <p:nvPr/>
        </p:nvSpPr>
        <p:spPr bwMode="auto">
          <a:xfrm>
            <a:off x="2984501" y="48672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159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67" name="Rectangle 49"/>
          <p:cNvSpPr>
            <a:spLocks noChangeArrowheads="1"/>
          </p:cNvSpPr>
          <p:nvPr/>
        </p:nvSpPr>
        <p:spPr bwMode="auto">
          <a:xfrm>
            <a:off x="3452813" y="4867276"/>
            <a:ext cx="469900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162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68" name="Rectangle 50"/>
          <p:cNvSpPr>
            <a:spLocks noChangeArrowheads="1"/>
          </p:cNvSpPr>
          <p:nvPr/>
        </p:nvSpPr>
        <p:spPr bwMode="auto">
          <a:xfrm>
            <a:off x="3922713" y="48672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165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69" name="Rectangle 51"/>
          <p:cNvSpPr>
            <a:spLocks noChangeArrowheads="1"/>
          </p:cNvSpPr>
          <p:nvPr/>
        </p:nvSpPr>
        <p:spPr bwMode="auto">
          <a:xfrm>
            <a:off x="4373564" y="4867276"/>
            <a:ext cx="471487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169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70" name="Rectangle 52"/>
          <p:cNvSpPr>
            <a:spLocks noChangeArrowheads="1"/>
          </p:cNvSpPr>
          <p:nvPr/>
        </p:nvSpPr>
        <p:spPr bwMode="auto">
          <a:xfrm>
            <a:off x="4845051" y="48672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172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56371" name="Line 53"/>
          <p:cNvSpPr>
            <a:spLocks noChangeShapeType="1"/>
          </p:cNvSpPr>
          <p:nvPr/>
        </p:nvSpPr>
        <p:spPr bwMode="auto">
          <a:xfrm>
            <a:off x="2044700" y="2093913"/>
            <a:ext cx="3657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6372" name="Line 54"/>
          <p:cNvSpPr>
            <a:spLocks noChangeShapeType="1"/>
          </p:cNvSpPr>
          <p:nvPr/>
        </p:nvSpPr>
        <p:spPr bwMode="auto">
          <a:xfrm rot="5400000">
            <a:off x="184944" y="3953669"/>
            <a:ext cx="3719512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6373" name="Text Box 55"/>
          <p:cNvSpPr txBox="1">
            <a:spLocks noChangeArrowheads="1"/>
          </p:cNvSpPr>
          <p:nvPr/>
        </p:nvSpPr>
        <p:spPr bwMode="auto">
          <a:xfrm>
            <a:off x="1917700" y="1720850"/>
            <a:ext cx="22012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Original Image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74" name="Text Box 56"/>
          <p:cNvSpPr txBox="1">
            <a:spLocks noChangeArrowheads="1"/>
          </p:cNvSpPr>
          <p:nvPr/>
        </p:nvSpPr>
        <p:spPr bwMode="auto">
          <a:xfrm>
            <a:off x="5513388" y="1752600"/>
            <a:ext cx="3449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x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75" name="Text Box 57"/>
          <p:cNvSpPr txBox="1">
            <a:spLocks noChangeArrowheads="1"/>
          </p:cNvSpPr>
          <p:nvPr/>
        </p:nvSpPr>
        <p:spPr bwMode="auto">
          <a:xfrm>
            <a:off x="1762125" y="5556250"/>
            <a:ext cx="3690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y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76" name="Text Box 58"/>
          <p:cNvSpPr txBox="1">
            <a:spLocks noChangeArrowheads="1"/>
          </p:cNvSpPr>
          <p:nvPr/>
        </p:nvSpPr>
        <p:spPr bwMode="auto">
          <a:xfrm>
            <a:off x="3963989" y="5335588"/>
            <a:ext cx="20329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Image f (x, y)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6377" name="Group 59"/>
          <p:cNvGrpSpPr>
            <a:grpSpLocks/>
          </p:cNvGrpSpPr>
          <p:nvPr/>
        </p:nvGrpSpPr>
        <p:grpSpPr bwMode="auto">
          <a:xfrm>
            <a:off x="6335711" y="1720850"/>
            <a:ext cx="4243386" cy="4219576"/>
            <a:chOff x="3031" y="1084"/>
            <a:chExt cx="2673" cy="2658"/>
          </a:xfrm>
        </p:grpSpPr>
        <p:sp>
          <p:nvSpPr>
            <p:cNvPr id="56379" name="Rectangle 60"/>
            <p:cNvSpPr>
              <a:spLocks noChangeArrowheads="1"/>
            </p:cNvSpPr>
            <p:nvPr/>
          </p:nvSpPr>
          <p:spPr bwMode="auto">
            <a:xfrm>
              <a:off x="3209" y="1328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380" name="Rectangle 61"/>
            <p:cNvSpPr>
              <a:spLocks noChangeArrowheads="1"/>
            </p:cNvSpPr>
            <p:nvPr/>
          </p:nvSpPr>
          <p:spPr bwMode="auto">
            <a:xfrm>
              <a:off x="3506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381" name="Rectangle 62"/>
            <p:cNvSpPr>
              <a:spLocks noChangeArrowheads="1"/>
            </p:cNvSpPr>
            <p:nvPr/>
          </p:nvSpPr>
          <p:spPr bwMode="auto">
            <a:xfrm>
              <a:off x="3801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382" name="Rectangle 63"/>
            <p:cNvSpPr>
              <a:spLocks noChangeArrowheads="1"/>
            </p:cNvSpPr>
            <p:nvPr/>
          </p:nvSpPr>
          <p:spPr bwMode="auto">
            <a:xfrm>
              <a:off x="4096" y="1328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383" name="Rectangle 64"/>
            <p:cNvSpPr>
              <a:spLocks noChangeArrowheads="1"/>
            </p:cNvSpPr>
            <p:nvPr/>
          </p:nvSpPr>
          <p:spPr bwMode="auto">
            <a:xfrm>
              <a:off x="4392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384" name="Rectangle 65"/>
            <p:cNvSpPr>
              <a:spLocks noChangeArrowheads="1"/>
            </p:cNvSpPr>
            <p:nvPr/>
          </p:nvSpPr>
          <p:spPr bwMode="auto">
            <a:xfrm>
              <a:off x="4676" y="1328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385" name="Rectangle 66"/>
            <p:cNvSpPr>
              <a:spLocks noChangeArrowheads="1"/>
            </p:cNvSpPr>
            <p:nvPr/>
          </p:nvSpPr>
          <p:spPr bwMode="auto">
            <a:xfrm>
              <a:off x="4973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386" name="Rectangle 67"/>
            <p:cNvSpPr>
              <a:spLocks noChangeArrowheads="1"/>
            </p:cNvSpPr>
            <p:nvPr/>
          </p:nvSpPr>
          <p:spPr bwMode="auto">
            <a:xfrm>
              <a:off x="3209" y="1618"/>
              <a:ext cx="297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387" name="Rectangle 68"/>
            <p:cNvSpPr>
              <a:spLocks noChangeArrowheads="1"/>
            </p:cNvSpPr>
            <p:nvPr/>
          </p:nvSpPr>
          <p:spPr bwMode="auto">
            <a:xfrm>
              <a:off x="3506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388" name="Rectangle 69"/>
            <p:cNvSpPr>
              <a:spLocks noChangeArrowheads="1"/>
            </p:cNvSpPr>
            <p:nvPr/>
          </p:nvSpPr>
          <p:spPr bwMode="auto">
            <a:xfrm>
              <a:off x="3801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389" name="Rectangle 70"/>
            <p:cNvSpPr>
              <a:spLocks noChangeArrowheads="1"/>
            </p:cNvSpPr>
            <p:nvPr/>
          </p:nvSpPr>
          <p:spPr bwMode="auto">
            <a:xfrm>
              <a:off x="4096" y="1618"/>
              <a:ext cx="296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390" name="Rectangle 71"/>
            <p:cNvSpPr>
              <a:spLocks noChangeArrowheads="1"/>
            </p:cNvSpPr>
            <p:nvPr/>
          </p:nvSpPr>
          <p:spPr bwMode="auto">
            <a:xfrm>
              <a:off x="4392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391" name="Rectangle 72"/>
            <p:cNvSpPr>
              <a:spLocks noChangeArrowheads="1"/>
            </p:cNvSpPr>
            <p:nvPr/>
          </p:nvSpPr>
          <p:spPr bwMode="auto">
            <a:xfrm>
              <a:off x="4676" y="1618"/>
              <a:ext cx="297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392" name="Rectangle 73"/>
            <p:cNvSpPr>
              <a:spLocks noChangeArrowheads="1"/>
            </p:cNvSpPr>
            <p:nvPr/>
          </p:nvSpPr>
          <p:spPr bwMode="auto">
            <a:xfrm>
              <a:off x="4973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393" name="Rectangle 74"/>
            <p:cNvSpPr>
              <a:spLocks noChangeArrowheads="1"/>
            </p:cNvSpPr>
            <p:nvPr/>
          </p:nvSpPr>
          <p:spPr bwMode="auto">
            <a:xfrm>
              <a:off x="3209" y="1915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394" name="Rectangle 75"/>
            <p:cNvSpPr>
              <a:spLocks noChangeArrowheads="1"/>
            </p:cNvSpPr>
            <p:nvPr/>
          </p:nvSpPr>
          <p:spPr bwMode="auto">
            <a:xfrm>
              <a:off x="3506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395" name="Rectangle 76"/>
            <p:cNvSpPr>
              <a:spLocks noChangeArrowheads="1"/>
            </p:cNvSpPr>
            <p:nvPr/>
          </p:nvSpPr>
          <p:spPr bwMode="auto">
            <a:xfrm>
              <a:off x="3801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396" name="Rectangle 77"/>
            <p:cNvSpPr>
              <a:spLocks noChangeArrowheads="1"/>
            </p:cNvSpPr>
            <p:nvPr/>
          </p:nvSpPr>
          <p:spPr bwMode="auto">
            <a:xfrm>
              <a:off x="4096" y="1915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397" name="Rectangle 78"/>
            <p:cNvSpPr>
              <a:spLocks noChangeArrowheads="1"/>
            </p:cNvSpPr>
            <p:nvPr/>
          </p:nvSpPr>
          <p:spPr bwMode="auto">
            <a:xfrm>
              <a:off x="4392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398" name="Rectangle 79"/>
            <p:cNvSpPr>
              <a:spLocks noChangeArrowheads="1"/>
            </p:cNvSpPr>
            <p:nvPr/>
          </p:nvSpPr>
          <p:spPr bwMode="auto">
            <a:xfrm>
              <a:off x="4676" y="1915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399" name="Rectangle 80"/>
            <p:cNvSpPr>
              <a:spLocks noChangeArrowheads="1"/>
            </p:cNvSpPr>
            <p:nvPr/>
          </p:nvSpPr>
          <p:spPr bwMode="auto">
            <a:xfrm>
              <a:off x="4973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00" name="Rectangle 81"/>
            <p:cNvSpPr>
              <a:spLocks noChangeArrowheads="1"/>
            </p:cNvSpPr>
            <p:nvPr/>
          </p:nvSpPr>
          <p:spPr bwMode="auto">
            <a:xfrm>
              <a:off x="3209" y="220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01" name="Rectangle 82"/>
            <p:cNvSpPr>
              <a:spLocks noChangeArrowheads="1"/>
            </p:cNvSpPr>
            <p:nvPr/>
          </p:nvSpPr>
          <p:spPr bwMode="auto">
            <a:xfrm>
              <a:off x="3506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02" name="Rectangle 83"/>
            <p:cNvSpPr>
              <a:spLocks noChangeArrowheads="1"/>
            </p:cNvSpPr>
            <p:nvPr/>
          </p:nvSpPr>
          <p:spPr bwMode="auto">
            <a:xfrm>
              <a:off x="3801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03" name="Rectangle 84"/>
            <p:cNvSpPr>
              <a:spLocks noChangeArrowheads="1"/>
            </p:cNvSpPr>
            <p:nvPr/>
          </p:nvSpPr>
          <p:spPr bwMode="auto">
            <a:xfrm>
              <a:off x="4096" y="2207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04" name="Rectangle 85"/>
            <p:cNvSpPr>
              <a:spLocks noChangeArrowheads="1"/>
            </p:cNvSpPr>
            <p:nvPr/>
          </p:nvSpPr>
          <p:spPr bwMode="auto">
            <a:xfrm>
              <a:off x="4392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05" name="Rectangle 86"/>
            <p:cNvSpPr>
              <a:spLocks noChangeArrowheads="1"/>
            </p:cNvSpPr>
            <p:nvPr/>
          </p:nvSpPr>
          <p:spPr bwMode="auto">
            <a:xfrm>
              <a:off x="4676" y="220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06" name="Rectangle 87"/>
            <p:cNvSpPr>
              <a:spLocks noChangeArrowheads="1"/>
            </p:cNvSpPr>
            <p:nvPr/>
          </p:nvSpPr>
          <p:spPr bwMode="auto">
            <a:xfrm>
              <a:off x="4973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07" name="Rectangle 88"/>
            <p:cNvSpPr>
              <a:spLocks noChangeArrowheads="1"/>
            </p:cNvSpPr>
            <p:nvPr/>
          </p:nvSpPr>
          <p:spPr bwMode="auto">
            <a:xfrm>
              <a:off x="3209" y="248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08" name="Rectangle 89"/>
            <p:cNvSpPr>
              <a:spLocks noChangeArrowheads="1"/>
            </p:cNvSpPr>
            <p:nvPr/>
          </p:nvSpPr>
          <p:spPr bwMode="auto">
            <a:xfrm>
              <a:off x="3506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09" name="Rectangle 90"/>
            <p:cNvSpPr>
              <a:spLocks noChangeArrowheads="1"/>
            </p:cNvSpPr>
            <p:nvPr/>
          </p:nvSpPr>
          <p:spPr bwMode="auto">
            <a:xfrm>
              <a:off x="3801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10" name="Rectangle 91"/>
            <p:cNvSpPr>
              <a:spLocks noChangeArrowheads="1"/>
            </p:cNvSpPr>
            <p:nvPr/>
          </p:nvSpPr>
          <p:spPr bwMode="auto">
            <a:xfrm>
              <a:off x="4096" y="2487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11" name="Rectangle 92"/>
            <p:cNvSpPr>
              <a:spLocks noChangeArrowheads="1"/>
            </p:cNvSpPr>
            <p:nvPr/>
          </p:nvSpPr>
          <p:spPr bwMode="auto">
            <a:xfrm>
              <a:off x="4392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12" name="Rectangle 93"/>
            <p:cNvSpPr>
              <a:spLocks noChangeArrowheads="1"/>
            </p:cNvSpPr>
            <p:nvPr/>
          </p:nvSpPr>
          <p:spPr bwMode="auto">
            <a:xfrm>
              <a:off x="4676" y="248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13" name="Rectangle 94"/>
            <p:cNvSpPr>
              <a:spLocks noChangeArrowheads="1"/>
            </p:cNvSpPr>
            <p:nvPr/>
          </p:nvSpPr>
          <p:spPr bwMode="auto">
            <a:xfrm>
              <a:off x="4973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14" name="Rectangle 95"/>
            <p:cNvSpPr>
              <a:spLocks noChangeArrowheads="1"/>
            </p:cNvSpPr>
            <p:nvPr/>
          </p:nvSpPr>
          <p:spPr bwMode="auto">
            <a:xfrm>
              <a:off x="3209" y="2779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15" name="Rectangle 96"/>
            <p:cNvSpPr>
              <a:spLocks noChangeArrowheads="1"/>
            </p:cNvSpPr>
            <p:nvPr/>
          </p:nvSpPr>
          <p:spPr bwMode="auto">
            <a:xfrm>
              <a:off x="3506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16" name="Rectangle 97"/>
            <p:cNvSpPr>
              <a:spLocks noChangeArrowheads="1"/>
            </p:cNvSpPr>
            <p:nvPr/>
          </p:nvSpPr>
          <p:spPr bwMode="auto">
            <a:xfrm>
              <a:off x="3801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17" name="Rectangle 98"/>
            <p:cNvSpPr>
              <a:spLocks noChangeArrowheads="1"/>
            </p:cNvSpPr>
            <p:nvPr/>
          </p:nvSpPr>
          <p:spPr bwMode="auto">
            <a:xfrm>
              <a:off x="4096" y="2779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18" name="Rectangle 99"/>
            <p:cNvSpPr>
              <a:spLocks noChangeArrowheads="1"/>
            </p:cNvSpPr>
            <p:nvPr/>
          </p:nvSpPr>
          <p:spPr bwMode="auto">
            <a:xfrm>
              <a:off x="4392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19" name="Rectangle 100"/>
            <p:cNvSpPr>
              <a:spLocks noChangeArrowheads="1"/>
            </p:cNvSpPr>
            <p:nvPr/>
          </p:nvSpPr>
          <p:spPr bwMode="auto">
            <a:xfrm>
              <a:off x="4676" y="2779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20" name="Rectangle 101"/>
            <p:cNvSpPr>
              <a:spLocks noChangeArrowheads="1"/>
            </p:cNvSpPr>
            <p:nvPr/>
          </p:nvSpPr>
          <p:spPr bwMode="auto">
            <a:xfrm>
              <a:off x="4973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21" name="Rectangle 102"/>
            <p:cNvSpPr>
              <a:spLocks noChangeArrowheads="1"/>
            </p:cNvSpPr>
            <p:nvPr/>
          </p:nvSpPr>
          <p:spPr bwMode="auto">
            <a:xfrm>
              <a:off x="3209" y="3074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22" name="Rectangle 103"/>
            <p:cNvSpPr>
              <a:spLocks noChangeArrowheads="1"/>
            </p:cNvSpPr>
            <p:nvPr/>
          </p:nvSpPr>
          <p:spPr bwMode="auto">
            <a:xfrm>
              <a:off x="3506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23" name="Rectangle 104"/>
            <p:cNvSpPr>
              <a:spLocks noChangeArrowheads="1"/>
            </p:cNvSpPr>
            <p:nvPr/>
          </p:nvSpPr>
          <p:spPr bwMode="auto">
            <a:xfrm>
              <a:off x="3801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24" name="Rectangle 105"/>
            <p:cNvSpPr>
              <a:spLocks noChangeArrowheads="1"/>
            </p:cNvSpPr>
            <p:nvPr/>
          </p:nvSpPr>
          <p:spPr bwMode="auto">
            <a:xfrm>
              <a:off x="4096" y="3074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25" name="Rectangle 106"/>
            <p:cNvSpPr>
              <a:spLocks noChangeArrowheads="1"/>
            </p:cNvSpPr>
            <p:nvPr/>
          </p:nvSpPr>
          <p:spPr bwMode="auto">
            <a:xfrm>
              <a:off x="4392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26" name="Rectangle 107"/>
            <p:cNvSpPr>
              <a:spLocks noChangeArrowheads="1"/>
            </p:cNvSpPr>
            <p:nvPr/>
          </p:nvSpPr>
          <p:spPr bwMode="auto">
            <a:xfrm>
              <a:off x="4676" y="3074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27" name="Rectangle 108"/>
            <p:cNvSpPr>
              <a:spLocks noChangeArrowheads="1"/>
            </p:cNvSpPr>
            <p:nvPr/>
          </p:nvSpPr>
          <p:spPr bwMode="auto">
            <a:xfrm>
              <a:off x="4973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6428" name="Line 109"/>
            <p:cNvSpPr>
              <a:spLocks noChangeShapeType="1"/>
            </p:cNvSpPr>
            <p:nvPr/>
          </p:nvSpPr>
          <p:spPr bwMode="auto">
            <a:xfrm>
              <a:off x="3209" y="1328"/>
              <a:ext cx="230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6429" name="Line 110"/>
            <p:cNvSpPr>
              <a:spLocks noChangeShapeType="1"/>
            </p:cNvSpPr>
            <p:nvPr/>
          </p:nvSpPr>
          <p:spPr bwMode="auto">
            <a:xfrm rot="5400000">
              <a:off x="2037" y="2500"/>
              <a:ext cx="234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6430" name="Text Box 111"/>
            <p:cNvSpPr txBox="1">
              <a:spLocks noChangeArrowheads="1"/>
            </p:cNvSpPr>
            <p:nvPr/>
          </p:nvSpPr>
          <p:spPr bwMode="auto">
            <a:xfrm>
              <a:off x="3154" y="1084"/>
              <a:ext cx="13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Filtered Image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431" name="Text Box 112"/>
            <p:cNvSpPr txBox="1">
              <a:spLocks noChangeArrowheads="1"/>
            </p:cNvSpPr>
            <p:nvPr/>
          </p:nvSpPr>
          <p:spPr bwMode="auto">
            <a:xfrm>
              <a:off x="5394" y="1104"/>
              <a:ext cx="21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432" name="Text Box 113"/>
            <p:cNvSpPr txBox="1">
              <a:spLocks noChangeArrowheads="1"/>
            </p:cNvSpPr>
            <p:nvPr/>
          </p:nvSpPr>
          <p:spPr bwMode="auto">
            <a:xfrm>
              <a:off x="3031" y="3509"/>
              <a:ext cx="23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433" name="Text Box 114"/>
            <p:cNvSpPr txBox="1">
              <a:spLocks noChangeArrowheads="1"/>
            </p:cNvSpPr>
            <p:nvPr/>
          </p:nvSpPr>
          <p:spPr bwMode="auto">
            <a:xfrm>
              <a:off x="4423" y="3361"/>
              <a:ext cx="12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 f (x, y)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</p:grpSp>
      <p:pic>
        <p:nvPicPr>
          <p:cNvPr id="56378" name="Picture 115" descr="MCj031081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900" y="149226"/>
            <a:ext cx="1042988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3546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Other Means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There are different kinds of mean filters all of which exhibit slightly different behaviour:</a:t>
            </a:r>
          </a:p>
          <a:p>
            <a:pPr lvl="1" eaLnBrk="1" hangingPunct="1"/>
            <a:r>
              <a:rPr lang="en-IE" altLang="en-US" smtClean="0">
                <a:ea typeface="ＭＳ Ｐゴシック" panose="020B0600070205080204" pitchFamily="34" charset="-128"/>
              </a:rPr>
              <a:t>Geometric Mean</a:t>
            </a:r>
          </a:p>
          <a:p>
            <a:pPr lvl="1" eaLnBrk="1" hangingPunct="1"/>
            <a:r>
              <a:rPr lang="en-IE" altLang="en-US" smtClean="0">
                <a:ea typeface="ＭＳ Ｐゴシック" panose="020B0600070205080204" pitchFamily="34" charset="-128"/>
              </a:rPr>
              <a:t>Harmonic Mean</a:t>
            </a:r>
          </a:p>
          <a:p>
            <a:pPr lvl="1" eaLnBrk="1" hangingPunct="1"/>
            <a:r>
              <a:rPr lang="en-IE" altLang="en-US" smtClean="0">
                <a:ea typeface="ＭＳ Ｐゴシック" panose="020B0600070205080204" pitchFamily="34" charset="-128"/>
              </a:rPr>
              <a:t>Contraharmonic Mean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24460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Other Means (cont…)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There are other variants on the mean which can give different performance</a:t>
            </a:r>
          </a:p>
          <a:p>
            <a:pPr marL="0" indent="0" eaLnBrk="1" hangingPunct="1">
              <a:buNone/>
            </a:pPr>
            <a:r>
              <a:rPr lang="en-IE" altLang="en-US" b="1" smtClean="0">
                <a:ea typeface="ＭＳ Ｐゴシック" panose="020B0600070205080204" pitchFamily="34" charset="-128"/>
              </a:rPr>
              <a:t>Geometric Mean:</a:t>
            </a:r>
          </a:p>
          <a:p>
            <a:pPr marL="0" indent="0" eaLnBrk="1" hangingPunct="1">
              <a:buNone/>
            </a:pPr>
            <a:endParaRPr lang="en-IE" altLang="en-US" smtClean="0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endParaRPr lang="en-IE" altLang="en-US" smtClean="0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endParaRPr lang="en-IE" altLang="en-US" smtClean="0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Achieves similar smoothing to the arithmetic mean, but tends to lose less image detail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graphicFrame>
        <p:nvGraphicFramePr>
          <p:cNvPr id="60419" name="Object 2"/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4" imgW="114151" imgH="215619" progId="Equation.3">
                  <p:embed/>
                </p:oleObj>
              </mc:Choice>
              <mc:Fallback>
                <p:oleObj name="Equation" r:id="rId4" imgW="114151" imgH="215619" progId="Equation.3">
                  <p:embed/>
                  <p:pic>
                    <p:nvPicPr>
                      <p:cNvPr id="6041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0" name="Object 3"/>
          <p:cNvGraphicFramePr>
            <a:graphicFrameLocks noChangeAspect="1"/>
          </p:cNvGraphicFramePr>
          <p:nvPr/>
        </p:nvGraphicFramePr>
        <p:xfrm>
          <a:off x="2709863" y="2860675"/>
          <a:ext cx="4367212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Equation" r:id="rId6" imgW="1562100" imgH="622300" progId="Equation.3">
                  <p:embed/>
                </p:oleObj>
              </mc:Choice>
              <mc:Fallback>
                <p:oleObj name="Equation" r:id="rId6" imgW="1562100" imgH="622300" progId="Equation.3">
                  <p:embed/>
                  <p:pic>
                    <p:nvPicPr>
                      <p:cNvPr id="6042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863" y="2860675"/>
                        <a:ext cx="4367212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0421" name="Picture 6" descr="MCj03108180000[1]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650" y="149226"/>
            <a:ext cx="1042988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396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Removal Example</a:t>
            </a:r>
            <a:endParaRPr lang="en-GB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62466" name="Rectangle 3"/>
          <p:cNvSpPr>
            <a:spLocks noChangeArrowheads="1"/>
          </p:cNvSpPr>
          <p:nvPr/>
        </p:nvSpPr>
        <p:spPr bwMode="auto">
          <a:xfrm>
            <a:off x="2044700" y="2093913"/>
            <a:ext cx="471488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67" name="Rectangle 4"/>
          <p:cNvSpPr>
            <a:spLocks noChangeArrowheads="1"/>
          </p:cNvSpPr>
          <p:nvPr/>
        </p:nvSpPr>
        <p:spPr bwMode="auto">
          <a:xfrm>
            <a:off x="2516188" y="20939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68" name="Rectangle 5"/>
          <p:cNvSpPr>
            <a:spLocks noChangeArrowheads="1"/>
          </p:cNvSpPr>
          <p:nvPr/>
        </p:nvSpPr>
        <p:spPr bwMode="auto">
          <a:xfrm>
            <a:off x="2984501" y="20939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69" name="Rectangle 6"/>
          <p:cNvSpPr>
            <a:spLocks noChangeArrowheads="1"/>
          </p:cNvSpPr>
          <p:nvPr/>
        </p:nvSpPr>
        <p:spPr bwMode="auto">
          <a:xfrm>
            <a:off x="3452813" y="2093913"/>
            <a:ext cx="469900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70" name="Rectangle 7"/>
          <p:cNvSpPr>
            <a:spLocks noChangeArrowheads="1"/>
          </p:cNvSpPr>
          <p:nvPr/>
        </p:nvSpPr>
        <p:spPr bwMode="auto">
          <a:xfrm>
            <a:off x="3922713" y="20939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56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71" name="Rectangle 8"/>
          <p:cNvSpPr>
            <a:spLocks noChangeArrowheads="1"/>
          </p:cNvSpPr>
          <p:nvPr/>
        </p:nvSpPr>
        <p:spPr bwMode="auto">
          <a:xfrm>
            <a:off x="4373564" y="2093913"/>
            <a:ext cx="471487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72" name="Rectangle 9"/>
          <p:cNvSpPr>
            <a:spLocks noChangeArrowheads="1"/>
          </p:cNvSpPr>
          <p:nvPr/>
        </p:nvSpPr>
        <p:spPr bwMode="auto">
          <a:xfrm>
            <a:off x="4845051" y="20939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73" name="Rectangle 10"/>
          <p:cNvSpPr>
            <a:spLocks noChangeArrowheads="1"/>
          </p:cNvSpPr>
          <p:nvPr/>
        </p:nvSpPr>
        <p:spPr bwMode="auto">
          <a:xfrm>
            <a:off x="2044700" y="2555875"/>
            <a:ext cx="471488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74" name="Rectangle 11"/>
          <p:cNvSpPr>
            <a:spLocks noChangeArrowheads="1"/>
          </p:cNvSpPr>
          <p:nvPr/>
        </p:nvSpPr>
        <p:spPr bwMode="auto">
          <a:xfrm>
            <a:off x="2516188" y="2555875"/>
            <a:ext cx="468312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75" name="Rectangle 12"/>
          <p:cNvSpPr>
            <a:spLocks noChangeArrowheads="1"/>
          </p:cNvSpPr>
          <p:nvPr/>
        </p:nvSpPr>
        <p:spPr bwMode="auto">
          <a:xfrm>
            <a:off x="2984501" y="2555875"/>
            <a:ext cx="468313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76" name="Rectangle 13"/>
          <p:cNvSpPr>
            <a:spLocks noChangeArrowheads="1"/>
          </p:cNvSpPr>
          <p:nvPr/>
        </p:nvSpPr>
        <p:spPr bwMode="auto">
          <a:xfrm>
            <a:off x="3452813" y="2555875"/>
            <a:ext cx="469900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77" name="Rectangle 14"/>
          <p:cNvSpPr>
            <a:spLocks noChangeArrowheads="1"/>
          </p:cNvSpPr>
          <p:nvPr/>
        </p:nvSpPr>
        <p:spPr bwMode="auto">
          <a:xfrm>
            <a:off x="3922713" y="2555875"/>
            <a:ext cx="468312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78" name="Rectangle 15"/>
          <p:cNvSpPr>
            <a:spLocks noChangeArrowheads="1"/>
          </p:cNvSpPr>
          <p:nvPr/>
        </p:nvSpPr>
        <p:spPr bwMode="auto">
          <a:xfrm>
            <a:off x="4373564" y="2555875"/>
            <a:ext cx="471487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79" name="Rectangle 16"/>
          <p:cNvSpPr>
            <a:spLocks noChangeArrowheads="1"/>
          </p:cNvSpPr>
          <p:nvPr/>
        </p:nvSpPr>
        <p:spPr bwMode="auto">
          <a:xfrm>
            <a:off x="4845051" y="2555875"/>
            <a:ext cx="468313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80" name="Rectangle 17"/>
          <p:cNvSpPr>
            <a:spLocks noChangeArrowheads="1"/>
          </p:cNvSpPr>
          <p:nvPr/>
        </p:nvSpPr>
        <p:spPr bwMode="auto">
          <a:xfrm>
            <a:off x="2044700" y="3025776"/>
            <a:ext cx="471488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81" name="Rectangle 18"/>
          <p:cNvSpPr>
            <a:spLocks noChangeArrowheads="1"/>
          </p:cNvSpPr>
          <p:nvPr/>
        </p:nvSpPr>
        <p:spPr bwMode="auto">
          <a:xfrm>
            <a:off x="2516188" y="30257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204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82" name="Rectangle 19"/>
          <p:cNvSpPr>
            <a:spLocks noChangeArrowheads="1"/>
          </p:cNvSpPr>
          <p:nvPr/>
        </p:nvSpPr>
        <p:spPr bwMode="auto">
          <a:xfrm>
            <a:off x="2984501" y="30257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83" name="Rectangle 20"/>
          <p:cNvSpPr>
            <a:spLocks noChangeArrowheads="1"/>
          </p:cNvSpPr>
          <p:nvPr/>
        </p:nvSpPr>
        <p:spPr bwMode="auto">
          <a:xfrm>
            <a:off x="3452813" y="3025776"/>
            <a:ext cx="469900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84" name="Rectangle 21"/>
          <p:cNvSpPr>
            <a:spLocks noChangeArrowheads="1"/>
          </p:cNvSpPr>
          <p:nvPr/>
        </p:nvSpPr>
        <p:spPr bwMode="auto">
          <a:xfrm>
            <a:off x="3922713" y="30257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85" name="Rectangle 22"/>
          <p:cNvSpPr>
            <a:spLocks noChangeArrowheads="1"/>
          </p:cNvSpPr>
          <p:nvPr/>
        </p:nvSpPr>
        <p:spPr bwMode="auto">
          <a:xfrm>
            <a:off x="4373564" y="3025776"/>
            <a:ext cx="471487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86" name="Rectangle 23"/>
          <p:cNvSpPr>
            <a:spLocks noChangeArrowheads="1"/>
          </p:cNvSpPr>
          <p:nvPr/>
        </p:nvSpPr>
        <p:spPr bwMode="auto">
          <a:xfrm>
            <a:off x="4845051" y="30257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87" name="Rectangle 24"/>
          <p:cNvSpPr>
            <a:spLocks noChangeArrowheads="1"/>
          </p:cNvSpPr>
          <p:nvPr/>
        </p:nvSpPr>
        <p:spPr bwMode="auto">
          <a:xfrm>
            <a:off x="2044700" y="3486150"/>
            <a:ext cx="471488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88" name="Rectangle 25"/>
          <p:cNvSpPr>
            <a:spLocks noChangeArrowheads="1"/>
          </p:cNvSpPr>
          <p:nvPr/>
        </p:nvSpPr>
        <p:spPr bwMode="auto">
          <a:xfrm>
            <a:off x="2516188" y="3486150"/>
            <a:ext cx="468312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89" name="Rectangle 26"/>
          <p:cNvSpPr>
            <a:spLocks noChangeArrowheads="1"/>
          </p:cNvSpPr>
          <p:nvPr/>
        </p:nvSpPr>
        <p:spPr bwMode="auto">
          <a:xfrm>
            <a:off x="2984501" y="3486150"/>
            <a:ext cx="468313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90" name="Rectangle 27"/>
          <p:cNvSpPr>
            <a:spLocks noChangeArrowheads="1"/>
          </p:cNvSpPr>
          <p:nvPr/>
        </p:nvSpPr>
        <p:spPr bwMode="auto">
          <a:xfrm>
            <a:off x="3452813" y="3486150"/>
            <a:ext cx="469900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91" name="Rectangle 28"/>
          <p:cNvSpPr>
            <a:spLocks noChangeArrowheads="1"/>
          </p:cNvSpPr>
          <p:nvPr/>
        </p:nvSpPr>
        <p:spPr bwMode="auto">
          <a:xfrm>
            <a:off x="3922713" y="3486150"/>
            <a:ext cx="468312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92" name="Rectangle 29"/>
          <p:cNvSpPr>
            <a:spLocks noChangeArrowheads="1"/>
          </p:cNvSpPr>
          <p:nvPr/>
        </p:nvSpPr>
        <p:spPr bwMode="auto">
          <a:xfrm>
            <a:off x="4373564" y="3486150"/>
            <a:ext cx="471487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93" name="Rectangle 30"/>
          <p:cNvSpPr>
            <a:spLocks noChangeArrowheads="1"/>
          </p:cNvSpPr>
          <p:nvPr/>
        </p:nvSpPr>
        <p:spPr bwMode="auto">
          <a:xfrm>
            <a:off x="4845051" y="3486150"/>
            <a:ext cx="468313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94" name="Rectangle 31"/>
          <p:cNvSpPr>
            <a:spLocks noChangeArrowheads="1"/>
          </p:cNvSpPr>
          <p:nvPr/>
        </p:nvSpPr>
        <p:spPr bwMode="auto">
          <a:xfrm>
            <a:off x="2044700" y="3935413"/>
            <a:ext cx="471488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95" name="Rectangle 32"/>
          <p:cNvSpPr>
            <a:spLocks noChangeArrowheads="1"/>
          </p:cNvSpPr>
          <p:nvPr/>
        </p:nvSpPr>
        <p:spPr bwMode="auto">
          <a:xfrm>
            <a:off x="2516188" y="39354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96" name="Rectangle 33"/>
          <p:cNvSpPr>
            <a:spLocks noChangeArrowheads="1"/>
          </p:cNvSpPr>
          <p:nvPr/>
        </p:nvSpPr>
        <p:spPr bwMode="auto">
          <a:xfrm>
            <a:off x="2984501" y="39354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97" name="Rectangle 34"/>
          <p:cNvSpPr>
            <a:spLocks noChangeArrowheads="1"/>
          </p:cNvSpPr>
          <p:nvPr/>
        </p:nvSpPr>
        <p:spPr bwMode="auto">
          <a:xfrm>
            <a:off x="3452813" y="3935413"/>
            <a:ext cx="469900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98" name="Rectangle 35"/>
          <p:cNvSpPr>
            <a:spLocks noChangeArrowheads="1"/>
          </p:cNvSpPr>
          <p:nvPr/>
        </p:nvSpPr>
        <p:spPr bwMode="auto">
          <a:xfrm>
            <a:off x="3922713" y="39354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499" name="Rectangle 36"/>
          <p:cNvSpPr>
            <a:spLocks noChangeArrowheads="1"/>
          </p:cNvSpPr>
          <p:nvPr/>
        </p:nvSpPr>
        <p:spPr bwMode="auto">
          <a:xfrm>
            <a:off x="4373564" y="3935413"/>
            <a:ext cx="471487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500" name="Rectangle 37"/>
          <p:cNvSpPr>
            <a:spLocks noChangeArrowheads="1"/>
          </p:cNvSpPr>
          <p:nvPr/>
        </p:nvSpPr>
        <p:spPr bwMode="auto">
          <a:xfrm>
            <a:off x="4845051" y="39354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501" name="Rectangle 38"/>
          <p:cNvSpPr>
            <a:spLocks noChangeArrowheads="1"/>
          </p:cNvSpPr>
          <p:nvPr/>
        </p:nvSpPr>
        <p:spPr bwMode="auto">
          <a:xfrm>
            <a:off x="2044700" y="4395789"/>
            <a:ext cx="471488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148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502" name="Rectangle 39"/>
          <p:cNvSpPr>
            <a:spLocks noChangeArrowheads="1"/>
          </p:cNvSpPr>
          <p:nvPr/>
        </p:nvSpPr>
        <p:spPr bwMode="auto">
          <a:xfrm>
            <a:off x="2516188" y="4395789"/>
            <a:ext cx="468312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154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503" name="Rectangle 40"/>
          <p:cNvSpPr>
            <a:spLocks noChangeArrowheads="1"/>
          </p:cNvSpPr>
          <p:nvPr/>
        </p:nvSpPr>
        <p:spPr bwMode="auto">
          <a:xfrm>
            <a:off x="2984501" y="4395789"/>
            <a:ext cx="468313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504" name="Rectangle 41"/>
          <p:cNvSpPr>
            <a:spLocks noChangeArrowheads="1"/>
          </p:cNvSpPr>
          <p:nvPr/>
        </p:nvSpPr>
        <p:spPr bwMode="auto">
          <a:xfrm>
            <a:off x="3452813" y="4395789"/>
            <a:ext cx="469900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160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505" name="Rectangle 42"/>
          <p:cNvSpPr>
            <a:spLocks noChangeArrowheads="1"/>
          </p:cNvSpPr>
          <p:nvPr/>
        </p:nvSpPr>
        <p:spPr bwMode="auto">
          <a:xfrm>
            <a:off x="3922713" y="4395789"/>
            <a:ext cx="468312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163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506" name="Rectangle 43"/>
          <p:cNvSpPr>
            <a:spLocks noChangeArrowheads="1"/>
          </p:cNvSpPr>
          <p:nvPr/>
        </p:nvSpPr>
        <p:spPr bwMode="auto">
          <a:xfrm>
            <a:off x="4373564" y="4395789"/>
            <a:ext cx="471487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167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507" name="Rectangle 44"/>
          <p:cNvSpPr>
            <a:spLocks noChangeArrowheads="1"/>
          </p:cNvSpPr>
          <p:nvPr/>
        </p:nvSpPr>
        <p:spPr bwMode="auto">
          <a:xfrm>
            <a:off x="4845051" y="4395789"/>
            <a:ext cx="468313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170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508" name="Rectangle 45"/>
          <p:cNvSpPr>
            <a:spLocks noChangeArrowheads="1"/>
          </p:cNvSpPr>
          <p:nvPr/>
        </p:nvSpPr>
        <p:spPr bwMode="auto">
          <a:xfrm>
            <a:off x="2044700" y="4867276"/>
            <a:ext cx="471488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509" name="Rectangle 46"/>
          <p:cNvSpPr>
            <a:spLocks noChangeArrowheads="1"/>
          </p:cNvSpPr>
          <p:nvPr/>
        </p:nvSpPr>
        <p:spPr bwMode="auto">
          <a:xfrm>
            <a:off x="2516188" y="48672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510" name="Rectangle 47"/>
          <p:cNvSpPr>
            <a:spLocks noChangeArrowheads="1"/>
          </p:cNvSpPr>
          <p:nvPr/>
        </p:nvSpPr>
        <p:spPr bwMode="auto">
          <a:xfrm>
            <a:off x="2984501" y="48672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159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511" name="Rectangle 48"/>
          <p:cNvSpPr>
            <a:spLocks noChangeArrowheads="1"/>
          </p:cNvSpPr>
          <p:nvPr/>
        </p:nvSpPr>
        <p:spPr bwMode="auto">
          <a:xfrm>
            <a:off x="3452813" y="4867276"/>
            <a:ext cx="469900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162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512" name="Rectangle 49"/>
          <p:cNvSpPr>
            <a:spLocks noChangeArrowheads="1"/>
          </p:cNvSpPr>
          <p:nvPr/>
        </p:nvSpPr>
        <p:spPr bwMode="auto">
          <a:xfrm>
            <a:off x="3922713" y="48672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165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513" name="Rectangle 50"/>
          <p:cNvSpPr>
            <a:spLocks noChangeArrowheads="1"/>
          </p:cNvSpPr>
          <p:nvPr/>
        </p:nvSpPr>
        <p:spPr bwMode="auto">
          <a:xfrm>
            <a:off x="4373564" y="4867276"/>
            <a:ext cx="471487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169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514" name="Rectangle 51"/>
          <p:cNvSpPr>
            <a:spLocks noChangeArrowheads="1"/>
          </p:cNvSpPr>
          <p:nvPr/>
        </p:nvSpPr>
        <p:spPr bwMode="auto">
          <a:xfrm>
            <a:off x="4845051" y="48672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172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2515" name="Line 52"/>
          <p:cNvSpPr>
            <a:spLocks noChangeShapeType="1"/>
          </p:cNvSpPr>
          <p:nvPr/>
        </p:nvSpPr>
        <p:spPr bwMode="auto">
          <a:xfrm>
            <a:off x="2044700" y="2093913"/>
            <a:ext cx="3657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2516" name="Line 53"/>
          <p:cNvSpPr>
            <a:spLocks noChangeShapeType="1"/>
          </p:cNvSpPr>
          <p:nvPr/>
        </p:nvSpPr>
        <p:spPr bwMode="auto">
          <a:xfrm rot="5400000">
            <a:off x="184944" y="3953669"/>
            <a:ext cx="3719512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2517" name="Text Box 54"/>
          <p:cNvSpPr txBox="1">
            <a:spLocks noChangeArrowheads="1"/>
          </p:cNvSpPr>
          <p:nvPr/>
        </p:nvSpPr>
        <p:spPr bwMode="auto">
          <a:xfrm>
            <a:off x="1917700" y="1720850"/>
            <a:ext cx="22012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Original Image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518" name="Text Box 55"/>
          <p:cNvSpPr txBox="1">
            <a:spLocks noChangeArrowheads="1"/>
          </p:cNvSpPr>
          <p:nvPr/>
        </p:nvSpPr>
        <p:spPr bwMode="auto">
          <a:xfrm>
            <a:off x="5513388" y="1752600"/>
            <a:ext cx="3449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x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519" name="Text Box 56"/>
          <p:cNvSpPr txBox="1">
            <a:spLocks noChangeArrowheads="1"/>
          </p:cNvSpPr>
          <p:nvPr/>
        </p:nvSpPr>
        <p:spPr bwMode="auto">
          <a:xfrm>
            <a:off x="1762125" y="5556250"/>
            <a:ext cx="3690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y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520" name="Text Box 57"/>
          <p:cNvSpPr txBox="1">
            <a:spLocks noChangeArrowheads="1"/>
          </p:cNvSpPr>
          <p:nvPr/>
        </p:nvSpPr>
        <p:spPr bwMode="auto">
          <a:xfrm>
            <a:off x="3963989" y="5335588"/>
            <a:ext cx="20329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Image f (x, y)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2521" name="Group 58"/>
          <p:cNvGrpSpPr>
            <a:grpSpLocks/>
          </p:cNvGrpSpPr>
          <p:nvPr/>
        </p:nvGrpSpPr>
        <p:grpSpPr bwMode="auto">
          <a:xfrm>
            <a:off x="6335711" y="1719264"/>
            <a:ext cx="4243386" cy="4221163"/>
            <a:chOff x="3031" y="1083"/>
            <a:chExt cx="2673" cy="2659"/>
          </a:xfrm>
        </p:grpSpPr>
        <p:sp>
          <p:nvSpPr>
            <p:cNvPr id="62523" name="Rectangle 59"/>
            <p:cNvSpPr>
              <a:spLocks noChangeArrowheads="1"/>
            </p:cNvSpPr>
            <p:nvPr/>
          </p:nvSpPr>
          <p:spPr bwMode="auto">
            <a:xfrm>
              <a:off x="3209" y="1328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24" name="Rectangle 60"/>
            <p:cNvSpPr>
              <a:spLocks noChangeArrowheads="1"/>
            </p:cNvSpPr>
            <p:nvPr/>
          </p:nvSpPr>
          <p:spPr bwMode="auto">
            <a:xfrm>
              <a:off x="3506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25" name="Rectangle 61"/>
            <p:cNvSpPr>
              <a:spLocks noChangeArrowheads="1"/>
            </p:cNvSpPr>
            <p:nvPr/>
          </p:nvSpPr>
          <p:spPr bwMode="auto">
            <a:xfrm>
              <a:off x="3801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26" name="Rectangle 62"/>
            <p:cNvSpPr>
              <a:spLocks noChangeArrowheads="1"/>
            </p:cNvSpPr>
            <p:nvPr/>
          </p:nvSpPr>
          <p:spPr bwMode="auto">
            <a:xfrm>
              <a:off x="4096" y="1328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27" name="Rectangle 63"/>
            <p:cNvSpPr>
              <a:spLocks noChangeArrowheads="1"/>
            </p:cNvSpPr>
            <p:nvPr/>
          </p:nvSpPr>
          <p:spPr bwMode="auto">
            <a:xfrm>
              <a:off x="4392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28" name="Rectangle 64"/>
            <p:cNvSpPr>
              <a:spLocks noChangeArrowheads="1"/>
            </p:cNvSpPr>
            <p:nvPr/>
          </p:nvSpPr>
          <p:spPr bwMode="auto">
            <a:xfrm>
              <a:off x="4676" y="1328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29" name="Rectangle 65"/>
            <p:cNvSpPr>
              <a:spLocks noChangeArrowheads="1"/>
            </p:cNvSpPr>
            <p:nvPr/>
          </p:nvSpPr>
          <p:spPr bwMode="auto">
            <a:xfrm>
              <a:off x="4973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30" name="Rectangle 66"/>
            <p:cNvSpPr>
              <a:spLocks noChangeArrowheads="1"/>
            </p:cNvSpPr>
            <p:nvPr/>
          </p:nvSpPr>
          <p:spPr bwMode="auto">
            <a:xfrm>
              <a:off x="3209" y="1618"/>
              <a:ext cx="297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31" name="Rectangle 67"/>
            <p:cNvSpPr>
              <a:spLocks noChangeArrowheads="1"/>
            </p:cNvSpPr>
            <p:nvPr/>
          </p:nvSpPr>
          <p:spPr bwMode="auto">
            <a:xfrm>
              <a:off x="3506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32" name="Rectangle 68"/>
            <p:cNvSpPr>
              <a:spLocks noChangeArrowheads="1"/>
            </p:cNvSpPr>
            <p:nvPr/>
          </p:nvSpPr>
          <p:spPr bwMode="auto">
            <a:xfrm>
              <a:off x="3801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33" name="Rectangle 69"/>
            <p:cNvSpPr>
              <a:spLocks noChangeArrowheads="1"/>
            </p:cNvSpPr>
            <p:nvPr/>
          </p:nvSpPr>
          <p:spPr bwMode="auto">
            <a:xfrm>
              <a:off x="4096" y="1618"/>
              <a:ext cx="296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34" name="Rectangle 70"/>
            <p:cNvSpPr>
              <a:spLocks noChangeArrowheads="1"/>
            </p:cNvSpPr>
            <p:nvPr/>
          </p:nvSpPr>
          <p:spPr bwMode="auto">
            <a:xfrm>
              <a:off x="4392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35" name="Rectangle 71"/>
            <p:cNvSpPr>
              <a:spLocks noChangeArrowheads="1"/>
            </p:cNvSpPr>
            <p:nvPr/>
          </p:nvSpPr>
          <p:spPr bwMode="auto">
            <a:xfrm>
              <a:off x="4676" y="1618"/>
              <a:ext cx="297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36" name="Rectangle 72"/>
            <p:cNvSpPr>
              <a:spLocks noChangeArrowheads="1"/>
            </p:cNvSpPr>
            <p:nvPr/>
          </p:nvSpPr>
          <p:spPr bwMode="auto">
            <a:xfrm>
              <a:off x="4973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37" name="Rectangle 73"/>
            <p:cNvSpPr>
              <a:spLocks noChangeArrowheads="1"/>
            </p:cNvSpPr>
            <p:nvPr/>
          </p:nvSpPr>
          <p:spPr bwMode="auto">
            <a:xfrm>
              <a:off x="3209" y="1915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38" name="Rectangle 74"/>
            <p:cNvSpPr>
              <a:spLocks noChangeArrowheads="1"/>
            </p:cNvSpPr>
            <p:nvPr/>
          </p:nvSpPr>
          <p:spPr bwMode="auto">
            <a:xfrm>
              <a:off x="3506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39" name="Rectangle 75"/>
            <p:cNvSpPr>
              <a:spLocks noChangeArrowheads="1"/>
            </p:cNvSpPr>
            <p:nvPr/>
          </p:nvSpPr>
          <p:spPr bwMode="auto">
            <a:xfrm>
              <a:off x="3801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40" name="Rectangle 76"/>
            <p:cNvSpPr>
              <a:spLocks noChangeArrowheads="1"/>
            </p:cNvSpPr>
            <p:nvPr/>
          </p:nvSpPr>
          <p:spPr bwMode="auto">
            <a:xfrm>
              <a:off x="4096" y="1915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41" name="Rectangle 77"/>
            <p:cNvSpPr>
              <a:spLocks noChangeArrowheads="1"/>
            </p:cNvSpPr>
            <p:nvPr/>
          </p:nvSpPr>
          <p:spPr bwMode="auto">
            <a:xfrm>
              <a:off x="4392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42" name="Rectangle 78"/>
            <p:cNvSpPr>
              <a:spLocks noChangeArrowheads="1"/>
            </p:cNvSpPr>
            <p:nvPr/>
          </p:nvSpPr>
          <p:spPr bwMode="auto">
            <a:xfrm>
              <a:off x="4676" y="1915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43" name="Rectangle 79"/>
            <p:cNvSpPr>
              <a:spLocks noChangeArrowheads="1"/>
            </p:cNvSpPr>
            <p:nvPr/>
          </p:nvSpPr>
          <p:spPr bwMode="auto">
            <a:xfrm>
              <a:off x="4973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44" name="Rectangle 80"/>
            <p:cNvSpPr>
              <a:spLocks noChangeArrowheads="1"/>
            </p:cNvSpPr>
            <p:nvPr/>
          </p:nvSpPr>
          <p:spPr bwMode="auto">
            <a:xfrm>
              <a:off x="3209" y="220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45" name="Rectangle 81"/>
            <p:cNvSpPr>
              <a:spLocks noChangeArrowheads="1"/>
            </p:cNvSpPr>
            <p:nvPr/>
          </p:nvSpPr>
          <p:spPr bwMode="auto">
            <a:xfrm>
              <a:off x="3506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46" name="Rectangle 82"/>
            <p:cNvSpPr>
              <a:spLocks noChangeArrowheads="1"/>
            </p:cNvSpPr>
            <p:nvPr/>
          </p:nvSpPr>
          <p:spPr bwMode="auto">
            <a:xfrm>
              <a:off x="3801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47" name="Rectangle 83"/>
            <p:cNvSpPr>
              <a:spLocks noChangeArrowheads="1"/>
            </p:cNvSpPr>
            <p:nvPr/>
          </p:nvSpPr>
          <p:spPr bwMode="auto">
            <a:xfrm>
              <a:off x="4096" y="2207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48" name="Rectangle 84"/>
            <p:cNvSpPr>
              <a:spLocks noChangeArrowheads="1"/>
            </p:cNvSpPr>
            <p:nvPr/>
          </p:nvSpPr>
          <p:spPr bwMode="auto">
            <a:xfrm>
              <a:off x="4392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49" name="Rectangle 85"/>
            <p:cNvSpPr>
              <a:spLocks noChangeArrowheads="1"/>
            </p:cNvSpPr>
            <p:nvPr/>
          </p:nvSpPr>
          <p:spPr bwMode="auto">
            <a:xfrm>
              <a:off x="4676" y="220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50" name="Rectangle 86"/>
            <p:cNvSpPr>
              <a:spLocks noChangeArrowheads="1"/>
            </p:cNvSpPr>
            <p:nvPr/>
          </p:nvSpPr>
          <p:spPr bwMode="auto">
            <a:xfrm>
              <a:off x="4973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51" name="Rectangle 87"/>
            <p:cNvSpPr>
              <a:spLocks noChangeArrowheads="1"/>
            </p:cNvSpPr>
            <p:nvPr/>
          </p:nvSpPr>
          <p:spPr bwMode="auto">
            <a:xfrm>
              <a:off x="3209" y="248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52" name="Rectangle 88"/>
            <p:cNvSpPr>
              <a:spLocks noChangeArrowheads="1"/>
            </p:cNvSpPr>
            <p:nvPr/>
          </p:nvSpPr>
          <p:spPr bwMode="auto">
            <a:xfrm>
              <a:off x="3506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53" name="Rectangle 89"/>
            <p:cNvSpPr>
              <a:spLocks noChangeArrowheads="1"/>
            </p:cNvSpPr>
            <p:nvPr/>
          </p:nvSpPr>
          <p:spPr bwMode="auto">
            <a:xfrm>
              <a:off x="3801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54" name="Rectangle 90"/>
            <p:cNvSpPr>
              <a:spLocks noChangeArrowheads="1"/>
            </p:cNvSpPr>
            <p:nvPr/>
          </p:nvSpPr>
          <p:spPr bwMode="auto">
            <a:xfrm>
              <a:off x="4096" y="2487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55" name="Rectangle 91"/>
            <p:cNvSpPr>
              <a:spLocks noChangeArrowheads="1"/>
            </p:cNvSpPr>
            <p:nvPr/>
          </p:nvSpPr>
          <p:spPr bwMode="auto">
            <a:xfrm>
              <a:off x="4392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56" name="Rectangle 92"/>
            <p:cNvSpPr>
              <a:spLocks noChangeArrowheads="1"/>
            </p:cNvSpPr>
            <p:nvPr/>
          </p:nvSpPr>
          <p:spPr bwMode="auto">
            <a:xfrm>
              <a:off x="4676" y="248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57" name="Rectangle 93"/>
            <p:cNvSpPr>
              <a:spLocks noChangeArrowheads="1"/>
            </p:cNvSpPr>
            <p:nvPr/>
          </p:nvSpPr>
          <p:spPr bwMode="auto">
            <a:xfrm>
              <a:off x="4973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58" name="Rectangle 94"/>
            <p:cNvSpPr>
              <a:spLocks noChangeArrowheads="1"/>
            </p:cNvSpPr>
            <p:nvPr/>
          </p:nvSpPr>
          <p:spPr bwMode="auto">
            <a:xfrm>
              <a:off x="3209" y="2779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59" name="Rectangle 95"/>
            <p:cNvSpPr>
              <a:spLocks noChangeArrowheads="1"/>
            </p:cNvSpPr>
            <p:nvPr/>
          </p:nvSpPr>
          <p:spPr bwMode="auto">
            <a:xfrm>
              <a:off x="3506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60" name="Rectangle 96"/>
            <p:cNvSpPr>
              <a:spLocks noChangeArrowheads="1"/>
            </p:cNvSpPr>
            <p:nvPr/>
          </p:nvSpPr>
          <p:spPr bwMode="auto">
            <a:xfrm>
              <a:off x="3801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61" name="Rectangle 97"/>
            <p:cNvSpPr>
              <a:spLocks noChangeArrowheads="1"/>
            </p:cNvSpPr>
            <p:nvPr/>
          </p:nvSpPr>
          <p:spPr bwMode="auto">
            <a:xfrm>
              <a:off x="4096" y="2779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62" name="Rectangle 98"/>
            <p:cNvSpPr>
              <a:spLocks noChangeArrowheads="1"/>
            </p:cNvSpPr>
            <p:nvPr/>
          </p:nvSpPr>
          <p:spPr bwMode="auto">
            <a:xfrm>
              <a:off x="4392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63" name="Rectangle 99"/>
            <p:cNvSpPr>
              <a:spLocks noChangeArrowheads="1"/>
            </p:cNvSpPr>
            <p:nvPr/>
          </p:nvSpPr>
          <p:spPr bwMode="auto">
            <a:xfrm>
              <a:off x="4676" y="2779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64" name="Rectangle 100"/>
            <p:cNvSpPr>
              <a:spLocks noChangeArrowheads="1"/>
            </p:cNvSpPr>
            <p:nvPr/>
          </p:nvSpPr>
          <p:spPr bwMode="auto">
            <a:xfrm>
              <a:off x="4973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65" name="Rectangle 101"/>
            <p:cNvSpPr>
              <a:spLocks noChangeArrowheads="1"/>
            </p:cNvSpPr>
            <p:nvPr/>
          </p:nvSpPr>
          <p:spPr bwMode="auto">
            <a:xfrm>
              <a:off x="3209" y="3074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66" name="Rectangle 102"/>
            <p:cNvSpPr>
              <a:spLocks noChangeArrowheads="1"/>
            </p:cNvSpPr>
            <p:nvPr/>
          </p:nvSpPr>
          <p:spPr bwMode="auto">
            <a:xfrm>
              <a:off x="3506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67" name="Rectangle 103"/>
            <p:cNvSpPr>
              <a:spLocks noChangeArrowheads="1"/>
            </p:cNvSpPr>
            <p:nvPr/>
          </p:nvSpPr>
          <p:spPr bwMode="auto">
            <a:xfrm>
              <a:off x="3801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68" name="Rectangle 104"/>
            <p:cNvSpPr>
              <a:spLocks noChangeArrowheads="1"/>
            </p:cNvSpPr>
            <p:nvPr/>
          </p:nvSpPr>
          <p:spPr bwMode="auto">
            <a:xfrm>
              <a:off x="4096" y="3074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69" name="Rectangle 105"/>
            <p:cNvSpPr>
              <a:spLocks noChangeArrowheads="1"/>
            </p:cNvSpPr>
            <p:nvPr/>
          </p:nvSpPr>
          <p:spPr bwMode="auto">
            <a:xfrm>
              <a:off x="4392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70" name="Rectangle 106"/>
            <p:cNvSpPr>
              <a:spLocks noChangeArrowheads="1"/>
            </p:cNvSpPr>
            <p:nvPr/>
          </p:nvSpPr>
          <p:spPr bwMode="auto">
            <a:xfrm>
              <a:off x="4676" y="3074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71" name="Rectangle 107"/>
            <p:cNvSpPr>
              <a:spLocks noChangeArrowheads="1"/>
            </p:cNvSpPr>
            <p:nvPr/>
          </p:nvSpPr>
          <p:spPr bwMode="auto">
            <a:xfrm>
              <a:off x="4973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2572" name="Line 108"/>
            <p:cNvSpPr>
              <a:spLocks noChangeShapeType="1"/>
            </p:cNvSpPr>
            <p:nvPr/>
          </p:nvSpPr>
          <p:spPr bwMode="auto">
            <a:xfrm>
              <a:off x="3209" y="1328"/>
              <a:ext cx="230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2573" name="Line 109"/>
            <p:cNvSpPr>
              <a:spLocks noChangeShapeType="1"/>
            </p:cNvSpPr>
            <p:nvPr/>
          </p:nvSpPr>
          <p:spPr bwMode="auto">
            <a:xfrm rot="5400000">
              <a:off x="2037" y="2500"/>
              <a:ext cx="234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2574" name="Text Box 110"/>
            <p:cNvSpPr txBox="1">
              <a:spLocks noChangeArrowheads="1"/>
            </p:cNvSpPr>
            <p:nvPr/>
          </p:nvSpPr>
          <p:spPr bwMode="auto">
            <a:xfrm>
              <a:off x="3154" y="1083"/>
              <a:ext cx="11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</a:rPr>
                <a:t>Filtered</a:t>
              </a:r>
              <a:r>
                <a:rPr lang="en-IE" altLang="en-US" sz="1800">
                  <a:solidFill>
                    <a:srgbClr val="000000"/>
                  </a:solidFill>
                </a:rPr>
                <a:t> </a:t>
              </a: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575" name="Text Box 111"/>
            <p:cNvSpPr txBox="1">
              <a:spLocks noChangeArrowheads="1"/>
            </p:cNvSpPr>
            <p:nvPr/>
          </p:nvSpPr>
          <p:spPr bwMode="auto">
            <a:xfrm>
              <a:off x="5394" y="1104"/>
              <a:ext cx="21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576" name="Text Box 112"/>
            <p:cNvSpPr txBox="1">
              <a:spLocks noChangeArrowheads="1"/>
            </p:cNvSpPr>
            <p:nvPr/>
          </p:nvSpPr>
          <p:spPr bwMode="auto">
            <a:xfrm>
              <a:off x="3031" y="3509"/>
              <a:ext cx="23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577" name="Text Box 113"/>
            <p:cNvSpPr txBox="1">
              <a:spLocks noChangeArrowheads="1"/>
            </p:cNvSpPr>
            <p:nvPr/>
          </p:nvSpPr>
          <p:spPr bwMode="auto">
            <a:xfrm>
              <a:off x="4423" y="3361"/>
              <a:ext cx="12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 f (x, y)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</p:grpSp>
      <p:pic>
        <p:nvPicPr>
          <p:cNvPr id="62522" name="Picture 114" descr="MCj031081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900" y="149226"/>
            <a:ext cx="1042988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6811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Other Means (cont…)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  <a:tabLst>
                <a:tab pos="1339850" algn="l"/>
              </a:tabLst>
            </a:pPr>
            <a:r>
              <a:rPr lang="en-IE" altLang="en-US" b="1" smtClean="0">
                <a:ea typeface="ＭＳ Ｐゴシック" panose="020B0600070205080204" pitchFamily="34" charset="-128"/>
              </a:rPr>
              <a:t>Harmonic Mean:</a:t>
            </a:r>
          </a:p>
          <a:p>
            <a:pPr marL="0" indent="0" eaLnBrk="1" hangingPunct="1">
              <a:buNone/>
              <a:tabLst>
                <a:tab pos="1339850" algn="l"/>
              </a:tabLst>
            </a:pPr>
            <a:endParaRPr lang="en-IE" altLang="en-US" smtClean="0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  <a:tabLst>
                <a:tab pos="1339850" algn="l"/>
              </a:tabLst>
            </a:pPr>
            <a:endParaRPr lang="en-IE" altLang="en-US" smtClean="0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  <a:tabLst>
                <a:tab pos="1339850" algn="l"/>
              </a:tabLst>
            </a:pPr>
            <a:endParaRPr lang="en-IE" altLang="en-US" smtClean="0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  <a:tabLst>
                <a:tab pos="1339850" algn="l"/>
              </a:tabLst>
            </a:pPr>
            <a:r>
              <a:rPr lang="en-IE" altLang="en-US" smtClean="0">
                <a:ea typeface="ＭＳ Ｐゴシック" panose="020B0600070205080204" pitchFamily="34" charset="-128"/>
              </a:rPr>
              <a:t>Works well for salt noise, but fails for pepper noise</a:t>
            </a:r>
          </a:p>
          <a:p>
            <a:pPr marL="0" indent="0" eaLnBrk="1" hangingPunct="1">
              <a:buNone/>
              <a:tabLst>
                <a:tab pos="1339850" algn="l"/>
              </a:tabLst>
            </a:pPr>
            <a:r>
              <a:rPr lang="en-IE" altLang="en-US" smtClean="0">
                <a:ea typeface="ＭＳ Ｐゴシック" panose="020B0600070205080204" pitchFamily="34" charset="-128"/>
              </a:rPr>
              <a:t>Also does well for other kinds of noise such as Gaussian noise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graphicFrame>
        <p:nvGraphicFramePr>
          <p:cNvPr id="64515" name="Object 2"/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4" imgW="114151" imgH="215619" progId="Equation.3">
                  <p:embed/>
                </p:oleObj>
              </mc:Choice>
              <mc:Fallback>
                <p:oleObj name="Equation" r:id="rId4" imgW="114151" imgH="215619" progId="Equation.3">
                  <p:embed/>
                  <p:pic>
                    <p:nvPicPr>
                      <p:cNvPr id="6451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6" name="Object 3"/>
          <p:cNvGraphicFramePr>
            <a:graphicFrameLocks noChangeAspect="1"/>
          </p:cNvGraphicFramePr>
          <p:nvPr/>
        </p:nvGraphicFramePr>
        <p:xfrm>
          <a:off x="2905125" y="1865314"/>
          <a:ext cx="3976688" cy="181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quation" r:id="rId6" imgW="1422400" imgH="647700" progId="Equation.3">
                  <p:embed/>
                </p:oleObj>
              </mc:Choice>
              <mc:Fallback>
                <p:oleObj name="Equation" r:id="rId6" imgW="1422400" imgH="647700" progId="Equation.3">
                  <p:embed/>
                  <p:pic>
                    <p:nvPicPr>
                      <p:cNvPr id="6451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25" y="1865314"/>
                        <a:ext cx="3976688" cy="181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4517" name="Picture 6" descr="MCj03108180000[1]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650" y="149226"/>
            <a:ext cx="1042988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8760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Corruption Example</a:t>
            </a:r>
            <a:endParaRPr lang="en-GB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66562" name="Rectangle 3"/>
          <p:cNvSpPr>
            <a:spLocks noChangeArrowheads="1"/>
          </p:cNvSpPr>
          <p:nvPr/>
        </p:nvSpPr>
        <p:spPr bwMode="auto">
          <a:xfrm>
            <a:off x="2044700" y="2093913"/>
            <a:ext cx="471488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63" name="Rectangle 4"/>
          <p:cNvSpPr>
            <a:spLocks noChangeArrowheads="1"/>
          </p:cNvSpPr>
          <p:nvPr/>
        </p:nvSpPr>
        <p:spPr bwMode="auto">
          <a:xfrm>
            <a:off x="2516188" y="20939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64" name="Rectangle 5"/>
          <p:cNvSpPr>
            <a:spLocks noChangeArrowheads="1"/>
          </p:cNvSpPr>
          <p:nvPr/>
        </p:nvSpPr>
        <p:spPr bwMode="auto">
          <a:xfrm>
            <a:off x="2984501" y="20939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65" name="Rectangle 6"/>
          <p:cNvSpPr>
            <a:spLocks noChangeArrowheads="1"/>
          </p:cNvSpPr>
          <p:nvPr/>
        </p:nvSpPr>
        <p:spPr bwMode="auto">
          <a:xfrm>
            <a:off x="3452813" y="2093913"/>
            <a:ext cx="469900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66" name="Rectangle 7"/>
          <p:cNvSpPr>
            <a:spLocks noChangeArrowheads="1"/>
          </p:cNvSpPr>
          <p:nvPr/>
        </p:nvSpPr>
        <p:spPr bwMode="auto">
          <a:xfrm>
            <a:off x="3922713" y="20939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56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67" name="Rectangle 8"/>
          <p:cNvSpPr>
            <a:spLocks noChangeArrowheads="1"/>
          </p:cNvSpPr>
          <p:nvPr/>
        </p:nvSpPr>
        <p:spPr bwMode="auto">
          <a:xfrm>
            <a:off x="4373564" y="2093913"/>
            <a:ext cx="471487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68" name="Rectangle 9"/>
          <p:cNvSpPr>
            <a:spLocks noChangeArrowheads="1"/>
          </p:cNvSpPr>
          <p:nvPr/>
        </p:nvSpPr>
        <p:spPr bwMode="auto">
          <a:xfrm>
            <a:off x="4845051" y="20939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69" name="Rectangle 10"/>
          <p:cNvSpPr>
            <a:spLocks noChangeArrowheads="1"/>
          </p:cNvSpPr>
          <p:nvPr/>
        </p:nvSpPr>
        <p:spPr bwMode="auto">
          <a:xfrm>
            <a:off x="2044700" y="2555875"/>
            <a:ext cx="471488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70" name="Rectangle 11"/>
          <p:cNvSpPr>
            <a:spLocks noChangeArrowheads="1"/>
          </p:cNvSpPr>
          <p:nvPr/>
        </p:nvSpPr>
        <p:spPr bwMode="auto">
          <a:xfrm>
            <a:off x="2516188" y="2555875"/>
            <a:ext cx="468312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71" name="Rectangle 12"/>
          <p:cNvSpPr>
            <a:spLocks noChangeArrowheads="1"/>
          </p:cNvSpPr>
          <p:nvPr/>
        </p:nvSpPr>
        <p:spPr bwMode="auto">
          <a:xfrm>
            <a:off x="2984501" y="2555875"/>
            <a:ext cx="468313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72" name="Rectangle 13"/>
          <p:cNvSpPr>
            <a:spLocks noChangeArrowheads="1"/>
          </p:cNvSpPr>
          <p:nvPr/>
        </p:nvSpPr>
        <p:spPr bwMode="auto">
          <a:xfrm>
            <a:off x="3452813" y="2555875"/>
            <a:ext cx="469900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73" name="Rectangle 14"/>
          <p:cNvSpPr>
            <a:spLocks noChangeArrowheads="1"/>
          </p:cNvSpPr>
          <p:nvPr/>
        </p:nvSpPr>
        <p:spPr bwMode="auto">
          <a:xfrm>
            <a:off x="3922713" y="2555875"/>
            <a:ext cx="468312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74" name="Rectangle 15"/>
          <p:cNvSpPr>
            <a:spLocks noChangeArrowheads="1"/>
          </p:cNvSpPr>
          <p:nvPr/>
        </p:nvSpPr>
        <p:spPr bwMode="auto">
          <a:xfrm>
            <a:off x="4373564" y="2555875"/>
            <a:ext cx="471487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75" name="Rectangle 16"/>
          <p:cNvSpPr>
            <a:spLocks noChangeArrowheads="1"/>
          </p:cNvSpPr>
          <p:nvPr/>
        </p:nvSpPr>
        <p:spPr bwMode="auto">
          <a:xfrm>
            <a:off x="4845051" y="2555875"/>
            <a:ext cx="468313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76" name="Rectangle 17"/>
          <p:cNvSpPr>
            <a:spLocks noChangeArrowheads="1"/>
          </p:cNvSpPr>
          <p:nvPr/>
        </p:nvSpPr>
        <p:spPr bwMode="auto">
          <a:xfrm>
            <a:off x="2044700" y="3025776"/>
            <a:ext cx="471488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77" name="Rectangle 18"/>
          <p:cNvSpPr>
            <a:spLocks noChangeArrowheads="1"/>
          </p:cNvSpPr>
          <p:nvPr/>
        </p:nvSpPr>
        <p:spPr bwMode="auto">
          <a:xfrm>
            <a:off x="2516188" y="30257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204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78" name="Rectangle 19"/>
          <p:cNvSpPr>
            <a:spLocks noChangeArrowheads="1"/>
          </p:cNvSpPr>
          <p:nvPr/>
        </p:nvSpPr>
        <p:spPr bwMode="auto">
          <a:xfrm>
            <a:off x="2984501" y="30257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79" name="Rectangle 20"/>
          <p:cNvSpPr>
            <a:spLocks noChangeArrowheads="1"/>
          </p:cNvSpPr>
          <p:nvPr/>
        </p:nvSpPr>
        <p:spPr bwMode="auto">
          <a:xfrm>
            <a:off x="3452813" y="3025776"/>
            <a:ext cx="469900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80" name="Rectangle 21"/>
          <p:cNvSpPr>
            <a:spLocks noChangeArrowheads="1"/>
          </p:cNvSpPr>
          <p:nvPr/>
        </p:nvSpPr>
        <p:spPr bwMode="auto">
          <a:xfrm>
            <a:off x="3922713" y="30257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81" name="Rectangle 22"/>
          <p:cNvSpPr>
            <a:spLocks noChangeArrowheads="1"/>
          </p:cNvSpPr>
          <p:nvPr/>
        </p:nvSpPr>
        <p:spPr bwMode="auto">
          <a:xfrm>
            <a:off x="4373564" y="3025776"/>
            <a:ext cx="471487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82" name="Rectangle 23"/>
          <p:cNvSpPr>
            <a:spLocks noChangeArrowheads="1"/>
          </p:cNvSpPr>
          <p:nvPr/>
        </p:nvSpPr>
        <p:spPr bwMode="auto">
          <a:xfrm>
            <a:off x="4845051" y="30257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83" name="Rectangle 24"/>
          <p:cNvSpPr>
            <a:spLocks noChangeArrowheads="1"/>
          </p:cNvSpPr>
          <p:nvPr/>
        </p:nvSpPr>
        <p:spPr bwMode="auto">
          <a:xfrm>
            <a:off x="2044700" y="3486150"/>
            <a:ext cx="471488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84" name="Rectangle 25"/>
          <p:cNvSpPr>
            <a:spLocks noChangeArrowheads="1"/>
          </p:cNvSpPr>
          <p:nvPr/>
        </p:nvSpPr>
        <p:spPr bwMode="auto">
          <a:xfrm>
            <a:off x="2516188" y="3486150"/>
            <a:ext cx="468312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85" name="Rectangle 26"/>
          <p:cNvSpPr>
            <a:spLocks noChangeArrowheads="1"/>
          </p:cNvSpPr>
          <p:nvPr/>
        </p:nvSpPr>
        <p:spPr bwMode="auto">
          <a:xfrm>
            <a:off x="2984501" y="3486150"/>
            <a:ext cx="468313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86" name="Rectangle 27"/>
          <p:cNvSpPr>
            <a:spLocks noChangeArrowheads="1"/>
          </p:cNvSpPr>
          <p:nvPr/>
        </p:nvSpPr>
        <p:spPr bwMode="auto">
          <a:xfrm>
            <a:off x="3452813" y="3486150"/>
            <a:ext cx="469900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87" name="Rectangle 28"/>
          <p:cNvSpPr>
            <a:spLocks noChangeArrowheads="1"/>
          </p:cNvSpPr>
          <p:nvPr/>
        </p:nvSpPr>
        <p:spPr bwMode="auto">
          <a:xfrm>
            <a:off x="3922713" y="3486150"/>
            <a:ext cx="468312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88" name="Rectangle 29"/>
          <p:cNvSpPr>
            <a:spLocks noChangeArrowheads="1"/>
          </p:cNvSpPr>
          <p:nvPr/>
        </p:nvSpPr>
        <p:spPr bwMode="auto">
          <a:xfrm>
            <a:off x="4373564" y="3486150"/>
            <a:ext cx="471487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89" name="Rectangle 30"/>
          <p:cNvSpPr>
            <a:spLocks noChangeArrowheads="1"/>
          </p:cNvSpPr>
          <p:nvPr/>
        </p:nvSpPr>
        <p:spPr bwMode="auto">
          <a:xfrm>
            <a:off x="4845051" y="3486150"/>
            <a:ext cx="468313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90" name="Rectangle 31"/>
          <p:cNvSpPr>
            <a:spLocks noChangeArrowheads="1"/>
          </p:cNvSpPr>
          <p:nvPr/>
        </p:nvSpPr>
        <p:spPr bwMode="auto">
          <a:xfrm>
            <a:off x="2044700" y="3935413"/>
            <a:ext cx="471488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91" name="Rectangle 32"/>
          <p:cNvSpPr>
            <a:spLocks noChangeArrowheads="1"/>
          </p:cNvSpPr>
          <p:nvPr/>
        </p:nvSpPr>
        <p:spPr bwMode="auto">
          <a:xfrm>
            <a:off x="2516188" y="39354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92" name="Rectangle 33"/>
          <p:cNvSpPr>
            <a:spLocks noChangeArrowheads="1"/>
          </p:cNvSpPr>
          <p:nvPr/>
        </p:nvSpPr>
        <p:spPr bwMode="auto">
          <a:xfrm>
            <a:off x="2984501" y="39354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93" name="Rectangle 34"/>
          <p:cNvSpPr>
            <a:spLocks noChangeArrowheads="1"/>
          </p:cNvSpPr>
          <p:nvPr/>
        </p:nvSpPr>
        <p:spPr bwMode="auto">
          <a:xfrm>
            <a:off x="3452813" y="3935413"/>
            <a:ext cx="469900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94" name="Rectangle 35"/>
          <p:cNvSpPr>
            <a:spLocks noChangeArrowheads="1"/>
          </p:cNvSpPr>
          <p:nvPr/>
        </p:nvSpPr>
        <p:spPr bwMode="auto">
          <a:xfrm>
            <a:off x="3922713" y="39354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95" name="Rectangle 36"/>
          <p:cNvSpPr>
            <a:spLocks noChangeArrowheads="1"/>
          </p:cNvSpPr>
          <p:nvPr/>
        </p:nvSpPr>
        <p:spPr bwMode="auto">
          <a:xfrm>
            <a:off x="4373564" y="3935413"/>
            <a:ext cx="471487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96" name="Rectangle 37"/>
          <p:cNvSpPr>
            <a:spLocks noChangeArrowheads="1"/>
          </p:cNvSpPr>
          <p:nvPr/>
        </p:nvSpPr>
        <p:spPr bwMode="auto">
          <a:xfrm>
            <a:off x="4845051" y="39354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97" name="Rectangle 38"/>
          <p:cNvSpPr>
            <a:spLocks noChangeArrowheads="1"/>
          </p:cNvSpPr>
          <p:nvPr/>
        </p:nvSpPr>
        <p:spPr bwMode="auto">
          <a:xfrm>
            <a:off x="2044700" y="4395789"/>
            <a:ext cx="471488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98" name="Rectangle 39"/>
          <p:cNvSpPr>
            <a:spLocks noChangeArrowheads="1"/>
          </p:cNvSpPr>
          <p:nvPr/>
        </p:nvSpPr>
        <p:spPr bwMode="auto">
          <a:xfrm>
            <a:off x="2516188" y="4395789"/>
            <a:ext cx="468312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599" name="Rectangle 40"/>
          <p:cNvSpPr>
            <a:spLocks noChangeArrowheads="1"/>
          </p:cNvSpPr>
          <p:nvPr/>
        </p:nvSpPr>
        <p:spPr bwMode="auto">
          <a:xfrm>
            <a:off x="2984501" y="4395789"/>
            <a:ext cx="468313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600" name="Rectangle 41"/>
          <p:cNvSpPr>
            <a:spLocks noChangeArrowheads="1"/>
          </p:cNvSpPr>
          <p:nvPr/>
        </p:nvSpPr>
        <p:spPr bwMode="auto">
          <a:xfrm>
            <a:off x="3452813" y="4395789"/>
            <a:ext cx="469900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601" name="Rectangle 42"/>
          <p:cNvSpPr>
            <a:spLocks noChangeArrowheads="1"/>
          </p:cNvSpPr>
          <p:nvPr/>
        </p:nvSpPr>
        <p:spPr bwMode="auto">
          <a:xfrm>
            <a:off x="3922713" y="4395789"/>
            <a:ext cx="468312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602" name="Rectangle 43"/>
          <p:cNvSpPr>
            <a:spLocks noChangeArrowheads="1"/>
          </p:cNvSpPr>
          <p:nvPr/>
        </p:nvSpPr>
        <p:spPr bwMode="auto">
          <a:xfrm>
            <a:off x="4373564" y="4395789"/>
            <a:ext cx="471487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603" name="Rectangle 44"/>
          <p:cNvSpPr>
            <a:spLocks noChangeArrowheads="1"/>
          </p:cNvSpPr>
          <p:nvPr/>
        </p:nvSpPr>
        <p:spPr bwMode="auto">
          <a:xfrm>
            <a:off x="4845051" y="4395789"/>
            <a:ext cx="468313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70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604" name="Rectangle 45"/>
          <p:cNvSpPr>
            <a:spLocks noChangeArrowheads="1"/>
          </p:cNvSpPr>
          <p:nvPr/>
        </p:nvSpPr>
        <p:spPr bwMode="auto">
          <a:xfrm>
            <a:off x="2044700" y="4867276"/>
            <a:ext cx="471488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605" name="Rectangle 46"/>
          <p:cNvSpPr>
            <a:spLocks noChangeArrowheads="1"/>
          </p:cNvSpPr>
          <p:nvPr/>
        </p:nvSpPr>
        <p:spPr bwMode="auto">
          <a:xfrm>
            <a:off x="2516188" y="48672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606" name="Rectangle 47"/>
          <p:cNvSpPr>
            <a:spLocks noChangeArrowheads="1"/>
          </p:cNvSpPr>
          <p:nvPr/>
        </p:nvSpPr>
        <p:spPr bwMode="auto">
          <a:xfrm>
            <a:off x="2984501" y="48672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607" name="Rectangle 48"/>
          <p:cNvSpPr>
            <a:spLocks noChangeArrowheads="1"/>
          </p:cNvSpPr>
          <p:nvPr/>
        </p:nvSpPr>
        <p:spPr bwMode="auto">
          <a:xfrm>
            <a:off x="3452813" y="4867276"/>
            <a:ext cx="469900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608" name="Rectangle 49"/>
          <p:cNvSpPr>
            <a:spLocks noChangeArrowheads="1"/>
          </p:cNvSpPr>
          <p:nvPr/>
        </p:nvSpPr>
        <p:spPr bwMode="auto">
          <a:xfrm>
            <a:off x="3922713" y="48672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609" name="Rectangle 50"/>
          <p:cNvSpPr>
            <a:spLocks noChangeArrowheads="1"/>
          </p:cNvSpPr>
          <p:nvPr/>
        </p:nvSpPr>
        <p:spPr bwMode="auto">
          <a:xfrm>
            <a:off x="4373564" y="4867276"/>
            <a:ext cx="471487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610" name="Rectangle 51"/>
          <p:cNvSpPr>
            <a:spLocks noChangeArrowheads="1"/>
          </p:cNvSpPr>
          <p:nvPr/>
        </p:nvSpPr>
        <p:spPr bwMode="auto">
          <a:xfrm>
            <a:off x="4845051" y="48672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72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66611" name="Line 52"/>
          <p:cNvSpPr>
            <a:spLocks noChangeShapeType="1"/>
          </p:cNvSpPr>
          <p:nvPr/>
        </p:nvSpPr>
        <p:spPr bwMode="auto">
          <a:xfrm>
            <a:off x="2044700" y="2093913"/>
            <a:ext cx="3657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6612" name="Line 53"/>
          <p:cNvSpPr>
            <a:spLocks noChangeShapeType="1"/>
          </p:cNvSpPr>
          <p:nvPr/>
        </p:nvSpPr>
        <p:spPr bwMode="auto">
          <a:xfrm rot="5400000">
            <a:off x="184944" y="3953669"/>
            <a:ext cx="3719512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6613" name="Text Box 54"/>
          <p:cNvSpPr txBox="1">
            <a:spLocks noChangeArrowheads="1"/>
          </p:cNvSpPr>
          <p:nvPr/>
        </p:nvSpPr>
        <p:spPr bwMode="auto">
          <a:xfrm>
            <a:off x="1917700" y="1720850"/>
            <a:ext cx="22012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Original Image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614" name="Text Box 55"/>
          <p:cNvSpPr txBox="1">
            <a:spLocks noChangeArrowheads="1"/>
          </p:cNvSpPr>
          <p:nvPr/>
        </p:nvSpPr>
        <p:spPr bwMode="auto">
          <a:xfrm>
            <a:off x="5513388" y="1752600"/>
            <a:ext cx="3449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x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615" name="Text Box 56"/>
          <p:cNvSpPr txBox="1">
            <a:spLocks noChangeArrowheads="1"/>
          </p:cNvSpPr>
          <p:nvPr/>
        </p:nvSpPr>
        <p:spPr bwMode="auto">
          <a:xfrm>
            <a:off x="1762125" y="5556250"/>
            <a:ext cx="3690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y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616" name="Text Box 57"/>
          <p:cNvSpPr txBox="1">
            <a:spLocks noChangeArrowheads="1"/>
          </p:cNvSpPr>
          <p:nvPr/>
        </p:nvSpPr>
        <p:spPr bwMode="auto">
          <a:xfrm>
            <a:off x="3963989" y="5335588"/>
            <a:ext cx="20329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Image f (x, y)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6617" name="Group 58"/>
          <p:cNvGrpSpPr>
            <a:grpSpLocks/>
          </p:cNvGrpSpPr>
          <p:nvPr/>
        </p:nvGrpSpPr>
        <p:grpSpPr bwMode="auto">
          <a:xfrm>
            <a:off x="6335711" y="1719264"/>
            <a:ext cx="4243386" cy="4221163"/>
            <a:chOff x="3031" y="1083"/>
            <a:chExt cx="2673" cy="2659"/>
          </a:xfrm>
        </p:grpSpPr>
        <p:sp>
          <p:nvSpPr>
            <p:cNvPr id="66619" name="Rectangle 59"/>
            <p:cNvSpPr>
              <a:spLocks noChangeArrowheads="1"/>
            </p:cNvSpPr>
            <p:nvPr/>
          </p:nvSpPr>
          <p:spPr bwMode="auto">
            <a:xfrm>
              <a:off x="3209" y="1328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20" name="Rectangle 60"/>
            <p:cNvSpPr>
              <a:spLocks noChangeArrowheads="1"/>
            </p:cNvSpPr>
            <p:nvPr/>
          </p:nvSpPr>
          <p:spPr bwMode="auto">
            <a:xfrm>
              <a:off x="3506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21" name="Rectangle 61"/>
            <p:cNvSpPr>
              <a:spLocks noChangeArrowheads="1"/>
            </p:cNvSpPr>
            <p:nvPr/>
          </p:nvSpPr>
          <p:spPr bwMode="auto">
            <a:xfrm>
              <a:off x="3801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22" name="Rectangle 62"/>
            <p:cNvSpPr>
              <a:spLocks noChangeArrowheads="1"/>
            </p:cNvSpPr>
            <p:nvPr/>
          </p:nvSpPr>
          <p:spPr bwMode="auto">
            <a:xfrm>
              <a:off x="4096" y="1328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23" name="Rectangle 63"/>
            <p:cNvSpPr>
              <a:spLocks noChangeArrowheads="1"/>
            </p:cNvSpPr>
            <p:nvPr/>
          </p:nvSpPr>
          <p:spPr bwMode="auto">
            <a:xfrm>
              <a:off x="4392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24" name="Rectangle 64"/>
            <p:cNvSpPr>
              <a:spLocks noChangeArrowheads="1"/>
            </p:cNvSpPr>
            <p:nvPr/>
          </p:nvSpPr>
          <p:spPr bwMode="auto">
            <a:xfrm>
              <a:off x="4676" y="1328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25" name="Rectangle 65"/>
            <p:cNvSpPr>
              <a:spLocks noChangeArrowheads="1"/>
            </p:cNvSpPr>
            <p:nvPr/>
          </p:nvSpPr>
          <p:spPr bwMode="auto">
            <a:xfrm>
              <a:off x="4973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26" name="Rectangle 66"/>
            <p:cNvSpPr>
              <a:spLocks noChangeArrowheads="1"/>
            </p:cNvSpPr>
            <p:nvPr/>
          </p:nvSpPr>
          <p:spPr bwMode="auto">
            <a:xfrm>
              <a:off x="3209" y="1618"/>
              <a:ext cx="297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27" name="Rectangle 67"/>
            <p:cNvSpPr>
              <a:spLocks noChangeArrowheads="1"/>
            </p:cNvSpPr>
            <p:nvPr/>
          </p:nvSpPr>
          <p:spPr bwMode="auto">
            <a:xfrm>
              <a:off x="3506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28" name="Rectangle 68"/>
            <p:cNvSpPr>
              <a:spLocks noChangeArrowheads="1"/>
            </p:cNvSpPr>
            <p:nvPr/>
          </p:nvSpPr>
          <p:spPr bwMode="auto">
            <a:xfrm>
              <a:off x="3801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29" name="Rectangle 69"/>
            <p:cNvSpPr>
              <a:spLocks noChangeArrowheads="1"/>
            </p:cNvSpPr>
            <p:nvPr/>
          </p:nvSpPr>
          <p:spPr bwMode="auto">
            <a:xfrm>
              <a:off x="4096" y="1618"/>
              <a:ext cx="296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30" name="Rectangle 70"/>
            <p:cNvSpPr>
              <a:spLocks noChangeArrowheads="1"/>
            </p:cNvSpPr>
            <p:nvPr/>
          </p:nvSpPr>
          <p:spPr bwMode="auto">
            <a:xfrm>
              <a:off x="4392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31" name="Rectangle 71"/>
            <p:cNvSpPr>
              <a:spLocks noChangeArrowheads="1"/>
            </p:cNvSpPr>
            <p:nvPr/>
          </p:nvSpPr>
          <p:spPr bwMode="auto">
            <a:xfrm>
              <a:off x="4676" y="1618"/>
              <a:ext cx="297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32" name="Rectangle 72"/>
            <p:cNvSpPr>
              <a:spLocks noChangeArrowheads="1"/>
            </p:cNvSpPr>
            <p:nvPr/>
          </p:nvSpPr>
          <p:spPr bwMode="auto">
            <a:xfrm>
              <a:off x="4973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33" name="Rectangle 73"/>
            <p:cNvSpPr>
              <a:spLocks noChangeArrowheads="1"/>
            </p:cNvSpPr>
            <p:nvPr/>
          </p:nvSpPr>
          <p:spPr bwMode="auto">
            <a:xfrm>
              <a:off x="3209" y="1915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34" name="Rectangle 74"/>
            <p:cNvSpPr>
              <a:spLocks noChangeArrowheads="1"/>
            </p:cNvSpPr>
            <p:nvPr/>
          </p:nvSpPr>
          <p:spPr bwMode="auto">
            <a:xfrm>
              <a:off x="3506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35" name="Rectangle 75"/>
            <p:cNvSpPr>
              <a:spLocks noChangeArrowheads="1"/>
            </p:cNvSpPr>
            <p:nvPr/>
          </p:nvSpPr>
          <p:spPr bwMode="auto">
            <a:xfrm>
              <a:off x="3801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36" name="Rectangle 76"/>
            <p:cNvSpPr>
              <a:spLocks noChangeArrowheads="1"/>
            </p:cNvSpPr>
            <p:nvPr/>
          </p:nvSpPr>
          <p:spPr bwMode="auto">
            <a:xfrm>
              <a:off x="4096" y="1915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37" name="Rectangle 77"/>
            <p:cNvSpPr>
              <a:spLocks noChangeArrowheads="1"/>
            </p:cNvSpPr>
            <p:nvPr/>
          </p:nvSpPr>
          <p:spPr bwMode="auto">
            <a:xfrm>
              <a:off x="4392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38" name="Rectangle 78"/>
            <p:cNvSpPr>
              <a:spLocks noChangeArrowheads="1"/>
            </p:cNvSpPr>
            <p:nvPr/>
          </p:nvSpPr>
          <p:spPr bwMode="auto">
            <a:xfrm>
              <a:off x="4676" y="1915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39" name="Rectangle 79"/>
            <p:cNvSpPr>
              <a:spLocks noChangeArrowheads="1"/>
            </p:cNvSpPr>
            <p:nvPr/>
          </p:nvSpPr>
          <p:spPr bwMode="auto">
            <a:xfrm>
              <a:off x="4973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40" name="Rectangle 80"/>
            <p:cNvSpPr>
              <a:spLocks noChangeArrowheads="1"/>
            </p:cNvSpPr>
            <p:nvPr/>
          </p:nvSpPr>
          <p:spPr bwMode="auto">
            <a:xfrm>
              <a:off x="3209" y="220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41" name="Rectangle 81"/>
            <p:cNvSpPr>
              <a:spLocks noChangeArrowheads="1"/>
            </p:cNvSpPr>
            <p:nvPr/>
          </p:nvSpPr>
          <p:spPr bwMode="auto">
            <a:xfrm>
              <a:off x="3506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42" name="Rectangle 82"/>
            <p:cNvSpPr>
              <a:spLocks noChangeArrowheads="1"/>
            </p:cNvSpPr>
            <p:nvPr/>
          </p:nvSpPr>
          <p:spPr bwMode="auto">
            <a:xfrm>
              <a:off x="3801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43" name="Rectangle 83"/>
            <p:cNvSpPr>
              <a:spLocks noChangeArrowheads="1"/>
            </p:cNvSpPr>
            <p:nvPr/>
          </p:nvSpPr>
          <p:spPr bwMode="auto">
            <a:xfrm>
              <a:off x="4096" y="2207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44" name="Rectangle 84"/>
            <p:cNvSpPr>
              <a:spLocks noChangeArrowheads="1"/>
            </p:cNvSpPr>
            <p:nvPr/>
          </p:nvSpPr>
          <p:spPr bwMode="auto">
            <a:xfrm>
              <a:off x="4392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45" name="Rectangle 85"/>
            <p:cNvSpPr>
              <a:spLocks noChangeArrowheads="1"/>
            </p:cNvSpPr>
            <p:nvPr/>
          </p:nvSpPr>
          <p:spPr bwMode="auto">
            <a:xfrm>
              <a:off x="4676" y="220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46" name="Rectangle 86"/>
            <p:cNvSpPr>
              <a:spLocks noChangeArrowheads="1"/>
            </p:cNvSpPr>
            <p:nvPr/>
          </p:nvSpPr>
          <p:spPr bwMode="auto">
            <a:xfrm>
              <a:off x="4973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47" name="Rectangle 87"/>
            <p:cNvSpPr>
              <a:spLocks noChangeArrowheads="1"/>
            </p:cNvSpPr>
            <p:nvPr/>
          </p:nvSpPr>
          <p:spPr bwMode="auto">
            <a:xfrm>
              <a:off x="3209" y="248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48" name="Rectangle 88"/>
            <p:cNvSpPr>
              <a:spLocks noChangeArrowheads="1"/>
            </p:cNvSpPr>
            <p:nvPr/>
          </p:nvSpPr>
          <p:spPr bwMode="auto">
            <a:xfrm>
              <a:off x="3506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49" name="Rectangle 89"/>
            <p:cNvSpPr>
              <a:spLocks noChangeArrowheads="1"/>
            </p:cNvSpPr>
            <p:nvPr/>
          </p:nvSpPr>
          <p:spPr bwMode="auto">
            <a:xfrm>
              <a:off x="3801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50" name="Rectangle 90"/>
            <p:cNvSpPr>
              <a:spLocks noChangeArrowheads="1"/>
            </p:cNvSpPr>
            <p:nvPr/>
          </p:nvSpPr>
          <p:spPr bwMode="auto">
            <a:xfrm>
              <a:off x="4096" y="2487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51" name="Rectangle 91"/>
            <p:cNvSpPr>
              <a:spLocks noChangeArrowheads="1"/>
            </p:cNvSpPr>
            <p:nvPr/>
          </p:nvSpPr>
          <p:spPr bwMode="auto">
            <a:xfrm>
              <a:off x="4392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52" name="Rectangle 92"/>
            <p:cNvSpPr>
              <a:spLocks noChangeArrowheads="1"/>
            </p:cNvSpPr>
            <p:nvPr/>
          </p:nvSpPr>
          <p:spPr bwMode="auto">
            <a:xfrm>
              <a:off x="4676" y="248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53" name="Rectangle 93"/>
            <p:cNvSpPr>
              <a:spLocks noChangeArrowheads="1"/>
            </p:cNvSpPr>
            <p:nvPr/>
          </p:nvSpPr>
          <p:spPr bwMode="auto">
            <a:xfrm>
              <a:off x="4973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54" name="Rectangle 94"/>
            <p:cNvSpPr>
              <a:spLocks noChangeArrowheads="1"/>
            </p:cNvSpPr>
            <p:nvPr/>
          </p:nvSpPr>
          <p:spPr bwMode="auto">
            <a:xfrm>
              <a:off x="3209" y="2779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55" name="Rectangle 95"/>
            <p:cNvSpPr>
              <a:spLocks noChangeArrowheads="1"/>
            </p:cNvSpPr>
            <p:nvPr/>
          </p:nvSpPr>
          <p:spPr bwMode="auto">
            <a:xfrm>
              <a:off x="3506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56" name="Rectangle 96"/>
            <p:cNvSpPr>
              <a:spLocks noChangeArrowheads="1"/>
            </p:cNvSpPr>
            <p:nvPr/>
          </p:nvSpPr>
          <p:spPr bwMode="auto">
            <a:xfrm>
              <a:off x="3801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57" name="Rectangle 97"/>
            <p:cNvSpPr>
              <a:spLocks noChangeArrowheads="1"/>
            </p:cNvSpPr>
            <p:nvPr/>
          </p:nvSpPr>
          <p:spPr bwMode="auto">
            <a:xfrm>
              <a:off x="4096" y="2779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58" name="Rectangle 98"/>
            <p:cNvSpPr>
              <a:spLocks noChangeArrowheads="1"/>
            </p:cNvSpPr>
            <p:nvPr/>
          </p:nvSpPr>
          <p:spPr bwMode="auto">
            <a:xfrm>
              <a:off x="4392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59" name="Rectangle 99"/>
            <p:cNvSpPr>
              <a:spLocks noChangeArrowheads="1"/>
            </p:cNvSpPr>
            <p:nvPr/>
          </p:nvSpPr>
          <p:spPr bwMode="auto">
            <a:xfrm>
              <a:off x="4676" y="2779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60" name="Rectangle 100"/>
            <p:cNvSpPr>
              <a:spLocks noChangeArrowheads="1"/>
            </p:cNvSpPr>
            <p:nvPr/>
          </p:nvSpPr>
          <p:spPr bwMode="auto">
            <a:xfrm>
              <a:off x="4973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61" name="Rectangle 101"/>
            <p:cNvSpPr>
              <a:spLocks noChangeArrowheads="1"/>
            </p:cNvSpPr>
            <p:nvPr/>
          </p:nvSpPr>
          <p:spPr bwMode="auto">
            <a:xfrm>
              <a:off x="3209" y="3074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62" name="Rectangle 102"/>
            <p:cNvSpPr>
              <a:spLocks noChangeArrowheads="1"/>
            </p:cNvSpPr>
            <p:nvPr/>
          </p:nvSpPr>
          <p:spPr bwMode="auto">
            <a:xfrm>
              <a:off x="3506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63" name="Rectangle 103"/>
            <p:cNvSpPr>
              <a:spLocks noChangeArrowheads="1"/>
            </p:cNvSpPr>
            <p:nvPr/>
          </p:nvSpPr>
          <p:spPr bwMode="auto">
            <a:xfrm>
              <a:off x="3801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64" name="Rectangle 104"/>
            <p:cNvSpPr>
              <a:spLocks noChangeArrowheads="1"/>
            </p:cNvSpPr>
            <p:nvPr/>
          </p:nvSpPr>
          <p:spPr bwMode="auto">
            <a:xfrm>
              <a:off x="4096" y="3074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65" name="Rectangle 105"/>
            <p:cNvSpPr>
              <a:spLocks noChangeArrowheads="1"/>
            </p:cNvSpPr>
            <p:nvPr/>
          </p:nvSpPr>
          <p:spPr bwMode="auto">
            <a:xfrm>
              <a:off x="4392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66" name="Rectangle 106"/>
            <p:cNvSpPr>
              <a:spLocks noChangeArrowheads="1"/>
            </p:cNvSpPr>
            <p:nvPr/>
          </p:nvSpPr>
          <p:spPr bwMode="auto">
            <a:xfrm>
              <a:off x="4676" y="3074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67" name="Rectangle 107"/>
            <p:cNvSpPr>
              <a:spLocks noChangeArrowheads="1"/>
            </p:cNvSpPr>
            <p:nvPr/>
          </p:nvSpPr>
          <p:spPr bwMode="auto">
            <a:xfrm>
              <a:off x="4973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6668" name="Line 108"/>
            <p:cNvSpPr>
              <a:spLocks noChangeShapeType="1"/>
            </p:cNvSpPr>
            <p:nvPr/>
          </p:nvSpPr>
          <p:spPr bwMode="auto">
            <a:xfrm>
              <a:off x="3209" y="1328"/>
              <a:ext cx="230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6669" name="Line 109"/>
            <p:cNvSpPr>
              <a:spLocks noChangeShapeType="1"/>
            </p:cNvSpPr>
            <p:nvPr/>
          </p:nvSpPr>
          <p:spPr bwMode="auto">
            <a:xfrm rot="5400000">
              <a:off x="2037" y="2500"/>
              <a:ext cx="234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6670" name="Text Box 110"/>
            <p:cNvSpPr txBox="1">
              <a:spLocks noChangeArrowheads="1"/>
            </p:cNvSpPr>
            <p:nvPr/>
          </p:nvSpPr>
          <p:spPr bwMode="auto">
            <a:xfrm>
              <a:off x="3154" y="1083"/>
              <a:ext cx="11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</a:rPr>
                <a:t>Filtered</a:t>
              </a:r>
              <a:r>
                <a:rPr lang="en-IE" altLang="en-US" sz="1800">
                  <a:solidFill>
                    <a:srgbClr val="000000"/>
                  </a:solidFill>
                </a:rPr>
                <a:t> </a:t>
              </a: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671" name="Text Box 111"/>
            <p:cNvSpPr txBox="1">
              <a:spLocks noChangeArrowheads="1"/>
            </p:cNvSpPr>
            <p:nvPr/>
          </p:nvSpPr>
          <p:spPr bwMode="auto">
            <a:xfrm>
              <a:off x="5394" y="1104"/>
              <a:ext cx="21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672" name="Text Box 112"/>
            <p:cNvSpPr txBox="1">
              <a:spLocks noChangeArrowheads="1"/>
            </p:cNvSpPr>
            <p:nvPr/>
          </p:nvSpPr>
          <p:spPr bwMode="auto">
            <a:xfrm>
              <a:off x="3031" y="3509"/>
              <a:ext cx="23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673" name="Text Box 113"/>
            <p:cNvSpPr txBox="1">
              <a:spLocks noChangeArrowheads="1"/>
            </p:cNvSpPr>
            <p:nvPr/>
          </p:nvSpPr>
          <p:spPr bwMode="auto">
            <a:xfrm>
              <a:off x="4423" y="3361"/>
              <a:ext cx="12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 f (x, y)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</p:grpSp>
      <p:pic>
        <p:nvPicPr>
          <p:cNvPr id="66618" name="Picture 114" descr="MCj031081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900" y="149226"/>
            <a:ext cx="1042988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5850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Other Means (cont…)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  <a:tabLst>
                <a:tab pos="1339850" algn="l"/>
              </a:tabLst>
            </a:pPr>
            <a:r>
              <a:rPr lang="en-IE" altLang="en-US" b="1" smtClean="0">
                <a:ea typeface="ＭＳ Ｐゴシック" panose="020B0600070205080204" pitchFamily="34" charset="-128"/>
              </a:rPr>
              <a:t>Contraharmonic Mean:</a:t>
            </a:r>
          </a:p>
          <a:p>
            <a:pPr marL="0" indent="0" eaLnBrk="1" hangingPunct="1">
              <a:buNone/>
              <a:tabLst>
                <a:tab pos="1339850" algn="l"/>
              </a:tabLst>
            </a:pPr>
            <a:endParaRPr lang="en-IE" altLang="en-US" smtClean="0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  <a:tabLst>
                <a:tab pos="1339850" algn="l"/>
              </a:tabLst>
            </a:pPr>
            <a:endParaRPr lang="en-IE" altLang="en-US" smtClean="0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  <a:tabLst>
                <a:tab pos="1339850" algn="l"/>
              </a:tabLst>
            </a:pPr>
            <a:endParaRPr lang="en-IE" altLang="en-US" sz="4800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  <a:tabLst>
                <a:tab pos="1339850" algn="l"/>
              </a:tabLst>
            </a:pPr>
            <a:r>
              <a:rPr lang="en-IE" altLang="en-US" i="1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Q</a:t>
            </a:r>
            <a:r>
              <a:rPr lang="en-IE" altLang="en-US" smtClean="0">
                <a:ea typeface="ＭＳ Ｐゴシック" panose="020B0600070205080204" pitchFamily="34" charset="-128"/>
              </a:rPr>
              <a:t> is the </a:t>
            </a:r>
            <a:r>
              <a:rPr lang="en-IE" altLang="en-US" i="1" smtClean="0">
                <a:ea typeface="ＭＳ Ｐゴシック" panose="020B0600070205080204" pitchFamily="34" charset="-128"/>
              </a:rPr>
              <a:t>order</a:t>
            </a:r>
            <a:r>
              <a:rPr lang="en-IE" altLang="en-US" smtClean="0">
                <a:ea typeface="ＭＳ Ｐゴシック" panose="020B0600070205080204" pitchFamily="34" charset="-128"/>
              </a:rPr>
              <a:t> of the filter and adjusting its value changes the filter’s behaviour</a:t>
            </a:r>
          </a:p>
          <a:p>
            <a:pPr marL="0" indent="0" eaLnBrk="1" hangingPunct="1">
              <a:buNone/>
              <a:tabLst>
                <a:tab pos="1339850" algn="l"/>
              </a:tabLst>
            </a:pPr>
            <a:r>
              <a:rPr lang="en-IE" altLang="en-US" smtClean="0">
                <a:ea typeface="ＭＳ Ｐゴシック" panose="020B0600070205080204" pitchFamily="34" charset="-128"/>
              </a:rPr>
              <a:t>Positive values of </a:t>
            </a:r>
            <a:r>
              <a:rPr lang="en-IE" altLang="en-US" i="1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Q</a:t>
            </a:r>
            <a:r>
              <a:rPr lang="en-IE" altLang="en-US" smtClean="0">
                <a:ea typeface="ＭＳ Ｐゴシック" panose="020B0600070205080204" pitchFamily="34" charset="-128"/>
              </a:rPr>
              <a:t> eliminate pepper noise</a:t>
            </a:r>
          </a:p>
          <a:p>
            <a:pPr marL="0" indent="0" eaLnBrk="1" hangingPunct="1">
              <a:buNone/>
              <a:tabLst>
                <a:tab pos="1339850" algn="l"/>
              </a:tabLst>
            </a:pPr>
            <a:r>
              <a:rPr lang="en-IE" altLang="en-US" smtClean="0">
                <a:ea typeface="ＭＳ Ｐゴシック" panose="020B0600070205080204" pitchFamily="34" charset="-128"/>
              </a:rPr>
              <a:t>Negative values of </a:t>
            </a:r>
            <a:r>
              <a:rPr lang="en-IE" altLang="en-US" i="1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Q</a:t>
            </a:r>
            <a:r>
              <a:rPr lang="en-IE" altLang="en-US" smtClean="0">
                <a:ea typeface="ＭＳ Ｐゴシック" panose="020B0600070205080204" pitchFamily="34" charset="-128"/>
              </a:rPr>
              <a:t> eliminate salt noise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graphicFrame>
        <p:nvGraphicFramePr>
          <p:cNvPr id="68611" name="Object 2"/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Equation" r:id="rId4" imgW="114151" imgH="215619" progId="Equation.3">
                  <p:embed/>
                </p:oleObj>
              </mc:Choice>
              <mc:Fallback>
                <p:oleObj name="Equation" r:id="rId4" imgW="114151" imgH="215619" progId="Equation.3">
                  <p:embed/>
                  <p:pic>
                    <p:nvPicPr>
                      <p:cNvPr id="6861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2" name="Object 3"/>
          <p:cNvGraphicFramePr>
            <a:graphicFrameLocks noChangeAspect="1"/>
          </p:cNvGraphicFramePr>
          <p:nvPr/>
        </p:nvGraphicFramePr>
        <p:xfrm>
          <a:off x="2816225" y="1931989"/>
          <a:ext cx="4154488" cy="206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Equation" r:id="rId6" imgW="1485900" imgH="736600" progId="Equation.3">
                  <p:embed/>
                </p:oleObj>
              </mc:Choice>
              <mc:Fallback>
                <p:oleObj name="Equation" r:id="rId6" imgW="1485900" imgH="736600" progId="Equation.3">
                  <p:embed/>
                  <p:pic>
                    <p:nvPicPr>
                      <p:cNvPr id="6861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225" y="1931989"/>
                        <a:ext cx="4154488" cy="206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8613" name="Picture 6" descr="MCj03108180000[1]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650" y="149226"/>
            <a:ext cx="1042988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7971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Corruption Example</a:t>
            </a:r>
            <a:endParaRPr lang="en-GB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70658" name="Rectangle 3"/>
          <p:cNvSpPr>
            <a:spLocks noChangeArrowheads="1"/>
          </p:cNvSpPr>
          <p:nvPr/>
        </p:nvSpPr>
        <p:spPr bwMode="auto">
          <a:xfrm>
            <a:off x="2044700" y="2093913"/>
            <a:ext cx="471488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59" name="Rectangle 4"/>
          <p:cNvSpPr>
            <a:spLocks noChangeArrowheads="1"/>
          </p:cNvSpPr>
          <p:nvPr/>
        </p:nvSpPr>
        <p:spPr bwMode="auto">
          <a:xfrm>
            <a:off x="2516188" y="20939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60" name="Rectangle 5"/>
          <p:cNvSpPr>
            <a:spLocks noChangeArrowheads="1"/>
          </p:cNvSpPr>
          <p:nvPr/>
        </p:nvSpPr>
        <p:spPr bwMode="auto">
          <a:xfrm>
            <a:off x="2984501" y="20939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61" name="Rectangle 6"/>
          <p:cNvSpPr>
            <a:spLocks noChangeArrowheads="1"/>
          </p:cNvSpPr>
          <p:nvPr/>
        </p:nvSpPr>
        <p:spPr bwMode="auto">
          <a:xfrm>
            <a:off x="3452813" y="2093913"/>
            <a:ext cx="469900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62" name="Rectangle 7"/>
          <p:cNvSpPr>
            <a:spLocks noChangeArrowheads="1"/>
          </p:cNvSpPr>
          <p:nvPr/>
        </p:nvSpPr>
        <p:spPr bwMode="auto">
          <a:xfrm>
            <a:off x="3922713" y="20939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56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63" name="Rectangle 8"/>
          <p:cNvSpPr>
            <a:spLocks noChangeArrowheads="1"/>
          </p:cNvSpPr>
          <p:nvPr/>
        </p:nvSpPr>
        <p:spPr bwMode="auto">
          <a:xfrm>
            <a:off x="4373564" y="2093913"/>
            <a:ext cx="471487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64" name="Rectangle 9"/>
          <p:cNvSpPr>
            <a:spLocks noChangeArrowheads="1"/>
          </p:cNvSpPr>
          <p:nvPr/>
        </p:nvSpPr>
        <p:spPr bwMode="auto">
          <a:xfrm>
            <a:off x="4845051" y="20939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65" name="Rectangle 10"/>
          <p:cNvSpPr>
            <a:spLocks noChangeArrowheads="1"/>
          </p:cNvSpPr>
          <p:nvPr/>
        </p:nvSpPr>
        <p:spPr bwMode="auto">
          <a:xfrm>
            <a:off x="2044700" y="2555875"/>
            <a:ext cx="471488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66" name="Rectangle 11"/>
          <p:cNvSpPr>
            <a:spLocks noChangeArrowheads="1"/>
          </p:cNvSpPr>
          <p:nvPr/>
        </p:nvSpPr>
        <p:spPr bwMode="auto">
          <a:xfrm>
            <a:off x="2516188" y="2555875"/>
            <a:ext cx="468312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67" name="Rectangle 12"/>
          <p:cNvSpPr>
            <a:spLocks noChangeArrowheads="1"/>
          </p:cNvSpPr>
          <p:nvPr/>
        </p:nvSpPr>
        <p:spPr bwMode="auto">
          <a:xfrm>
            <a:off x="2984501" y="2555875"/>
            <a:ext cx="468313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68" name="Rectangle 13"/>
          <p:cNvSpPr>
            <a:spLocks noChangeArrowheads="1"/>
          </p:cNvSpPr>
          <p:nvPr/>
        </p:nvSpPr>
        <p:spPr bwMode="auto">
          <a:xfrm>
            <a:off x="3452813" y="2555875"/>
            <a:ext cx="469900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69" name="Rectangle 14"/>
          <p:cNvSpPr>
            <a:spLocks noChangeArrowheads="1"/>
          </p:cNvSpPr>
          <p:nvPr/>
        </p:nvSpPr>
        <p:spPr bwMode="auto">
          <a:xfrm>
            <a:off x="3922713" y="2555875"/>
            <a:ext cx="468312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70" name="Rectangle 15"/>
          <p:cNvSpPr>
            <a:spLocks noChangeArrowheads="1"/>
          </p:cNvSpPr>
          <p:nvPr/>
        </p:nvSpPr>
        <p:spPr bwMode="auto">
          <a:xfrm>
            <a:off x="4373564" y="2555875"/>
            <a:ext cx="471487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71" name="Rectangle 16"/>
          <p:cNvSpPr>
            <a:spLocks noChangeArrowheads="1"/>
          </p:cNvSpPr>
          <p:nvPr/>
        </p:nvSpPr>
        <p:spPr bwMode="auto">
          <a:xfrm>
            <a:off x="4845051" y="2555875"/>
            <a:ext cx="468313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72" name="Rectangle 17"/>
          <p:cNvSpPr>
            <a:spLocks noChangeArrowheads="1"/>
          </p:cNvSpPr>
          <p:nvPr/>
        </p:nvSpPr>
        <p:spPr bwMode="auto">
          <a:xfrm>
            <a:off x="2044700" y="3025776"/>
            <a:ext cx="471488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73" name="Rectangle 18"/>
          <p:cNvSpPr>
            <a:spLocks noChangeArrowheads="1"/>
          </p:cNvSpPr>
          <p:nvPr/>
        </p:nvSpPr>
        <p:spPr bwMode="auto">
          <a:xfrm>
            <a:off x="2516188" y="30257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204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74" name="Rectangle 19"/>
          <p:cNvSpPr>
            <a:spLocks noChangeArrowheads="1"/>
          </p:cNvSpPr>
          <p:nvPr/>
        </p:nvSpPr>
        <p:spPr bwMode="auto">
          <a:xfrm>
            <a:off x="2984501" y="30257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75" name="Rectangle 20"/>
          <p:cNvSpPr>
            <a:spLocks noChangeArrowheads="1"/>
          </p:cNvSpPr>
          <p:nvPr/>
        </p:nvSpPr>
        <p:spPr bwMode="auto">
          <a:xfrm>
            <a:off x="3452813" y="3025776"/>
            <a:ext cx="469900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76" name="Rectangle 21"/>
          <p:cNvSpPr>
            <a:spLocks noChangeArrowheads="1"/>
          </p:cNvSpPr>
          <p:nvPr/>
        </p:nvSpPr>
        <p:spPr bwMode="auto">
          <a:xfrm>
            <a:off x="3922713" y="30257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77" name="Rectangle 22"/>
          <p:cNvSpPr>
            <a:spLocks noChangeArrowheads="1"/>
          </p:cNvSpPr>
          <p:nvPr/>
        </p:nvSpPr>
        <p:spPr bwMode="auto">
          <a:xfrm>
            <a:off x="4373564" y="3025776"/>
            <a:ext cx="471487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78" name="Rectangle 23"/>
          <p:cNvSpPr>
            <a:spLocks noChangeArrowheads="1"/>
          </p:cNvSpPr>
          <p:nvPr/>
        </p:nvSpPr>
        <p:spPr bwMode="auto">
          <a:xfrm>
            <a:off x="4845051" y="30257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79" name="Rectangle 24"/>
          <p:cNvSpPr>
            <a:spLocks noChangeArrowheads="1"/>
          </p:cNvSpPr>
          <p:nvPr/>
        </p:nvSpPr>
        <p:spPr bwMode="auto">
          <a:xfrm>
            <a:off x="2044700" y="3486150"/>
            <a:ext cx="471488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80" name="Rectangle 25"/>
          <p:cNvSpPr>
            <a:spLocks noChangeArrowheads="1"/>
          </p:cNvSpPr>
          <p:nvPr/>
        </p:nvSpPr>
        <p:spPr bwMode="auto">
          <a:xfrm>
            <a:off x="2516188" y="3486150"/>
            <a:ext cx="468312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81" name="Rectangle 26"/>
          <p:cNvSpPr>
            <a:spLocks noChangeArrowheads="1"/>
          </p:cNvSpPr>
          <p:nvPr/>
        </p:nvSpPr>
        <p:spPr bwMode="auto">
          <a:xfrm>
            <a:off x="2984501" y="3486150"/>
            <a:ext cx="468313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82" name="Rectangle 27"/>
          <p:cNvSpPr>
            <a:spLocks noChangeArrowheads="1"/>
          </p:cNvSpPr>
          <p:nvPr/>
        </p:nvSpPr>
        <p:spPr bwMode="auto">
          <a:xfrm>
            <a:off x="3452813" y="3486150"/>
            <a:ext cx="469900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83" name="Rectangle 28"/>
          <p:cNvSpPr>
            <a:spLocks noChangeArrowheads="1"/>
          </p:cNvSpPr>
          <p:nvPr/>
        </p:nvSpPr>
        <p:spPr bwMode="auto">
          <a:xfrm>
            <a:off x="3922713" y="3486150"/>
            <a:ext cx="468312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84" name="Rectangle 29"/>
          <p:cNvSpPr>
            <a:spLocks noChangeArrowheads="1"/>
          </p:cNvSpPr>
          <p:nvPr/>
        </p:nvSpPr>
        <p:spPr bwMode="auto">
          <a:xfrm>
            <a:off x="4373564" y="3486150"/>
            <a:ext cx="471487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85" name="Rectangle 30"/>
          <p:cNvSpPr>
            <a:spLocks noChangeArrowheads="1"/>
          </p:cNvSpPr>
          <p:nvPr/>
        </p:nvSpPr>
        <p:spPr bwMode="auto">
          <a:xfrm>
            <a:off x="4845051" y="3486150"/>
            <a:ext cx="468313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86" name="Rectangle 31"/>
          <p:cNvSpPr>
            <a:spLocks noChangeArrowheads="1"/>
          </p:cNvSpPr>
          <p:nvPr/>
        </p:nvSpPr>
        <p:spPr bwMode="auto">
          <a:xfrm>
            <a:off x="2044700" y="3935413"/>
            <a:ext cx="471488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87" name="Rectangle 32"/>
          <p:cNvSpPr>
            <a:spLocks noChangeArrowheads="1"/>
          </p:cNvSpPr>
          <p:nvPr/>
        </p:nvSpPr>
        <p:spPr bwMode="auto">
          <a:xfrm>
            <a:off x="2516188" y="39354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88" name="Rectangle 33"/>
          <p:cNvSpPr>
            <a:spLocks noChangeArrowheads="1"/>
          </p:cNvSpPr>
          <p:nvPr/>
        </p:nvSpPr>
        <p:spPr bwMode="auto">
          <a:xfrm>
            <a:off x="2984501" y="39354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89" name="Rectangle 34"/>
          <p:cNvSpPr>
            <a:spLocks noChangeArrowheads="1"/>
          </p:cNvSpPr>
          <p:nvPr/>
        </p:nvSpPr>
        <p:spPr bwMode="auto">
          <a:xfrm>
            <a:off x="3452813" y="3935413"/>
            <a:ext cx="469900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90" name="Rectangle 35"/>
          <p:cNvSpPr>
            <a:spLocks noChangeArrowheads="1"/>
          </p:cNvSpPr>
          <p:nvPr/>
        </p:nvSpPr>
        <p:spPr bwMode="auto">
          <a:xfrm>
            <a:off x="3922713" y="39354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91" name="Rectangle 36"/>
          <p:cNvSpPr>
            <a:spLocks noChangeArrowheads="1"/>
          </p:cNvSpPr>
          <p:nvPr/>
        </p:nvSpPr>
        <p:spPr bwMode="auto">
          <a:xfrm>
            <a:off x="4373564" y="3935413"/>
            <a:ext cx="471487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92" name="Rectangle 37"/>
          <p:cNvSpPr>
            <a:spLocks noChangeArrowheads="1"/>
          </p:cNvSpPr>
          <p:nvPr/>
        </p:nvSpPr>
        <p:spPr bwMode="auto">
          <a:xfrm>
            <a:off x="4845051" y="39354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93" name="Rectangle 38"/>
          <p:cNvSpPr>
            <a:spLocks noChangeArrowheads="1"/>
          </p:cNvSpPr>
          <p:nvPr/>
        </p:nvSpPr>
        <p:spPr bwMode="auto">
          <a:xfrm>
            <a:off x="2044700" y="4395789"/>
            <a:ext cx="471488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94" name="Rectangle 39"/>
          <p:cNvSpPr>
            <a:spLocks noChangeArrowheads="1"/>
          </p:cNvSpPr>
          <p:nvPr/>
        </p:nvSpPr>
        <p:spPr bwMode="auto">
          <a:xfrm>
            <a:off x="2516188" y="4395789"/>
            <a:ext cx="468312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95" name="Rectangle 40"/>
          <p:cNvSpPr>
            <a:spLocks noChangeArrowheads="1"/>
          </p:cNvSpPr>
          <p:nvPr/>
        </p:nvSpPr>
        <p:spPr bwMode="auto">
          <a:xfrm>
            <a:off x="2984501" y="4395789"/>
            <a:ext cx="468313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96" name="Rectangle 41"/>
          <p:cNvSpPr>
            <a:spLocks noChangeArrowheads="1"/>
          </p:cNvSpPr>
          <p:nvPr/>
        </p:nvSpPr>
        <p:spPr bwMode="auto">
          <a:xfrm>
            <a:off x="3452813" y="4395789"/>
            <a:ext cx="469900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97" name="Rectangle 42"/>
          <p:cNvSpPr>
            <a:spLocks noChangeArrowheads="1"/>
          </p:cNvSpPr>
          <p:nvPr/>
        </p:nvSpPr>
        <p:spPr bwMode="auto">
          <a:xfrm>
            <a:off x="3922713" y="4395789"/>
            <a:ext cx="468312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98" name="Rectangle 43"/>
          <p:cNvSpPr>
            <a:spLocks noChangeArrowheads="1"/>
          </p:cNvSpPr>
          <p:nvPr/>
        </p:nvSpPr>
        <p:spPr bwMode="auto">
          <a:xfrm>
            <a:off x="4373564" y="4395789"/>
            <a:ext cx="471487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699" name="Rectangle 44"/>
          <p:cNvSpPr>
            <a:spLocks noChangeArrowheads="1"/>
          </p:cNvSpPr>
          <p:nvPr/>
        </p:nvSpPr>
        <p:spPr bwMode="auto">
          <a:xfrm>
            <a:off x="4845051" y="4395789"/>
            <a:ext cx="468313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70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700" name="Rectangle 45"/>
          <p:cNvSpPr>
            <a:spLocks noChangeArrowheads="1"/>
          </p:cNvSpPr>
          <p:nvPr/>
        </p:nvSpPr>
        <p:spPr bwMode="auto">
          <a:xfrm>
            <a:off x="2044700" y="4867276"/>
            <a:ext cx="471488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701" name="Rectangle 46"/>
          <p:cNvSpPr>
            <a:spLocks noChangeArrowheads="1"/>
          </p:cNvSpPr>
          <p:nvPr/>
        </p:nvSpPr>
        <p:spPr bwMode="auto">
          <a:xfrm>
            <a:off x="2516188" y="48672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702" name="Rectangle 47"/>
          <p:cNvSpPr>
            <a:spLocks noChangeArrowheads="1"/>
          </p:cNvSpPr>
          <p:nvPr/>
        </p:nvSpPr>
        <p:spPr bwMode="auto">
          <a:xfrm>
            <a:off x="2984501" y="48672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703" name="Rectangle 48"/>
          <p:cNvSpPr>
            <a:spLocks noChangeArrowheads="1"/>
          </p:cNvSpPr>
          <p:nvPr/>
        </p:nvSpPr>
        <p:spPr bwMode="auto">
          <a:xfrm>
            <a:off x="3452813" y="4867276"/>
            <a:ext cx="469900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704" name="Rectangle 49"/>
          <p:cNvSpPr>
            <a:spLocks noChangeArrowheads="1"/>
          </p:cNvSpPr>
          <p:nvPr/>
        </p:nvSpPr>
        <p:spPr bwMode="auto">
          <a:xfrm>
            <a:off x="3922713" y="48672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705" name="Rectangle 50"/>
          <p:cNvSpPr>
            <a:spLocks noChangeArrowheads="1"/>
          </p:cNvSpPr>
          <p:nvPr/>
        </p:nvSpPr>
        <p:spPr bwMode="auto">
          <a:xfrm>
            <a:off x="4373564" y="4867276"/>
            <a:ext cx="471487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706" name="Rectangle 51"/>
          <p:cNvSpPr>
            <a:spLocks noChangeArrowheads="1"/>
          </p:cNvSpPr>
          <p:nvPr/>
        </p:nvSpPr>
        <p:spPr bwMode="auto">
          <a:xfrm>
            <a:off x="4845051" y="48672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72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70707" name="Line 52"/>
          <p:cNvSpPr>
            <a:spLocks noChangeShapeType="1"/>
          </p:cNvSpPr>
          <p:nvPr/>
        </p:nvSpPr>
        <p:spPr bwMode="auto">
          <a:xfrm>
            <a:off x="2044700" y="2093913"/>
            <a:ext cx="3657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0708" name="Line 53"/>
          <p:cNvSpPr>
            <a:spLocks noChangeShapeType="1"/>
          </p:cNvSpPr>
          <p:nvPr/>
        </p:nvSpPr>
        <p:spPr bwMode="auto">
          <a:xfrm rot="5400000">
            <a:off x="184944" y="3953669"/>
            <a:ext cx="3719512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0709" name="Text Box 54"/>
          <p:cNvSpPr txBox="1">
            <a:spLocks noChangeArrowheads="1"/>
          </p:cNvSpPr>
          <p:nvPr/>
        </p:nvSpPr>
        <p:spPr bwMode="auto">
          <a:xfrm>
            <a:off x="1917700" y="1720850"/>
            <a:ext cx="22012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Original Image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710" name="Text Box 55"/>
          <p:cNvSpPr txBox="1">
            <a:spLocks noChangeArrowheads="1"/>
          </p:cNvSpPr>
          <p:nvPr/>
        </p:nvSpPr>
        <p:spPr bwMode="auto">
          <a:xfrm>
            <a:off x="5513388" y="1752600"/>
            <a:ext cx="3449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x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711" name="Text Box 56"/>
          <p:cNvSpPr txBox="1">
            <a:spLocks noChangeArrowheads="1"/>
          </p:cNvSpPr>
          <p:nvPr/>
        </p:nvSpPr>
        <p:spPr bwMode="auto">
          <a:xfrm>
            <a:off x="1762125" y="5556250"/>
            <a:ext cx="3690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y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712" name="Text Box 57"/>
          <p:cNvSpPr txBox="1">
            <a:spLocks noChangeArrowheads="1"/>
          </p:cNvSpPr>
          <p:nvPr/>
        </p:nvSpPr>
        <p:spPr bwMode="auto">
          <a:xfrm>
            <a:off x="3963989" y="5335588"/>
            <a:ext cx="20329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Image f (x, y)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0713" name="Group 58"/>
          <p:cNvGrpSpPr>
            <a:grpSpLocks/>
          </p:cNvGrpSpPr>
          <p:nvPr/>
        </p:nvGrpSpPr>
        <p:grpSpPr bwMode="auto">
          <a:xfrm>
            <a:off x="6335711" y="1719264"/>
            <a:ext cx="4243386" cy="4221163"/>
            <a:chOff x="3031" y="1083"/>
            <a:chExt cx="2673" cy="2659"/>
          </a:xfrm>
        </p:grpSpPr>
        <p:sp>
          <p:nvSpPr>
            <p:cNvPr id="70715" name="Rectangle 59"/>
            <p:cNvSpPr>
              <a:spLocks noChangeArrowheads="1"/>
            </p:cNvSpPr>
            <p:nvPr/>
          </p:nvSpPr>
          <p:spPr bwMode="auto">
            <a:xfrm>
              <a:off x="3209" y="1328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16" name="Rectangle 60"/>
            <p:cNvSpPr>
              <a:spLocks noChangeArrowheads="1"/>
            </p:cNvSpPr>
            <p:nvPr/>
          </p:nvSpPr>
          <p:spPr bwMode="auto">
            <a:xfrm>
              <a:off x="3506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17" name="Rectangle 61"/>
            <p:cNvSpPr>
              <a:spLocks noChangeArrowheads="1"/>
            </p:cNvSpPr>
            <p:nvPr/>
          </p:nvSpPr>
          <p:spPr bwMode="auto">
            <a:xfrm>
              <a:off x="3801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18" name="Rectangle 62"/>
            <p:cNvSpPr>
              <a:spLocks noChangeArrowheads="1"/>
            </p:cNvSpPr>
            <p:nvPr/>
          </p:nvSpPr>
          <p:spPr bwMode="auto">
            <a:xfrm>
              <a:off x="4096" y="1328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19" name="Rectangle 63"/>
            <p:cNvSpPr>
              <a:spLocks noChangeArrowheads="1"/>
            </p:cNvSpPr>
            <p:nvPr/>
          </p:nvSpPr>
          <p:spPr bwMode="auto">
            <a:xfrm>
              <a:off x="4392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20" name="Rectangle 64"/>
            <p:cNvSpPr>
              <a:spLocks noChangeArrowheads="1"/>
            </p:cNvSpPr>
            <p:nvPr/>
          </p:nvSpPr>
          <p:spPr bwMode="auto">
            <a:xfrm>
              <a:off x="4676" y="1328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21" name="Rectangle 65"/>
            <p:cNvSpPr>
              <a:spLocks noChangeArrowheads="1"/>
            </p:cNvSpPr>
            <p:nvPr/>
          </p:nvSpPr>
          <p:spPr bwMode="auto">
            <a:xfrm>
              <a:off x="4973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22" name="Rectangle 66"/>
            <p:cNvSpPr>
              <a:spLocks noChangeArrowheads="1"/>
            </p:cNvSpPr>
            <p:nvPr/>
          </p:nvSpPr>
          <p:spPr bwMode="auto">
            <a:xfrm>
              <a:off x="3209" y="1618"/>
              <a:ext cx="297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23" name="Rectangle 67"/>
            <p:cNvSpPr>
              <a:spLocks noChangeArrowheads="1"/>
            </p:cNvSpPr>
            <p:nvPr/>
          </p:nvSpPr>
          <p:spPr bwMode="auto">
            <a:xfrm>
              <a:off x="3506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24" name="Rectangle 68"/>
            <p:cNvSpPr>
              <a:spLocks noChangeArrowheads="1"/>
            </p:cNvSpPr>
            <p:nvPr/>
          </p:nvSpPr>
          <p:spPr bwMode="auto">
            <a:xfrm>
              <a:off x="3801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25" name="Rectangle 69"/>
            <p:cNvSpPr>
              <a:spLocks noChangeArrowheads="1"/>
            </p:cNvSpPr>
            <p:nvPr/>
          </p:nvSpPr>
          <p:spPr bwMode="auto">
            <a:xfrm>
              <a:off x="4096" y="1618"/>
              <a:ext cx="296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26" name="Rectangle 70"/>
            <p:cNvSpPr>
              <a:spLocks noChangeArrowheads="1"/>
            </p:cNvSpPr>
            <p:nvPr/>
          </p:nvSpPr>
          <p:spPr bwMode="auto">
            <a:xfrm>
              <a:off x="4392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27" name="Rectangle 71"/>
            <p:cNvSpPr>
              <a:spLocks noChangeArrowheads="1"/>
            </p:cNvSpPr>
            <p:nvPr/>
          </p:nvSpPr>
          <p:spPr bwMode="auto">
            <a:xfrm>
              <a:off x="4676" y="1618"/>
              <a:ext cx="297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28" name="Rectangle 72"/>
            <p:cNvSpPr>
              <a:spLocks noChangeArrowheads="1"/>
            </p:cNvSpPr>
            <p:nvPr/>
          </p:nvSpPr>
          <p:spPr bwMode="auto">
            <a:xfrm>
              <a:off x="4973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29" name="Rectangle 73"/>
            <p:cNvSpPr>
              <a:spLocks noChangeArrowheads="1"/>
            </p:cNvSpPr>
            <p:nvPr/>
          </p:nvSpPr>
          <p:spPr bwMode="auto">
            <a:xfrm>
              <a:off x="3209" y="1915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30" name="Rectangle 74"/>
            <p:cNvSpPr>
              <a:spLocks noChangeArrowheads="1"/>
            </p:cNvSpPr>
            <p:nvPr/>
          </p:nvSpPr>
          <p:spPr bwMode="auto">
            <a:xfrm>
              <a:off x="3506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31" name="Rectangle 75"/>
            <p:cNvSpPr>
              <a:spLocks noChangeArrowheads="1"/>
            </p:cNvSpPr>
            <p:nvPr/>
          </p:nvSpPr>
          <p:spPr bwMode="auto">
            <a:xfrm>
              <a:off x="3801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32" name="Rectangle 76"/>
            <p:cNvSpPr>
              <a:spLocks noChangeArrowheads="1"/>
            </p:cNvSpPr>
            <p:nvPr/>
          </p:nvSpPr>
          <p:spPr bwMode="auto">
            <a:xfrm>
              <a:off x="4096" y="1915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33" name="Rectangle 77"/>
            <p:cNvSpPr>
              <a:spLocks noChangeArrowheads="1"/>
            </p:cNvSpPr>
            <p:nvPr/>
          </p:nvSpPr>
          <p:spPr bwMode="auto">
            <a:xfrm>
              <a:off x="4392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34" name="Rectangle 78"/>
            <p:cNvSpPr>
              <a:spLocks noChangeArrowheads="1"/>
            </p:cNvSpPr>
            <p:nvPr/>
          </p:nvSpPr>
          <p:spPr bwMode="auto">
            <a:xfrm>
              <a:off x="4676" y="1915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35" name="Rectangle 79"/>
            <p:cNvSpPr>
              <a:spLocks noChangeArrowheads="1"/>
            </p:cNvSpPr>
            <p:nvPr/>
          </p:nvSpPr>
          <p:spPr bwMode="auto">
            <a:xfrm>
              <a:off x="4973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36" name="Rectangle 80"/>
            <p:cNvSpPr>
              <a:spLocks noChangeArrowheads="1"/>
            </p:cNvSpPr>
            <p:nvPr/>
          </p:nvSpPr>
          <p:spPr bwMode="auto">
            <a:xfrm>
              <a:off x="3209" y="220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37" name="Rectangle 81"/>
            <p:cNvSpPr>
              <a:spLocks noChangeArrowheads="1"/>
            </p:cNvSpPr>
            <p:nvPr/>
          </p:nvSpPr>
          <p:spPr bwMode="auto">
            <a:xfrm>
              <a:off x="3506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38" name="Rectangle 82"/>
            <p:cNvSpPr>
              <a:spLocks noChangeArrowheads="1"/>
            </p:cNvSpPr>
            <p:nvPr/>
          </p:nvSpPr>
          <p:spPr bwMode="auto">
            <a:xfrm>
              <a:off x="3801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39" name="Rectangle 83"/>
            <p:cNvSpPr>
              <a:spLocks noChangeArrowheads="1"/>
            </p:cNvSpPr>
            <p:nvPr/>
          </p:nvSpPr>
          <p:spPr bwMode="auto">
            <a:xfrm>
              <a:off x="4096" y="2207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40" name="Rectangle 84"/>
            <p:cNvSpPr>
              <a:spLocks noChangeArrowheads="1"/>
            </p:cNvSpPr>
            <p:nvPr/>
          </p:nvSpPr>
          <p:spPr bwMode="auto">
            <a:xfrm>
              <a:off x="4392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41" name="Rectangle 85"/>
            <p:cNvSpPr>
              <a:spLocks noChangeArrowheads="1"/>
            </p:cNvSpPr>
            <p:nvPr/>
          </p:nvSpPr>
          <p:spPr bwMode="auto">
            <a:xfrm>
              <a:off x="4676" y="220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42" name="Rectangle 86"/>
            <p:cNvSpPr>
              <a:spLocks noChangeArrowheads="1"/>
            </p:cNvSpPr>
            <p:nvPr/>
          </p:nvSpPr>
          <p:spPr bwMode="auto">
            <a:xfrm>
              <a:off x="4973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43" name="Rectangle 87"/>
            <p:cNvSpPr>
              <a:spLocks noChangeArrowheads="1"/>
            </p:cNvSpPr>
            <p:nvPr/>
          </p:nvSpPr>
          <p:spPr bwMode="auto">
            <a:xfrm>
              <a:off x="3209" y="248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44" name="Rectangle 88"/>
            <p:cNvSpPr>
              <a:spLocks noChangeArrowheads="1"/>
            </p:cNvSpPr>
            <p:nvPr/>
          </p:nvSpPr>
          <p:spPr bwMode="auto">
            <a:xfrm>
              <a:off x="3506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45" name="Rectangle 89"/>
            <p:cNvSpPr>
              <a:spLocks noChangeArrowheads="1"/>
            </p:cNvSpPr>
            <p:nvPr/>
          </p:nvSpPr>
          <p:spPr bwMode="auto">
            <a:xfrm>
              <a:off x="3801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46" name="Rectangle 90"/>
            <p:cNvSpPr>
              <a:spLocks noChangeArrowheads="1"/>
            </p:cNvSpPr>
            <p:nvPr/>
          </p:nvSpPr>
          <p:spPr bwMode="auto">
            <a:xfrm>
              <a:off x="4096" y="2487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47" name="Rectangle 91"/>
            <p:cNvSpPr>
              <a:spLocks noChangeArrowheads="1"/>
            </p:cNvSpPr>
            <p:nvPr/>
          </p:nvSpPr>
          <p:spPr bwMode="auto">
            <a:xfrm>
              <a:off x="4392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48" name="Rectangle 92"/>
            <p:cNvSpPr>
              <a:spLocks noChangeArrowheads="1"/>
            </p:cNvSpPr>
            <p:nvPr/>
          </p:nvSpPr>
          <p:spPr bwMode="auto">
            <a:xfrm>
              <a:off x="4676" y="248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49" name="Rectangle 93"/>
            <p:cNvSpPr>
              <a:spLocks noChangeArrowheads="1"/>
            </p:cNvSpPr>
            <p:nvPr/>
          </p:nvSpPr>
          <p:spPr bwMode="auto">
            <a:xfrm>
              <a:off x="4973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50" name="Rectangle 94"/>
            <p:cNvSpPr>
              <a:spLocks noChangeArrowheads="1"/>
            </p:cNvSpPr>
            <p:nvPr/>
          </p:nvSpPr>
          <p:spPr bwMode="auto">
            <a:xfrm>
              <a:off x="3209" y="2779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51" name="Rectangle 95"/>
            <p:cNvSpPr>
              <a:spLocks noChangeArrowheads="1"/>
            </p:cNvSpPr>
            <p:nvPr/>
          </p:nvSpPr>
          <p:spPr bwMode="auto">
            <a:xfrm>
              <a:off x="3506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52" name="Rectangle 96"/>
            <p:cNvSpPr>
              <a:spLocks noChangeArrowheads="1"/>
            </p:cNvSpPr>
            <p:nvPr/>
          </p:nvSpPr>
          <p:spPr bwMode="auto">
            <a:xfrm>
              <a:off x="3801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53" name="Rectangle 97"/>
            <p:cNvSpPr>
              <a:spLocks noChangeArrowheads="1"/>
            </p:cNvSpPr>
            <p:nvPr/>
          </p:nvSpPr>
          <p:spPr bwMode="auto">
            <a:xfrm>
              <a:off x="4096" y="2779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54" name="Rectangle 98"/>
            <p:cNvSpPr>
              <a:spLocks noChangeArrowheads="1"/>
            </p:cNvSpPr>
            <p:nvPr/>
          </p:nvSpPr>
          <p:spPr bwMode="auto">
            <a:xfrm>
              <a:off x="4392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55" name="Rectangle 99"/>
            <p:cNvSpPr>
              <a:spLocks noChangeArrowheads="1"/>
            </p:cNvSpPr>
            <p:nvPr/>
          </p:nvSpPr>
          <p:spPr bwMode="auto">
            <a:xfrm>
              <a:off x="4676" y="2779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56" name="Rectangle 100"/>
            <p:cNvSpPr>
              <a:spLocks noChangeArrowheads="1"/>
            </p:cNvSpPr>
            <p:nvPr/>
          </p:nvSpPr>
          <p:spPr bwMode="auto">
            <a:xfrm>
              <a:off x="4973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57" name="Rectangle 101"/>
            <p:cNvSpPr>
              <a:spLocks noChangeArrowheads="1"/>
            </p:cNvSpPr>
            <p:nvPr/>
          </p:nvSpPr>
          <p:spPr bwMode="auto">
            <a:xfrm>
              <a:off x="3209" y="3074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58" name="Rectangle 102"/>
            <p:cNvSpPr>
              <a:spLocks noChangeArrowheads="1"/>
            </p:cNvSpPr>
            <p:nvPr/>
          </p:nvSpPr>
          <p:spPr bwMode="auto">
            <a:xfrm>
              <a:off x="3506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59" name="Rectangle 103"/>
            <p:cNvSpPr>
              <a:spLocks noChangeArrowheads="1"/>
            </p:cNvSpPr>
            <p:nvPr/>
          </p:nvSpPr>
          <p:spPr bwMode="auto">
            <a:xfrm>
              <a:off x="3801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60" name="Rectangle 104"/>
            <p:cNvSpPr>
              <a:spLocks noChangeArrowheads="1"/>
            </p:cNvSpPr>
            <p:nvPr/>
          </p:nvSpPr>
          <p:spPr bwMode="auto">
            <a:xfrm>
              <a:off x="4096" y="3074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61" name="Rectangle 105"/>
            <p:cNvSpPr>
              <a:spLocks noChangeArrowheads="1"/>
            </p:cNvSpPr>
            <p:nvPr/>
          </p:nvSpPr>
          <p:spPr bwMode="auto">
            <a:xfrm>
              <a:off x="4392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62" name="Rectangle 106"/>
            <p:cNvSpPr>
              <a:spLocks noChangeArrowheads="1"/>
            </p:cNvSpPr>
            <p:nvPr/>
          </p:nvSpPr>
          <p:spPr bwMode="auto">
            <a:xfrm>
              <a:off x="4676" y="3074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63" name="Rectangle 107"/>
            <p:cNvSpPr>
              <a:spLocks noChangeArrowheads="1"/>
            </p:cNvSpPr>
            <p:nvPr/>
          </p:nvSpPr>
          <p:spPr bwMode="auto">
            <a:xfrm>
              <a:off x="4973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0764" name="Line 108"/>
            <p:cNvSpPr>
              <a:spLocks noChangeShapeType="1"/>
            </p:cNvSpPr>
            <p:nvPr/>
          </p:nvSpPr>
          <p:spPr bwMode="auto">
            <a:xfrm>
              <a:off x="3209" y="1328"/>
              <a:ext cx="230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0765" name="Line 109"/>
            <p:cNvSpPr>
              <a:spLocks noChangeShapeType="1"/>
            </p:cNvSpPr>
            <p:nvPr/>
          </p:nvSpPr>
          <p:spPr bwMode="auto">
            <a:xfrm rot="5400000">
              <a:off x="2037" y="2500"/>
              <a:ext cx="234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0766" name="Text Box 110"/>
            <p:cNvSpPr txBox="1">
              <a:spLocks noChangeArrowheads="1"/>
            </p:cNvSpPr>
            <p:nvPr/>
          </p:nvSpPr>
          <p:spPr bwMode="auto">
            <a:xfrm>
              <a:off x="3154" y="1083"/>
              <a:ext cx="11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</a:rPr>
                <a:t>Filtered</a:t>
              </a:r>
              <a:r>
                <a:rPr lang="en-IE" altLang="en-US" sz="1800">
                  <a:solidFill>
                    <a:srgbClr val="000000"/>
                  </a:solidFill>
                </a:rPr>
                <a:t> </a:t>
              </a: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67" name="Text Box 111"/>
            <p:cNvSpPr txBox="1">
              <a:spLocks noChangeArrowheads="1"/>
            </p:cNvSpPr>
            <p:nvPr/>
          </p:nvSpPr>
          <p:spPr bwMode="auto">
            <a:xfrm>
              <a:off x="5394" y="1104"/>
              <a:ext cx="21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68" name="Text Box 112"/>
            <p:cNvSpPr txBox="1">
              <a:spLocks noChangeArrowheads="1"/>
            </p:cNvSpPr>
            <p:nvPr/>
          </p:nvSpPr>
          <p:spPr bwMode="auto">
            <a:xfrm>
              <a:off x="3031" y="3509"/>
              <a:ext cx="23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69" name="Text Box 113"/>
            <p:cNvSpPr txBox="1">
              <a:spLocks noChangeArrowheads="1"/>
            </p:cNvSpPr>
            <p:nvPr/>
          </p:nvSpPr>
          <p:spPr bwMode="auto">
            <a:xfrm>
              <a:off x="4423" y="3361"/>
              <a:ext cx="12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 f (x, y)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</p:grpSp>
      <p:pic>
        <p:nvPicPr>
          <p:cNvPr id="70714" name="Picture 114" descr="MCj031081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900" y="149226"/>
            <a:ext cx="1042988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2863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Removal Examples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grpSp>
        <p:nvGrpSpPr>
          <p:cNvPr id="72706" name="Group 4"/>
          <p:cNvGrpSpPr>
            <a:grpSpLocks/>
          </p:cNvGrpSpPr>
          <p:nvPr/>
        </p:nvGrpSpPr>
        <p:grpSpPr bwMode="auto">
          <a:xfrm>
            <a:off x="1520825" y="1631951"/>
            <a:ext cx="260350" cy="5229225"/>
            <a:chOff x="-2" y="1034"/>
            <a:chExt cx="164" cy="3294"/>
          </a:xfrm>
        </p:grpSpPr>
        <p:pic>
          <p:nvPicPr>
            <p:cNvPr id="72712" name="Picture 5" descr="book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13" name="Rectangle 6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  <a:endParaRPr lang="en-US" altLang="en-US" sz="1200">
                <a:solidFill>
                  <a:srgbClr val="FFFFFF"/>
                </a:solidFill>
              </a:endParaRPr>
            </a:p>
          </p:txBody>
        </p:sp>
      </p:grpSp>
      <p:pic>
        <p:nvPicPr>
          <p:cNvPr id="72707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823"/>
          <a:stretch>
            <a:fillRect/>
          </a:stretch>
        </p:blipFill>
        <p:spPr bwMode="auto">
          <a:xfrm>
            <a:off x="3660776" y="1497014"/>
            <a:ext cx="5040313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Text Box 9"/>
          <p:cNvSpPr txBox="1">
            <a:spLocks noChangeArrowheads="1"/>
          </p:cNvSpPr>
          <p:nvPr/>
        </p:nvSpPr>
        <p:spPr bwMode="auto">
          <a:xfrm>
            <a:off x="2555123" y="2463800"/>
            <a:ext cx="1062791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Original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Image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2709" name="Text Box 10"/>
          <p:cNvSpPr txBox="1">
            <a:spLocks noChangeArrowheads="1"/>
          </p:cNvSpPr>
          <p:nvPr/>
        </p:nvSpPr>
        <p:spPr bwMode="auto">
          <a:xfrm>
            <a:off x="8715376" y="2098675"/>
            <a:ext cx="1830629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Image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Corrupted 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By Gaussian 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Noise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2710" name="Text Box 11"/>
          <p:cNvSpPr txBox="1">
            <a:spLocks noChangeArrowheads="1"/>
          </p:cNvSpPr>
          <p:nvPr/>
        </p:nvSpPr>
        <p:spPr bwMode="auto">
          <a:xfrm>
            <a:off x="8715375" y="4611688"/>
            <a:ext cx="1540486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After A 3*3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Geometric 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Mean Filter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2711" name="Text Box 12"/>
          <p:cNvSpPr txBox="1">
            <a:spLocks noChangeArrowheads="1"/>
          </p:cNvSpPr>
          <p:nvPr/>
        </p:nvSpPr>
        <p:spPr bwMode="auto">
          <a:xfrm>
            <a:off x="2077427" y="4611688"/>
            <a:ext cx="1540486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After A 3*3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Arithmetic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Mean Filter</a:t>
            </a:r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858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Removal Examples (cont…)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7475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4" r="40025"/>
          <a:stretch>
            <a:fillRect/>
          </a:stretch>
        </p:blipFill>
        <p:spPr bwMode="auto">
          <a:xfrm>
            <a:off x="4962525" y="1541464"/>
            <a:ext cx="2533650" cy="486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5" name="Text Box 9"/>
          <p:cNvSpPr txBox="1">
            <a:spLocks noChangeArrowheads="1"/>
          </p:cNvSpPr>
          <p:nvPr/>
        </p:nvSpPr>
        <p:spPr bwMode="auto">
          <a:xfrm>
            <a:off x="3461131" y="2032000"/>
            <a:ext cx="1437894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Image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Corrupted</a:t>
            </a:r>
          </a:p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By Pepper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Noise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4756" name="Text Box 12"/>
          <p:cNvSpPr txBox="1">
            <a:spLocks noChangeArrowheads="1"/>
          </p:cNvSpPr>
          <p:nvPr/>
        </p:nvSpPr>
        <p:spPr bwMode="auto">
          <a:xfrm>
            <a:off x="2706117" y="4275139"/>
            <a:ext cx="2192908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Result of 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Filtering Above 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With 3*3 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Contraharmonic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Q=1.5</a:t>
            </a:r>
            <a:endParaRPr lang="en-US" altLang="en-US">
              <a:solidFill>
                <a:srgbClr val="000000"/>
              </a:solidFill>
            </a:endParaRPr>
          </a:p>
        </p:txBody>
      </p:sp>
      <p:grpSp>
        <p:nvGrpSpPr>
          <p:cNvPr id="74757" name="Group 13"/>
          <p:cNvGrpSpPr>
            <a:grpSpLocks/>
          </p:cNvGrpSpPr>
          <p:nvPr/>
        </p:nvGrpSpPr>
        <p:grpSpPr bwMode="auto">
          <a:xfrm>
            <a:off x="1520825" y="1631951"/>
            <a:ext cx="260350" cy="5229225"/>
            <a:chOff x="-2" y="1034"/>
            <a:chExt cx="164" cy="3294"/>
          </a:xfrm>
        </p:grpSpPr>
        <p:pic>
          <p:nvPicPr>
            <p:cNvPr id="74758" name="Picture 14" descr="book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759" name="Rectangle 15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  <a:endParaRPr lang="en-US" altLang="en-US" sz="120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526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Removal Examples (cont…)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grpSp>
        <p:nvGrpSpPr>
          <p:cNvPr id="76802" name="Group 4"/>
          <p:cNvGrpSpPr>
            <a:grpSpLocks/>
          </p:cNvGrpSpPr>
          <p:nvPr/>
        </p:nvGrpSpPr>
        <p:grpSpPr bwMode="auto">
          <a:xfrm>
            <a:off x="1520825" y="1631951"/>
            <a:ext cx="260350" cy="5229225"/>
            <a:chOff x="-2" y="1034"/>
            <a:chExt cx="164" cy="3294"/>
          </a:xfrm>
        </p:grpSpPr>
        <p:pic>
          <p:nvPicPr>
            <p:cNvPr id="76806" name="Picture 5" descr="book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07" name="Rectangle 6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  <a:endParaRPr lang="en-US" altLang="en-US" sz="1200">
                <a:solidFill>
                  <a:srgbClr val="FFFFFF"/>
                </a:solidFill>
              </a:endParaRPr>
            </a:p>
          </p:txBody>
        </p:sp>
      </p:grpSp>
      <p:pic>
        <p:nvPicPr>
          <p:cNvPr id="7680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72"/>
          <a:stretch>
            <a:fillRect/>
          </a:stretch>
        </p:blipFill>
        <p:spPr bwMode="auto">
          <a:xfrm>
            <a:off x="4554539" y="1497014"/>
            <a:ext cx="2547937" cy="486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4" name="Text Box 9"/>
          <p:cNvSpPr txBox="1">
            <a:spLocks noChangeArrowheads="1"/>
          </p:cNvSpPr>
          <p:nvPr/>
        </p:nvSpPr>
        <p:spPr bwMode="auto">
          <a:xfrm>
            <a:off x="7143750" y="1987550"/>
            <a:ext cx="1370568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Image</a:t>
            </a:r>
            <a:br>
              <a:rPr lang="en-US" altLang="en-US">
                <a:solidFill>
                  <a:srgbClr val="000000"/>
                </a:solidFill>
              </a:rPr>
            </a:br>
            <a:r>
              <a:rPr lang="en-US" altLang="en-US">
                <a:solidFill>
                  <a:srgbClr val="000000"/>
                </a:solidFill>
              </a:rPr>
              <a:t>Corrupted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By Salt</a:t>
            </a:r>
            <a:br>
              <a:rPr lang="en-US" altLang="en-US">
                <a:solidFill>
                  <a:srgbClr val="000000"/>
                </a:solidFill>
              </a:rPr>
            </a:br>
            <a:r>
              <a:rPr lang="en-US" altLang="en-US">
                <a:solidFill>
                  <a:srgbClr val="000000"/>
                </a:solidFill>
              </a:rPr>
              <a:t>Noise</a:t>
            </a:r>
          </a:p>
        </p:txBody>
      </p:sp>
      <p:sp>
        <p:nvSpPr>
          <p:cNvPr id="76805" name="Text Box 10"/>
          <p:cNvSpPr txBox="1">
            <a:spLocks noChangeArrowheads="1"/>
          </p:cNvSpPr>
          <p:nvPr/>
        </p:nvSpPr>
        <p:spPr bwMode="auto">
          <a:xfrm>
            <a:off x="7143750" y="4246564"/>
            <a:ext cx="2192908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Result of 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Filtering Above 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With 3*3 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Contraharmonic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Q=-1.5</a:t>
            </a:r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23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z="3600">
                <a:ea typeface="ＭＳ Ｐゴシック" panose="020B0600070205080204" pitchFamily="34" charset="-128"/>
              </a:rPr>
              <a:t>Contraharmonic Filter: Here Be Dragons</a:t>
            </a:r>
            <a:endParaRPr lang="en-US" altLang="en-US" sz="3600">
              <a:ea typeface="ＭＳ Ｐゴシック" panose="020B0600070205080204" pitchFamily="34" charset="-128"/>
            </a:endParaRPr>
          </a:p>
        </p:txBody>
      </p:sp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Choosing the wrong value for Q when using the contraharmonic filter can have drastic results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grpSp>
        <p:nvGrpSpPr>
          <p:cNvPr id="78851" name="Group 4"/>
          <p:cNvGrpSpPr>
            <a:grpSpLocks/>
          </p:cNvGrpSpPr>
          <p:nvPr/>
        </p:nvGrpSpPr>
        <p:grpSpPr bwMode="auto">
          <a:xfrm>
            <a:off x="1520825" y="1631951"/>
            <a:ext cx="260350" cy="5229225"/>
            <a:chOff x="-2" y="1034"/>
            <a:chExt cx="164" cy="3294"/>
          </a:xfrm>
        </p:grpSpPr>
        <p:pic>
          <p:nvPicPr>
            <p:cNvPr id="78853" name="Picture 5" descr="book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854" name="Rectangle 6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  <a:endParaRPr lang="en-US" altLang="en-US" sz="1200">
                <a:solidFill>
                  <a:srgbClr val="FFFFFF"/>
                </a:solidFill>
              </a:endParaRPr>
            </a:p>
          </p:txBody>
        </p:sp>
      </p:grpSp>
      <p:pic>
        <p:nvPicPr>
          <p:cNvPr id="7885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547"/>
          <a:stretch>
            <a:fillRect/>
          </a:stretch>
        </p:blipFill>
        <p:spPr bwMode="auto">
          <a:xfrm>
            <a:off x="3427414" y="3116263"/>
            <a:ext cx="506412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247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Order Statistics Filters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Spatial filters that are based on ordering the pixel values that make up the neighbourhood operated on by the filter</a:t>
            </a:r>
          </a:p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Useful spatial filters include</a:t>
            </a:r>
          </a:p>
          <a:p>
            <a:pPr lvl="1" eaLnBrk="1" hangingPunct="1"/>
            <a:r>
              <a:rPr lang="en-IE" altLang="en-US" smtClean="0">
                <a:ea typeface="ＭＳ Ｐゴシック" panose="020B0600070205080204" pitchFamily="34" charset="-128"/>
              </a:rPr>
              <a:t>Median filter</a:t>
            </a:r>
          </a:p>
          <a:p>
            <a:pPr lvl="1" eaLnBrk="1" hangingPunct="1"/>
            <a:r>
              <a:rPr lang="en-IE" altLang="en-US" smtClean="0">
                <a:ea typeface="ＭＳ Ｐゴシック" panose="020B0600070205080204" pitchFamily="34" charset="-128"/>
              </a:rPr>
              <a:t>Max and min filter</a:t>
            </a:r>
          </a:p>
          <a:p>
            <a:pPr lvl="1" eaLnBrk="1" hangingPunct="1"/>
            <a:r>
              <a:rPr lang="en-IE" altLang="en-US" smtClean="0">
                <a:ea typeface="ＭＳ Ｐゴシック" panose="020B0600070205080204" pitchFamily="34" charset="-128"/>
              </a:rPr>
              <a:t>Midpoint filter</a:t>
            </a:r>
          </a:p>
          <a:p>
            <a:pPr lvl="1" eaLnBrk="1" hangingPunct="1"/>
            <a:r>
              <a:rPr lang="en-IE" altLang="en-US" smtClean="0">
                <a:ea typeface="ＭＳ Ｐゴシック" panose="020B0600070205080204" pitchFamily="34" charset="-128"/>
              </a:rPr>
              <a:t>Alpha trimmed mean filter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grpSp>
        <p:nvGrpSpPr>
          <p:cNvPr id="80899" name="Group 4"/>
          <p:cNvGrpSpPr>
            <a:grpSpLocks/>
          </p:cNvGrpSpPr>
          <p:nvPr/>
        </p:nvGrpSpPr>
        <p:grpSpPr bwMode="auto">
          <a:xfrm>
            <a:off x="1520825" y="1631951"/>
            <a:ext cx="260350" cy="5229225"/>
            <a:chOff x="-2" y="1034"/>
            <a:chExt cx="164" cy="3294"/>
          </a:xfrm>
        </p:grpSpPr>
        <p:pic>
          <p:nvPicPr>
            <p:cNvPr id="80900" name="Picture 5" descr="book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901" name="Rectangle 6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  <a:endParaRPr lang="en-US" altLang="en-US" sz="120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652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Median Filter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IE" altLang="en-US" b="1" smtClean="0">
                <a:ea typeface="ＭＳ Ｐゴシック" panose="020B0600070205080204" pitchFamily="34" charset="-128"/>
              </a:rPr>
              <a:t>Median Filter:</a:t>
            </a:r>
          </a:p>
          <a:p>
            <a:pPr marL="0" indent="0" eaLnBrk="1" hangingPunct="1">
              <a:buNone/>
            </a:pPr>
            <a:endParaRPr lang="en-IE" altLang="en-US" b="1" smtClean="0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endParaRPr lang="en-IE" altLang="en-US" b="1" smtClean="0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Excellent at noise removal, without the smoothing effects that can occur with other smoothing filters</a:t>
            </a:r>
          </a:p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Particularly good when salt and pepper noise is present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graphicFrame>
        <p:nvGraphicFramePr>
          <p:cNvPr id="82947" name="Object 2"/>
          <p:cNvGraphicFramePr>
            <a:graphicFrameLocks noChangeAspect="1"/>
          </p:cNvGraphicFramePr>
          <p:nvPr/>
        </p:nvGraphicFramePr>
        <p:xfrm>
          <a:off x="2471739" y="2070100"/>
          <a:ext cx="440372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4" imgW="1574800" imgH="342900" progId="Equation.3">
                  <p:embed/>
                </p:oleObj>
              </mc:Choice>
              <mc:Fallback>
                <p:oleObj name="Equation" r:id="rId4" imgW="1574800" imgH="342900" progId="Equation.3">
                  <p:embed/>
                  <p:pic>
                    <p:nvPicPr>
                      <p:cNvPr id="8294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1739" y="2070100"/>
                        <a:ext cx="4403725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493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Corruption Example</a:t>
            </a:r>
            <a:endParaRPr lang="en-GB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84994" name="Rectangle 3"/>
          <p:cNvSpPr>
            <a:spLocks noChangeArrowheads="1"/>
          </p:cNvSpPr>
          <p:nvPr/>
        </p:nvSpPr>
        <p:spPr bwMode="auto">
          <a:xfrm>
            <a:off x="2044700" y="2093913"/>
            <a:ext cx="471488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4995" name="Rectangle 4"/>
          <p:cNvSpPr>
            <a:spLocks noChangeArrowheads="1"/>
          </p:cNvSpPr>
          <p:nvPr/>
        </p:nvSpPr>
        <p:spPr bwMode="auto">
          <a:xfrm>
            <a:off x="2516188" y="20939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4996" name="Rectangle 5"/>
          <p:cNvSpPr>
            <a:spLocks noChangeArrowheads="1"/>
          </p:cNvSpPr>
          <p:nvPr/>
        </p:nvSpPr>
        <p:spPr bwMode="auto">
          <a:xfrm>
            <a:off x="2984501" y="20939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4997" name="Rectangle 6"/>
          <p:cNvSpPr>
            <a:spLocks noChangeArrowheads="1"/>
          </p:cNvSpPr>
          <p:nvPr/>
        </p:nvSpPr>
        <p:spPr bwMode="auto">
          <a:xfrm>
            <a:off x="3452813" y="2093913"/>
            <a:ext cx="469900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4998" name="Rectangle 7"/>
          <p:cNvSpPr>
            <a:spLocks noChangeArrowheads="1"/>
          </p:cNvSpPr>
          <p:nvPr/>
        </p:nvSpPr>
        <p:spPr bwMode="auto">
          <a:xfrm>
            <a:off x="3922713" y="20939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56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4999" name="Rectangle 8"/>
          <p:cNvSpPr>
            <a:spLocks noChangeArrowheads="1"/>
          </p:cNvSpPr>
          <p:nvPr/>
        </p:nvSpPr>
        <p:spPr bwMode="auto">
          <a:xfrm>
            <a:off x="4373564" y="2093913"/>
            <a:ext cx="471487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00" name="Rectangle 9"/>
          <p:cNvSpPr>
            <a:spLocks noChangeArrowheads="1"/>
          </p:cNvSpPr>
          <p:nvPr/>
        </p:nvSpPr>
        <p:spPr bwMode="auto">
          <a:xfrm>
            <a:off x="4845051" y="20939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01" name="Rectangle 10"/>
          <p:cNvSpPr>
            <a:spLocks noChangeArrowheads="1"/>
          </p:cNvSpPr>
          <p:nvPr/>
        </p:nvSpPr>
        <p:spPr bwMode="auto">
          <a:xfrm>
            <a:off x="2044700" y="2555875"/>
            <a:ext cx="471488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02" name="Rectangle 11"/>
          <p:cNvSpPr>
            <a:spLocks noChangeArrowheads="1"/>
          </p:cNvSpPr>
          <p:nvPr/>
        </p:nvSpPr>
        <p:spPr bwMode="auto">
          <a:xfrm>
            <a:off x="2516188" y="2555875"/>
            <a:ext cx="468312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03" name="Rectangle 12"/>
          <p:cNvSpPr>
            <a:spLocks noChangeArrowheads="1"/>
          </p:cNvSpPr>
          <p:nvPr/>
        </p:nvSpPr>
        <p:spPr bwMode="auto">
          <a:xfrm>
            <a:off x="2984501" y="2555875"/>
            <a:ext cx="468313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04" name="Rectangle 13"/>
          <p:cNvSpPr>
            <a:spLocks noChangeArrowheads="1"/>
          </p:cNvSpPr>
          <p:nvPr/>
        </p:nvSpPr>
        <p:spPr bwMode="auto">
          <a:xfrm>
            <a:off x="3452813" y="2555875"/>
            <a:ext cx="469900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05" name="Rectangle 14"/>
          <p:cNvSpPr>
            <a:spLocks noChangeArrowheads="1"/>
          </p:cNvSpPr>
          <p:nvPr/>
        </p:nvSpPr>
        <p:spPr bwMode="auto">
          <a:xfrm>
            <a:off x="3922713" y="2555875"/>
            <a:ext cx="468312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06" name="Rectangle 15"/>
          <p:cNvSpPr>
            <a:spLocks noChangeArrowheads="1"/>
          </p:cNvSpPr>
          <p:nvPr/>
        </p:nvSpPr>
        <p:spPr bwMode="auto">
          <a:xfrm>
            <a:off x="4373564" y="2555875"/>
            <a:ext cx="471487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07" name="Rectangle 16"/>
          <p:cNvSpPr>
            <a:spLocks noChangeArrowheads="1"/>
          </p:cNvSpPr>
          <p:nvPr/>
        </p:nvSpPr>
        <p:spPr bwMode="auto">
          <a:xfrm>
            <a:off x="4845051" y="2555875"/>
            <a:ext cx="468313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08" name="Rectangle 17"/>
          <p:cNvSpPr>
            <a:spLocks noChangeArrowheads="1"/>
          </p:cNvSpPr>
          <p:nvPr/>
        </p:nvSpPr>
        <p:spPr bwMode="auto">
          <a:xfrm>
            <a:off x="2044700" y="3025776"/>
            <a:ext cx="471488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09" name="Rectangle 18"/>
          <p:cNvSpPr>
            <a:spLocks noChangeArrowheads="1"/>
          </p:cNvSpPr>
          <p:nvPr/>
        </p:nvSpPr>
        <p:spPr bwMode="auto">
          <a:xfrm>
            <a:off x="2516188" y="30257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204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10" name="Rectangle 19"/>
          <p:cNvSpPr>
            <a:spLocks noChangeArrowheads="1"/>
          </p:cNvSpPr>
          <p:nvPr/>
        </p:nvSpPr>
        <p:spPr bwMode="auto">
          <a:xfrm>
            <a:off x="2984501" y="30257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11" name="Rectangle 20"/>
          <p:cNvSpPr>
            <a:spLocks noChangeArrowheads="1"/>
          </p:cNvSpPr>
          <p:nvPr/>
        </p:nvSpPr>
        <p:spPr bwMode="auto">
          <a:xfrm>
            <a:off x="3452813" y="3025776"/>
            <a:ext cx="469900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12" name="Rectangle 21"/>
          <p:cNvSpPr>
            <a:spLocks noChangeArrowheads="1"/>
          </p:cNvSpPr>
          <p:nvPr/>
        </p:nvSpPr>
        <p:spPr bwMode="auto">
          <a:xfrm>
            <a:off x="3922713" y="30257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13" name="Rectangle 22"/>
          <p:cNvSpPr>
            <a:spLocks noChangeArrowheads="1"/>
          </p:cNvSpPr>
          <p:nvPr/>
        </p:nvSpPr>
        <p:spPr bwMode="auto">
          <a:xfrm>
            <a:off x="4373564" y="3025776"/>
            <a:ext cx="471487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14" name="Rectangle 23"/>
          <p:cNvSpPr>
            <a:spLocks noChangeArrowheads="1"/>
          </p:cNvSpPr>
          <p:nvPr/>
        </p:nvSpPr>
        <p:spPr bwMode="auto">
          <a:xfrm>
            <a:off x="4845051" y="30257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15" name="Rectangle 24"/>
          <p:cNvSpPr>
            <a:spLocks noChangeArrowheads="1"/>
          </p:cNvSpPr>
          <p:nvPr/>
        </p:nvSpPr>
        <p:spPr bwMode="auto">
          <a:xfrm>
            <a:off x="2044700" y="3486150"/>
            <a:ext cx="471488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16" name="Rectangle 25"/>
          <p:cNvSpPr>
            <a:spLocks noChangeArrowheads="1"/>
          </p:cNvSpPr>
          <p:nvPr/>
        </p:nvSpPr>
        <p:spPr bwMode="auto">
          <a:xfrm>
            <a:off x="2516188" y="3486150"/>
            <a:ext cx="468312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17" name="Rectangle 26"/>
          <p:cNvSpPr>
            <a:spLocks noChangeArrowheads="1"/>
          </p:cNvSpPr>
          <p:nvPr/>
        </p:nvSpPr>
        <p:spPr bwMode="auto">
          <a:xfrm>
            <a:off x="2984501" y="3486150"/>
            <a:ext cx="468313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18" name="Rectangle 27"/>
          <p:cNvSpPr>
            <a:spLocks noChangeArrowheads="1"/>
          </p:cNvSpPr>
          <p:nvPr/>
        </p:nvSpPr>
        <p:spPr bwMode="auto">
          <a:xfrm>
            <a:off x="3452813" y="3486150"/>
            <a:ext cx="469900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19" name="Rectangle 28"/>
          <p:cNvSpPr>
            <a:spLocks noChangeArrowheads="1"/>
          </p:cNvSpPr>
          <p:nvPr/>
        </p:nvSpPr>
        <p:spPr bwMode="auto">
          <a:xfrm>
            <a:off x="3922713" y="3486150"/>
            <a:ext cx="468312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20" name="Rectangle 29"/>
          <p:cNvSpPr>
            <a:spLocks noChangeArrowheads="1"/>
          </p:cNvSpPr>
          <p:nvPr/>
        </p:nvSpPr>
        <p:spPr bwMode="auto">
          <a:xfrm>
            <a:off x="4373564" y="3486150"/>
            <a:ext cx="471487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21" name="Rectangle 30"/>
          <p:cNvSpPr>
            <a:spLocks noChangeArrowheads="1"/>
          </p:cNvSpPr>
          <p:nvPr/>
        </p:nvSpPr>
        <p:spPr bwMode="auto">
          <a:xfrm>
            <a:off x="4845051" y="3486150"/>
            <a:ext cx="468313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22" name="Rectangle 31"/>
          <p:cNvSpPr>
            <a:spLocks noChangeArrowheads="1"/>
          </p:cNvSpPr>
          <p:nvPr/>
        </p:nvSpPr>
        <p:spPr bwMode="auto">
          <a:xfrm>
            <a:off x="2044700" y="3935413"/>
            <a:ext cx="471488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23" name="Rectangle 32"/>
          <p:cNvSpPr>
            <a:spLocks noChangeArrowheads="1"/>
          </p:cNvSpPr>
          <p:nvPr/>
        </p:nvSpPr>
        <p:spPr bwMode="auto">
          <a:xfrm>
            <a:off x="2516188" y="39354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24" name="Rectangle 33"/>
          <p:cNvSpPr>
            <a:spLocks noChangeArrowheads="1"/>
          </p:cNvSpPr>
          <p:nvPr/>
        </p:nvSpPr>
        <p:spPr bwMode="auto">
          <a:xfrm>
            <a:off x="2984501" y="39354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25" name="Rectangle 34"/>
          <p:cNvSpPr>
            <a:spLocks noChangeArrowheads="1"/>
          </p:cNvSpPr>
          <p:nvPr/>
        </p:nvSpPr>
        <p:spPr bwMode="auto">
          <a:xfrm>
            <a:off x="3452813" y="3935413"/>
            <a:ext cx="469900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26" name="Rectangle 35"/>
          <p:cNvSpPr>
            <a:spLocks noChangeArrowheads="1"/>
          </p:cNvSpPr>
          <p:nvPr/>
        </p:nvSpPr>
        <p:spPr bwMode="auto">
          <a:xfrm>
            <a:off x="3922713" y="39354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27" name="Rectangle 36"/>
          <p:cNvSpPr>
            <a:spLocks noChangeArrowheads="1"/>
          </p:cNvSpPr>
          <p:nvPr/>
        </p:nvSpPr>
        <p:spPr bwMode="auto">
          <a:xfrm>
            <a:off x="4373564" y="3935413"/>
            <a:ext cx="471487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28" name="Rectangle 37"/>
          <p:cNvSpPr>
            <a:spLocks noChangeArrowheads="1"/>
          </p:cNvSpPr>
          <p:nvPr/>
        </p:nvSpPr>
        <p:spPr bwMode="auto">
          <a:xfrm>
            <a:off x="4845051" y="39354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29" name="Rectangle 38"/>
          <p:cNvSpPr>
            <a:spLocks noChangeArrowheads="1"/>
          </p:cNvSpPr>
          <p:nvPr/>
        </p:nvSpPr>
        <p:spPr bwMode="auto">
          <a:xfrm>
            <a:off x="2044700" y="4395789"/>
            <a:ext cx="471488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30" name="Rectangle 39"/>
          <p:cNvSpPr>
            <a:spLocks noChangeArrowheads="1"/>
          </p:cNvSpPr>
          <p:nvPr/>
        </p:nvSpPr>
        <p:spPr bwMode="auto">
          <a:xfrm>
            <a:off x="2516188" y="4395789"/>
            <a:ext cx="468312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31" name="Rectangle 40"/>
          <p:cNvSpPr>
            <a:spLocks noChangeArrowheads="1"/>
          </p:cNvSpPr>
          <p:nvPr/>
        </p:nvSpPr>
        <p:spPr bwMode="auto">
          <a:xfrm>
            <a:off x="2984501" y="4395789"/>
            <a:ext cx="468313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32" name="Rectangle 41"/>
          <p:cNvSpPr>
            <a:spLocks noChangeArrowheads="1"/>
          </p:cNvSpPr>
          <p:nvPr/>
        </p:nvSpPr>
        <p:spPr bwMode="auto">
          <a:xfrm>
            <a:off x="3452813" y="4395789"/>
            <a:ext cx="469900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33" name="Rectangle 42"/>
          <p:cNvSpPr>
            <a:spLocks noChangeArrowheads="1"/>
          </p:cNvSpPr>
          <p:nvPr/>
        </p:nvSpPr>
        <p:spPr bwMode="auto">
          <a:xfrm>
            <a:off x="3922713" y="4395789"/>
            <a:ext cx="468312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34" name="Rectangle 43"/>
          <p:cNvSpPr>
            <a:spLocks noChangeArrowheads="1"/>
          </p:cNvSpPr>
          <p:nvPr/>
        </p:nvSpPr>
        <p:spPr bwMode="auto">
          <a:xfrm>
            <a:off x="4373564" y="4395789"/>
            <a:ext cx="471487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35" name="Rectangle 44"/>
          <p:cNvSpPr>
            <a:spLocks noChangeArrowheads="1"/>
          </p:cNvSpPr>
          <p:nvPr/>
        </p:nvSpPr>
        <p:spPr bwMode="auto">
          <a:xfrm>
            <a:off x="4845051" y="4395789"/>
            <a:ext cx="468313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70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36" name="Rectangle 45"/>
          <p:cNvSpPr>
            <a:spLocks noChangeArrowheads="1"/>
          </p:cNvSpPr>
          <p:nvPr/>
        </p:nvSpPr>
        <p:spPr bwMode="auto">
          <a:xfrm>
            <a:off x="2044700" y="4867276"/>
            <a:ext cx="471488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37" name="Rectangle 46"/>
          <p:cNvSpPr>
            <a:spLocks noChangeArrowheads="1"/>
          </p:cNvSpPr>
          <p:nvPr/>
        </p:nvSpPr>
        <p:spPr bwMode="auto">
          <a:xfrm>
            <a:off x="2516188" y="48672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38" name="Rectangle 47"/>
          <p:cNvSpPr>
            <a:spLocks noChangeArrowheads="1"/>
          </p:cNvSpPr>
          <p:nvPr/>
        </p:nvSpPr>
        <p:spPr bwMode="auto">
          <a:xfrm>
            <a:off x="2984501" y="48672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39" name="Rectangle 48"/>
          <p:cNvSpPr>
            <a:spLocks noChangeArrowheads="1"/>
          </p:cNvSpPr>
          <p:nvPr/>
        </p:nvSpPr>
        <p:spPr bwMode="auto">
          <a:xfrm>
            <a:off x="3452813" y="4867276"/>
            <a:ext cx="469900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40" name="Rectangle 49"/>
          <p:cNvSpPr>
            <a:spLocks noChangeArrowheads="1"/>
          </p:cNvSpPr>
          <p:nvPr/>
        </p:nvSpPr>
        <p:spPr bwMode="auto">
          <a:xfrm>
            <a:off x="3922713" y="48672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41" name="Rectangle 50"/>
          <p:cNvSpPr>
            <a:spLocks noChangeArrowheads="1"/>
          </p:cNvSpPr>
          <p:nvPr/>
        </p:nvSpPr>
        <p:spPr bwMode="auto">
          <a:xfrm>
            <a:off x="4373564" y="4867276"/>
            <a:ext cx="471487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42" name="Rectangle 51"/>
          <p:cNvSpPr>
            <a:spLocks noChangeArrowheads="1"/>
          </p:cNvSpPr>
          <p:nvPr/>
        </p:nvSpPr>
        <p:spPr bwMode="auto">
          <a:xfrm>
            <a:off x="4845051" y="48672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72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5043" name="Line 52"/>
          <p:cNvSpPr>
            <a:spLocks noChangeShapeType="1"/>
          </p:cNvSpPr>
          <p:nvPr/>
        </p:nvSpPr>
        <p:spPr bwMode="auto">
          <a:xfrm>
            <a:off x="2044700" y="2093913"/>
            <a:ext cx="3657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5044" name="Line 53"/>
          <p:cNvSpPr>
            <a:spLocks noChangeShapeType="1"/>
          </p:cNvSpPr>
          <p:nvPr/>
        </p:nvSpPr>
        <p:spPr bwMode="auto">
          <a:xfrm rot="5400000">
            <a:off x="184944" y="3953669"/>
            <a:ext cx="3719512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5045" name="Text Box 54"/>
          <p:cNvSpPr txBox="1">
            <a:spLocks noChangeArrowheads="1"/>
          </p:cNvSpPr>
          <p:nvPr/>
        </p:nvSpPr>
        <p:spPr bwMode="auto">
          <a:xfrm>
            <a:off x="1917700" y="1720850"/>
            <a:ext cx="22012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Original Image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46" name="Text Box 55"/>
          <p:cNvSpPr txBox="1">
            <a:spLocks noChangeArrowheads="1"/>
          </p:cNvSpPr>
          <p:nvPr/>
        </p:nvSpPr>
        <p:spPr bwMode="auto">
          <a:xfrm>
            <a:off x="5513388" y="1752600"/>
            <a:ext cx="3449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x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47" name="Text Box 56"/>
          <p:cNvSpPr txBox="1">
            <a:spLocks noChangeArrowheads="1"/>
          </p:cNvSpPr>
          <p:nvPr/>
        </p:nvSpPr>
        <p:spPr bwMode="auto">
          <a:xfrm>
            <a:off x="1762125" y="5556250"/>
            <a:ext cx="3690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y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48" name="Text Box 57"/>
          <p:cNvSpPr txBox="1">
            <a:spLocks noChangeArrowheads="1"/>
          </p:cNvSpPr>
          <p:nvPr/>
        </p:nvSpPr>
        <p:spPr bwMode="auto">
          <a:xfrm>
            <a:off x="3963989" y="5335588"/>
            <a:ext cx="20329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Image f (x, y)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5049" name="Group 58"/>
          <p:cNvGrpSpPr>
            <a:grpSpLocks/>
          </p:cNvGrpSpPr>
          <p:nvPr/>
        </p:nvGrpSpPr>
        <p:grpSpPr bwMode="auto">
          <a:xfrm>
            <a:off x="6335711" y="1719264"/>
            <a:ext cx="4243386" cy="4221163"/>
            <a:chOff x="3031" y="1083"/>
            <a:chExt cx="2673" cy="2659"/>
          </a:xfrm>
        </p:grpSpPr>
        <p:sp>
          <p:nvSpPr>
            <p:cNvPr id="85051" name="Rectangle 59"/>
            <p:cNvSpPr>
              <a:spLocks noChangeArrowheads="1"/>
            </p:cNvSpPr>
            <p:nvPr/>
          </p:nvSpPr>
          <p:spPr bwMode="auto">
            <a:xfrm>
              <a:off x="3209" y="1328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52" name="Rectangle 60"/>
            <p:cNvSpPr>
              <a:spLocks noChangeArrowheads="1"/>
            </p:cNvSpPr>
            <p:nvPr/>
          </p:nvSpPr>
          <p:spPr bwMode="auto">
            <a:xfrm>
              <a:off x="3506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53" name="Rectangle 61"/>
            <p:cNvSpPr>
              <a:spLocks noChangeArrowheads="1"/>
            </p:cNvSpPr>
            <p:nvPr/>
          </p:nvSpPr>
          <p:spPr bwMode="auto">
            <a:xfrm>
              <a:off x="3801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54" name="Rectangle 62"/>
            <p:cNvSpPr>
              <a:spLocks noChangeArrowheads="1"/>
            </p:cNvSpPr>
            <p:nvPr/>
          </p:nvSpPr>
          <p:spPr bwMode="auto">
            <a:xfrm>
              <a:off x="4096" y="1328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55" name="Rectangle 63"/>
            <p:cNvSpPr>
              <a:spLocks noChangeArrowheads="1"/>
            </p:cNvSpPr>
            <p:nvPr/>
          </p:nvSpPr>
          <p:spPr bwMode="auto">
            <a:xfrm>
              <a:off x="4392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56" name="Rectangle 64"/>
            <p:cNvSpPr>
              <a:spLocks noChangeArrowheads="1"/>
            </p:cNvSpPr>
            <p:nvPr/>
          </p:nvSpPr>
          <p:spPr bwMode="auto">
            <a:xfrm>
              <a:off x="4676" y="1328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57" name="Rectangle 65"/>
            <p:cNvSpPr>
              <a:spLocks noChangeArrowheads="1"/>
            </p:cNvSpPr>
            <p:nvPr/>
          </p:nvSpPr>
          <p:spPr bwMode="auto">
            <a:xfrm>
              <a:off x="4973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58" name="Rectangle 66"/>
            <p:cNvSpPr>
              <a:spLocks noChangeArrowheads="1"/>
            </p:cNvSpPr>
            <p:nvPr/>
          </p:nvSpPr>
          <p:spPr bwMode="auto">
            <a:xfrm>
              <a:off x="3209" y="1618"/>
              <a:ext cx="297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59" name="Rectangle 67"/>
            <p:cNvSpPr>
              <a:spLocks noChangeArrowheads="1"/>
            </p:cNvSpPr>
            <p:nvPr/>
          </p:nvSpPr>
          <p:spPr bwMode="auto">
            <a:xfrm>
              <a:off x="3506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60" name="Rectangle 68"/>
            <p:cNvSpPr>
              <a:spLocks noChangeArrowheads="1"/>
            </p:cNvSpPr>
            <p:nvPr/>
          </p:nvSpPr>
          <p:spPr bwMode="auto">
            <a:xfrm>
              <a:off x="3801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61" name="Rectangle 69"/>
            <p:cNvSpPr>
              <a:spLocks noChangeArrowheads="1"/>
            </p:cNvSpPr>
            <p:nvPr/>
          </p:nvSpPr>
          <p:spPr bwMode="auto">
            <a:xfrm>
              <a:off x="4096" y="1618"/>
              <a:ext cx="296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62" name="Rectangle 70"/>
            <p:cNvSpPr>
              <a:spLocks noChangeArrowheads="1"/>
            </p:cNvSpPr>
            <p:nvPr/>
          </p:nvSpPr>
          <p:spPr bwMode="auto">
            <a:xfrm>
              <a:off x="4392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63" name="Rectangle 71"/>
            <p:cNvSpPr>
              <a:spLocks noChangeArrowheads="1"/>
            </p:cNvSpPr>
            <p:nvPr/>
          </p:nvSpPr>
          <p:spPr bwMode="auto">
            <a:xfrm>
              <a:off x="4676" y="1618"/>
              <a:ext cx="297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64" name="Rectangle 72"/>
            <p:cNvSpPr>
              <a:spLocks noChangeArrowheads="1"/>
            </p:cNvSpPr>
            <p:nvPr/>
          </p:nvSpPr>
          <p:spPr bwMode="auto">
            <a:xfrm>
              <a:off x="4973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65" name="Rectangle 73"/>
            <p:cNvSpPr>
              <a:spLocks noChangeArrowheads="1"/>
            </p:cNvSpPr>
            <p:nvPr/>
          </p:nvSpPr>
          <p:spPr bwMode="auto">
            <a:xfrm>
              <a:off x="3209" y="1915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66" name="Rectangle 74"/>
            <p:cNvSpPr>
              <a:spLocks noChangeArrowheads="1"/>
            </p:cNvSpPr>
            <p:nvPr/>
          </p:nvSpPr>
          <p:spPr bwMode="auto">
            <a:xfrm>
              <a:off x="3506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67" name="Rectangle 75"/>
            <p:cNvSpPr>
              <a:spLocks noChangeArrowheads="1"/>
            </p:cNvSpPr>
            <p:nvPr/>
          </p:nvSpPr>
          <p:spPr bwMode="auto">
            <a:xfrm>
              <a:off x="3801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68" name="Rectangle 76"/>
            <p:cNvSpPr>
              <a:spLocks noChangeArrowheads="1"/>
            </p:cNvSpPr>
            <p:nvPr/>
          </p:nvSpPr>
          <p:spPr bwMode="auto">
            <a:xfrm>
              <a:off x="4096" y="1915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69" name="Rectangle 77"/>
            <p:cNvSpPr>
              <a:spLocks noChangeArrowheads="1"/>
            </p:cNvSpPr>
            <p:nvPr/>
          </p:nvSpPr>
          <p:spPr bwMode="auto">
            <a:xfrm>
              <a:off x="4392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70" name="Rectangle 78"/>
            <p:cNvSpPr>
              <a:spLocks noChangeArrowheads="1"/>
            </p:cNvSpPr>
            <p:nvPr/>
          </p:nvSpPr>
          <p:spPr bwMode="auto">
            <a:xfrm>
              <a:off x="4676" y="1915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71" name="Rectangle 79"/>
            <p:cNvSpPr>
              <a:spLocks noChangeArrowheads="1"/>
            </p:cNvSpPr>
            <p:nvPr/>
          </p:nvSpPr>
          <p:spPr bwMode="auto">
            <a:xfrm>
              <a:off x="4973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72" name="Rectangle 80"/>
            <p:cNvSpPr>
              <a:spLocks noChangeArrowheads="1"/>
            </p:cNvSpPr>
            <p:nvPr/>
          </p:nvSpPr>
          <p:spPr bwMode="auto">
            <a:xfrm>
              <a:off x="3209" y="220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73" name="Rectangle 81"/>
            <p:cNvSpPr>
              <a:spLocks noChangeArrowheads="1"/>
            </p:cNvSpPr>
            <p:nvPr/>
          </p:nvSpPr>
          <p:spPr bwMode="auto">
            <a:xfrm>
              <a:off x="3506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74" name="Rectangle 82"/>
            <p:cNvSpPr>
              <a:spLocks noChangeArrowheads="1"/>
            </p:cNvSpPr>
            <p:nvPr/>
          </p:nvSpPr>
          <p:spPr bwMode="auto">
            <a:xfrm>
              <a:off x="3801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75" name="Rectangle 83"/>
            <p:cNvSpPr>
              <a:spLocks noChangeArrowheads="1"/>
            </p:cNvSpPr>
            <p:nvPr/>
          </p:nvSpPr>
          <p:spPr bwMode="auto">
            <a:xfrm>
              <a:off x="4096" y="2207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76" name="Rectangle 84"/>
            <p:cNvSpPr>
              <a:spLocks noChangeArrowheads="1"/>
            </p:cNvSpPr>
            <p:nvPr/>
          </p:nvSpPr>
          <p:spPr bwMode="auto">
            <a:xfrm>
              <a:off x="4392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77" name="Rectangle 85"/>
            <p:cNvSpPr>
              <a:spLocks noChangeArrowheads="1"/>
            </p:cNvSpPr>
            <p:nvPr/>
          </p:nvSpPr>
          <p:spPr bwMode="auto">
            <a:xfrm>
              <a:off x="4676" y="220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78" name="Rectangle 86"/>
            <p:cNvSpPr>
              <a:spLocks noChangeArrowheads="1"/>
            </p:cNvSpPr>
            <p:nvPr/>
          </p:nvSpPr>
          <p:spPr bwMode="auto">
            <a:xfrm>
              <a:off x="4973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79" name="Rectangle 87"/>
            <p:cNvSpPr>
              <a:spLocks noChangeArrowheads="1"/>
            </p:cNvSpPr>
            <p:nvPr/>
          </p:nvSpPr>
          <p:spPr bwMode="auto">
            <a:xfrm>
              <a:off x="3209" y="248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80" name="Rectangle 88"/>
            <p:cNvSpPr>
              <a:spLocks noChangeArrowheads="1"/>
            </p:cNvSpPr>
            <p:nvPr/>
          </p:nvSpPr>
          <p:spPr bwMode="auto">
            <a:xfrm>
              <a:off x="3506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81" name="Rectangle 89"/>
            <p:cNvSpPr>
              <a:spLocks noChangeArrowheads="1"/>
            </p:cNvSpPr>
            <p:nvPr/>
          </p:nvSpPr>
          <p:spPr bwMode="auto">
            <a:xfrm>
              <a:off x="3801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82" name="Rectangle 90"/>
            <p:cNvSpPr>
              <a:spLocks noChangeArrowheads="1"/>
            </p:cNvSpPr>
            <p:nvPr/>
          </p:nvSpPr>
          <p:spPr bwMode="auto">
            <a:xfrm>
              <a:off x="4096" y="2487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83" name="Rectangle 91"/>
            <p:cNvSpPr>
              <a:spLocks noChangeArrowheads="1"/>
            </p:cNvSpPr>
            <p:nvPr/>
          </p:nvSpPr>
          <p:spPr bwMode="auto">
            <a:xfrm>
              <a:off x="4392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84" name="Rectangle 92"/>
            <p:cNvSpPr>
              <a:spLocks noChangeArrowheads="1"/>
            </p:cNvSpPr>
            <p:nvPr/>
          </p:nvSpPr>
          <p:spPr bwMode="auto">
            <a:xfrm>
              <a:off x="4676" y="248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85" name="Rectangle 93"/>
            <p:cNvSpPr>
              <a:spLocks noChangeArrowheads="1"/>
            </p:cNvSpPr>
            <p:nvPr/>
          </p:nvSpPr>
          <p:spPr bwMode="auto">
            <a:xfrm>
              <a:off x="4973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86" name="Rectangle 94"/>
            <p:cNvSpPr>
              <a:spLocks noChangeArrowheads="1"/>
            </p:cNvSpPr>
            <p:nvPr/>
          </p:nvSpPr>
          <p:spPr bwMode="auto">
            <a:xfrm>
              <a:off x="3209" y="2779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87" name="Rectangle 95"/>
            <p:cNvSpPr>
              <a:spLocks noChangeArrowheads="1"/>
            </p:cNvSpPr>
            <p:nvPr/>
          </p:nvSpPr>
          <p:spPr bwMode="auto">
            <a:xfrm>
              <a:off x="3506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88" name="Rectangle 96"/>
            <p:cNvSpPr>
              <a:spLocks noChangeArrowheads="1"/>
            </p:cNvSpPr>
            <p:nvPr/>
          </p:nvSpPr>
          <p:spPr bwMode="auto">
            <a:xfrm>
              <a:off x="3801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89" name="Rectangle 97"/>
            <p:cNvSpPr>
              <a:spLocks noChangeArrowheads="1"/>
            </p:cNvSpPr>
            <p:nvPr/>
          </p:nvSpPr>
          <p:spPr bwMode="auto">
            <a:xfrm>
              <a:off x="4096" y="2779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90" name="Rectangle 98"/>
            <p:cNvSpPr>
              <a:spLocks noChangeArrowheads="1"/>
            </p:cNvSpPr>
            <p:nvPr/>
          </p:nvSpPr>
          <p:spPr bwMode="auto">
            <a:xfrm>
              <a:off x="4392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91" name="Rectangle 99"/>
            <p:cNvSpPr>
              <a:spLocks noChangeArrowheads="1"/>
            </p:cNvSpPr>
            <p:nvPr/>
          </p:nvSpPr>
          <p:spPr bwMode="auto">
            <a:xfrm>
              <a:off x="4676" y="2779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92" name="Rectangle 100"/>
            <p:cNvSpPr>
              <a:spLocks noChangeArrowheads="1"/>
            </p:cNvSpPr>
            <p:nvPr/>
          </p:nvSpPr>
          <p:spPr bwMode="auto">
            <a:xfrm>
              <a:off x="4973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93" name="Rectangle 101"/>
            <p:cNvSpPr>
              <a:spLocks noChangeArrowheads="1"/>
            </p:cNvSpPr>
            <p:nvPr/>
          </p:nvSpPr>
          <p:spPr bwMode="auto">
            <a:xfrm>
              <a:off x="3209" y="3074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94" name="Rectangle 102"/>
            <p:cNvSpPr>
              <a:spLocks noChangeArrowheads="1"/>
            </p:cNvSpPr>
            <p:nvPr/>
          </p:nvSpPr>
          <p:spPr bwMode="auto">
            <a:xfrm>
              <a:off x="3506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95" name="Rectangle 103"/>
            <p:cNvSpPr>
              <a:spLocks noChangeArrowheads="1"/>
            </p:cNvSpPr>
            <p:nvPr/>
          </p:nvSpPr>
          <p:spPr bwMode="auto">
            <a:xfrm>
              <a:off x="3801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96" name="Rectangle 104"/>
            <p:cNvSpPr>
              <a:spLocks noChangeArrowheads="1"/>
            </p:cNvSpPr>
            <p:nvPr/>
          </p:nvSpPr>
          <p:spPr bwMode="auto">
            <a:xfrm>
              <a:off x="4096" y="3074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97" name="Rectangle 105"/>
            <p:cNvSpPr>
              <a:spLocks noChangeArrowheads="1"/>
            </p:cNvSpPr>
            <p:nvPr/>
          </p:nvSpPr>
          <p:spPr bwMode="auto">
            <a:xfrm>
              <a:off x="4392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98" name="Rectangle 106"/>
            <p:cNvSpPr>
              <a:spLocks noChangeArrowheads="1"/>
            </p:cNvSpPr>
            <p:nvPr/>
          </p:nvSpPr>
          <p:spPr bwMode="auto">
            <a:xfrm>
              <a:off x="4676" y="3074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099" name="Rectangle 107"/>
            <p:cNvSpPr>
              <a:spLocks noChangeArrowheads="1"/>
            </p:cNvSpPr>
            <p:nvPr/>
          </p:nvSpPr>
          <p:spPr bwMode="auto">
            <a:xfrm>
              <a:off x="4973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100" name="Line 108"/>
            <p:cNvSpPr>
              <a:spLocks noChangeShapeType="1"/>
            </p:cNvSpPr>
            <p:nvPr/>
          </p:nvSpPr>
          <p:spPr bwMode="auto">
            <a:xfrm>
              <a:off x="3209" y="1328"/>
              <a:ext cx="230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5101" name="Line 109"/>
            <p:cNvSpPr>
              <a:spLocks noChangeShapeType="1"/>
            </p:cNvSpPr>
            <p:nvPr/>
          </p:nvSpPr>
          <p:spPr bwMode="auto">
            <a:xfrm rot="5400000">
              <a:off x="2037" y="2500"/>
              <a:ext cx="234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5102" name="Text Box 110"/>
            <p:cNvSpPr txBox="1">
              <a:spLocks noChangeArrowheads="1"/>
            </p:cNvSpPr>
            <p:nvPr/>
          </p:nvSpPr>
          <p:spPr bwMode="auto">
            <a:xfrm>
              <a:off x="3154" y="1083"/>
              <a:ext cx="11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</a:rPr>
                <a:t>Filtered</a:t>
              </a:r>
              <a:r>
                <a:rPr lang="en-IE" altLang="en-US" sz="1800">
                  <a:solidFill>
                    <a:srgbClr val="000000"/>
                  </a:solidFill>
                </a:rPr>
                <a:t> </a:t>
              </a: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103" name="Text Box 111"/>
            <p:cNvSpPr txBox="1">
              <a:spLocks noChangeArrowheads="1"/>
            </p:cNvSpPr>
            <p:nvPr/>
          </p:nvSpPr>
          <p:spPr bwMode="auto">
            <a:xfrm>
              <a:off x="5394" y="1104"/>
              <a:ext cx="21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104" name="Text Box 112"/>
            <p:cNvSpPr txBox="1">
              <a:spLocks noChangeArrowheads="1"/>
            </p:cNvSpPr>
            <p:nvPr/>
          </p:nvSpPr>
          <p:spPr bwMode="auto">
            <a:xfrm>
              <a:off x="3031" y="3509"/>
              <a:ext cx="23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105" name="Text Box 113"/>
            <p:cNvSpPr txBox="1">
              <a:spLocks noChangeArrowheads="1"/>
            </p:cNvSpPr>
            <p:nvPr/>
          </p:nvSpPr>
          <p:spPr bwMode="auto">
            <a:xfrm>
              <a:off x="4423" y="3361"/>
              <a:ext cx="12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 f (x, y)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</p:grpSp>
      <p:pic>
        <p:nvPicPr>
          <p:cNvPr id="85050" name="Picture 114" descr="MCj031081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900" y="149226"/>
            <a:ext cx="1042988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415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Max and Min Filter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870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IE" altLang="en-US" b="1" smtClean="0">
                <a:ea typeface="ＭＳ Ｐゴシック" panose="020B0600070205080204" pitchFamily="34" charset="-128"/>
              </a:rPr>
              <a:t>Max Filter:</a:t>
            </a:r>
          </a:p>
          <a:p>
            <a:pPr marL="0" indent="0" eaLnBrk="1" hangingPunct="1">
              <a:buNone/>
            </a:pPr>
            <a:endParaRPr lang="en-IE" altLang="en-US" b="1" smtClean="0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endParaRPr lang="en-IE" altLang="en-US" b="1" smtClean="0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r>
              <a:rPr lang="en-IE" altLang="en-US" b="1" smtClean="0">
                <a:ea typeface="ＭＳ Ｐゴシック" panose="020B0600070205080204" pitchFamily="34" charset="-128"/>
              </a:rPr>
              <a:t>Min Filter:</a:t>
            </a:r>
          </a:p>
          <a:p>
            <a:pPr marL="0" indent="0" eaLnBrk="1" hangingPunct="1">
              <a:buNone/>
            </a:pPr>
            <a:endParaRPr lang="en-IE" altLang="en-US" b="1" smtClean="0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endParaRPr lang="en-IE" altLang="en-US" b="1" smtClean="0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Max filter is good for pepper noise and min is good for salt noise</a:t>
            </a:r>
          </a:p>
        </p:txBody>
      </p:sp>
      <p:graphicFrame>
        <p:nvGraphicFramePr>
          <p:cNvPr id="87043" name="Object 2"/>
          <p:cNvGraphicFramePr>
            <a:graphicFrameLocks noChangeAspect="1"/>
          </p:cNvGraphicFramePr>
          <p:nvPr/>
        </p:nvGraphicFramePr>
        <p:xfrm>
          <a:off x="2613026" y="2070100"/>
          <a:ext cx="411956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Equation" r:id="rId4" imgW="1473200" imgH="342900" progId="Equation.3">
                  <p:embed/>
                </p:oleObj>
              </mc:Choice>
              <mc:Fallback>
                <p:oleObj name="Equation" r:id="rId4" imgW="1473200" imgH="342900" progId="Equation.3">
                  <p:embed/>
                  <p:pic>
                    <p:nvPicPr>
                      <p:cNvPr id="8704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026" y="2070100"/>
                        <a:ext cx="4119563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4" name="Object 3"/>
          <p:cNvGraphicFramePr>
            <a:graphicFrameLocks noChangeAspect="1"/>
          </p:cNvGraphicFramePr>
          <p:nvPr/>
        </p:nvGraphicFramePr>
        <p:xfrm>
          <a:off x="2613026" y="3722689"/>
          <a:ext cx="4119563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Equation" r:id="rId6" imgW="1473200" imgH="330200" progId="Equation.3">
                  <p:embed/>
                </p:oleObj>
              </mc:Choice>
              <mc:Fallback>
                <p:oleObj name="Equation" r:id="rId6" imgW="1473200" imgH="330200" progId="Equation.3">
                  <p:embed/>
                  <p:pic>
                    <p:nvPicPr>
                      <p:cNvPr id="8704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026" y="3722689"/>
                        <a:ext cx="4119563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893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Corruption Example</a:t>
            </a:r>
            <a:endParaRPr lang="en-GB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89090" name="Rectangle 3"/>
          <p:cNvSpPr>
            <a:spLocks noChangeArrowheads="1"/>
          </p:cNvSpPr>
          <p:nvPr/>
        </p:nvSpPr>
        <p:spPr bwMode="auto">
          <a:xfrm>
            <a:off x="2044700" y="2093913"/>
            <a:ext cx="471488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091" name="Rectangle 4"/>
          <p:cNvSpPr>
            <a:spLocks noChangeArrowheads="1"/>
          </p:cNvSpPr>
          <p:nvPr/>
        </p:nvSpPr>
        <p:spPr bwMode="auto">
          <a:xfrm>
            <a:off x="2516188" y="20939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092" name="Rectangle 5"/>
          <p:cNvSpPr>
            <a:spLocks noChangeArrowheads="1"/>
          </p:cNvSpPr>
          <p:nvPr/>
        </p:nvSpPr>
        <p:spPr bwMode="auto">
          <a:xfrm>
            <a:off x="2984501" y="20939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093" name="Rectangle 6"/>
          <p:cNvSpPr>
            <a:spLocks noChangeArrowheads="1"/>
          </p:cNvSpPr>
          <p:nvPr/>
        </p:nvSpPr>
        <p:spPr bwMode="auto">
          <a:xfrm>
            <a:off x="3452813" y="2093913"/>
            <a:ext cx="469900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094" name="Rectangle 7"/>
          <p:cNvSpPr>
            <a:spLocks noChangeArrowheads="1"/>
          </p:cNvSpPr>
          <p:nvPr/>
        </p:nvSpPr>
        <p:spPr bwMode="auto">
          <a:xfrm>
            <a:off x="3922713" y="20939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56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095" name="Rectangle 8"/>
          <p:cNvSpPr>
            <a:spLocks noChangeArrowheads="1"/>
          </p:cNvSpPr>
          <p:nvPr/>
        </p:nvSpPr>
        <p:spPr bwMode="auto">
          <a:xfrm>
            <a:off x="4373564" y="2093913"/>
            <a:ext cx="471487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096" name="Rectangle 9"/>
          <p:cNvSpPr>
            <a:spLocks noChangeArrowheads="1"/>
          </p:cNvSpPr>
          <p:nvPr/>
        </p:nvSpPr>
        <p:spPr bwMode="auto">
          <a:xfrm>
            <a:off x="4845051" y="20939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097" name="Rectangle 10"/>
          <p:cNvSpPr>
            <a:spLocks noChangeArrowheads="1"/>
          </p:cNvSpPr>
          <p:nvPr/>
        </p:nvSpPr>
        <p:spPr bwMode="auto">
          <a:xfrm>
            <a:off x="2044700" y="2555875"/>
            <a:ext cx="471488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098" name="Rectangle 11"/>
          <p:cNvSpPr>
            <a:spLocks noChangeArrowheads="1"/>
          </p:cNvSpPr>
          <p:nvPr/>
        </p:nvSpPr>
        <p:spPr bwMode="auto">
          <a:xfrm>
            <a:off x="2516188" y="2555875"/>
            <a:ext cx="468312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099" name="Rectangle 12"/>
          <p:cNvSpPr>
            <a:spLocks noChangeArrowheads="1"/>
          </p:cNvSpPr>
          <p:nvPr/>
        </p:nvSpPr>
        <p:spPr bwMode="auto">
          <a:xfrm>
            <a:off x="2984501" y="2555875"/>
            <a:ext cx="468313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00" name="Rectangle 13"/>
          <p:cNvSpPr>
            <a:spLocks noChangeArrowheads="1"/>
          </p:cNvSpPr>
          <p:nvPr/>
        </p:nvSpPr>
        <p:spPr bwMode="auto">
          <a:xfrm>
            <a:off x="3452813" y="2555875"/>
            <a:ext cx="469900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01" name="Rectangle 14"/>
          <p:cNvSpPr>
            <a:spLocks noChangeArrowheads="1"/>
          </p:cNvSpPr>
          <p:nvPr/>
        </p:nvSpPr>
        <p:spPr bwMode="auto">
          <a:xfrm>
            <a:off x="3922713" y="2555875"/>
            <a:ext cx="468312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02" name="Rectangle 15"/>
          <p:cNvSpPr>
            <a:spLocks noChangeArrowheads="1"/>
          </p:cNvSpPr>
          <p:nvPr/>
        </p:nvSpPr>
        <p:spPr bwMode="auto">
          <a:xfrm>
            <a:off x="4373564" y="2555875"/>
            <a:ext cx="471487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03" name="Rectangle 16"/>
          <p:cNvSpPr>
            <a:spLocks noChangeArrowheads="1"/>
          </p:cNvSpPr>
          <p:nvPr/>
        </p:nvSpPr>
        <p:spPr bwMode="auto">
          <a:xfrm>
            <a:off x="4845051" y="2555875"/>
            <a:ext cx="468313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04" name="Rectangle 17"/>
          <p:cNvSpPr>
            <a:spLocks noChangeArrowheads="1"/>
          </p:cNvSpPr>
          <p:nvPr/>
        </p:nvSpPr>
        <p:spPr bwMode="auto">
          <a:xfrm>
            <a:off x="2044700" y="3025776"/>
            <a:ext cx="471488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05" name="Rectangle 18"/>
          <p:cNvSpPr>
            <a:spLocks noChangeArrowheads="1"/>
          </p:cNvSpPr>
          <p:nvPr/>
        </p:nvSpPr>
        <p:spPr bwMode="auto">
          <a:xfrm>
            <a:off x="2516188" y="30257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204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06" name="Rectangle 19"/>
          <p:cNvSpPr>
            <a:spLocks noChangeArrowheads="1"/>
          </p:cNvSpPr>
          <p:nvPr/>
        </p:nvSpPr>
        <p:spPr bwMode="auto">
          <a:xfrm>
            <a:off x="2984501" y="30257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07" name="Rectangle 20"/>
          <p:cNvSpPr>
            <a:spLocks noChangeArrowheads="1"/>
          </p:cNvSpPr>
          <p:nvPr/>
        </p:nvSpPr>
        <p:spPr bwMode="auto">
          <a:xfrm>
            <a:off x="3452813" y="3025776"/>
            <a:ext cx="469900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08" name="Rectangle 21"/>
          <p:cNvSpPr>
            <a:spLocks noChangeArrowheads="1"/>
          </p:cNvSpPr>
          <p:nvPr/>
        </p:nvSpPr>
        <p:spPr bwMode="auto">
          <a:xfrm>
            <a:off x="3922713" y="30257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09" name="Rectangle 22"/>
          <p:cNvSpPr>
            <a:spLocks noChangeArrowheads="1"/>
          </p:cNvSpPr>
          <p:nvPr/>
        </p:nvSpPr>
        <p:spPr bwMode="auto">
          <a:xfrm>
            <a:off x="4373564" y="3025776"/>
            <a:ext cx="471487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10" name="Rectangle 23"/>
          <p:cNvSpPr>
            <a:spLocks noChangeArrowheads="1"/>
          </p:cNvSpPr>
          <p:nvPr/>
        </p:nvSpPr>
        <p:spPr bwMode="auto">
          <a:xfrm>
            <a:off x="4845051" y="30257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11" name="Rectangle 24"/>
          <p:cNvSpPr>
            <a:spLocks noChangeArrowheads="1"/>
          </p:cNvSpPr>
          <p:nvPr/>
        </p:nvSpPr>
        <p:spPr bwMode="auto">
          <a:xfrm>
            <a:off x="2044700" y="3486150"/>
            <a:ext cx="471488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12" name="Rectangle 25"/>
          <p:cNvSpPr>
            <a:spLocks noChangeArrowheads="1"/>
          </p:cNvSpPr>
          <p:nvPr/>
        </p:nvSpPr>
        <p:spPr bwMode="auto">
          <a:xfrm>
            <a:off x="2516188" y="3486150"/>
            <a:ext cx="468312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13" name="Rectangle 26"/>
          <p:cNvSpPr>
            <a:spLocks noChangeArrowheads="1"/>
          </p:cNvSpPr>
          <p:nvPr/>
        </p:nvSpPr>
        <p:spPr bwMode="auto">
          <a:xfrm>
            <a:off x="2984501" y="3486150"/>
            <a:ext cx="468313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14" name="Rectangle 27"/>
          <p:cNvSpPr>
            <a:spLocks noChangeArrowheads="1"/>
          </p:cNvSpPr>
          <p:nvPr/>
        </p:nvSpPr>
        <p:spPr bwMode="auto">
          <a:xfrm>
            <a:off x="3452813" y="3486150"/>
            <a:ext cx="469900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15" name="Rectangle 28"/>
          <p:cNvSpPr>
            <a:spLocks noChangeArrowheads="1"/>
          </p:cNvSpPr>
          <p:nvPr/>
        </p:nvSpPr>
        <p:spPr bwMode="auto">
          <a:xfrm>
            <a:off x="3922713" y="3486150"/>
            <a:ext cx="468312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16" name="Rectangle 29"/>
          <p:cNvSpPr>
            <a:spLocks noChangeArrowheads="1"/>
          </p:cNvSpPr>
          <p:nvPr/>
        </p:nvSpPr>
        <p:spPr bwMode="auto">
          <a:xfrm>
            <a:off x="4373564" y="3486150"/>
            <a:ext cx="471487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17" name="Rectangle 30"/>
          <p:cNvSpPr>
            <a:spLocks noChangeArrowheads="1"/>
          </p:cNvSpPr>
          <p:nvPr/>
        </p:nvSpPr>
        <p:spPr bwMode="auto">
          <a:xfrm>
            <a:off x="4845051" y="3486150"/>
            <a:ext cx="468313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18" name="Rectangle 31"/>
          <p:cNvSpPr>
            <a:spLocks noChangeArrowheads="1"/>
          </p:cNvSpPr>
          <p:nvPr/>
        </p:nvSpPr>
        <p:spPr bwMode="auto">
          <a:xfrm>
            <a:off x="2044700" y="3935413"/>
            <a:ext cx="471488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19" name="Rectangle 32"/>
          <p:cNvSpPr>
            <a:spLocks noChangeArrowheads="1"/>
          </p:cNvSpPr>
          <p:nvPr/>
        </p:nvSpPr>
        <p:spPr bwMode="auto">
          <a:xfrm>
            <a:off x="2516188" y="39354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20" name="Rectangle 33"/>
          <p:cNvSpPr>
            <a:spLocks noChangeArrowheads="1"/>
          </p:cNvSpPr>
          <p:nvPr/>
        </p:nvSpPr>
        <p:spPr bwMode="auto">
          <a:xfrm>
            <a:off x="2984501" y="39354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21" name="Rectangle 34"/>
          <p:cNvSpPr>
            <a:spLocks noChangeArrowheads="1"/>
          </p:cNvSpPr>
          <p:nvPr/>
        </p:nvSpPr>
        <p:spPr bwMode="auto">
          <a:xfrm>
            <a:off x="3452813" y="3935413"/>
            <a:ext cx="469900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22" name="Rectangle 35"/>
          <p:cNvSpPr>
            <a:spLocks noChangeArrowheads="1"/>
          </p:cNvSpPr>
          <p:nvPr/>
        </p:nvSpPr>
        <p:spPr bwMode="auto">
          <a:xfrm>
            <a:off x="3922713" y="39354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23" name="Rectangle 36"/>
          <p:cNvSpPr>
            <a:spLocks noChangeArrowheads="1"/>
          </p:cNvSpPr>
          <p:nvPr/>
        </p:nvSpPr>
        <p:spPr bwMode="auto">
          <a:xfrm>
            <a:off x="4373564" y="3935413"/>
            <a:ext cx="471487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24" name="Rectangle 37"/>
          <p:cNvSpPr>
            <a:spLocks noChangeArrowheads="1"/>
          </p:cNvSpPr>
          <p:nvPr/>
        </p:nvSpPr>
        <p:spPr bwMode="auto">
          <a:xfrm>
            <a:off x="4845051" y="39354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25" name="Rectangle 38"/>
          <p:cNvSpPr>
            <a:spLocks noChangeArrowheads="1"/>
          </p:cNvSpPr>
          <p:nvPr/>
        </p:nvSpPr>
        <p:spPr bwMode="auto">
          <a:xfrm>
            <a:off x="2044700" y="4395789"/>
            <a:ext cx="471488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26" name="Rectangle 39"/>
          <p:cNvSpPr>
            <a:spLocks noChangeArrowheads="1"/>
          </p:cNvSpPr>
          <p:nvPr/>
        </p:nvSpPr>
        <p:spPr bwMode="auto">
          <a:xfrm>
            <a:off x="2516188" y="4395789"/>
            <a:ext cx="468312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27" name="Rectangle 40"/>
          <p:cNvSpPr>
            <a:spLocks noChangeArrowheads="1"/>
          </p:cNvSpPr>
          <p:nvPr/>
        </p:nvSpPr>
        <p:spPr bwMode="auto">
          <a:xfrm>
            <a:off x="2984501" y="4395789"/>
            <a:ext cx="468313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28" name="Rectangle 41"/>
          <p:cNvSpPr>
            <a:spLocks noChangeArrowheads="1"/>
          </p:cNvSpPr>
          <p:nvPr/>
        </p:nvSpPr>
        <p:spPr bwMode="auto">
          <a:xfrm>
            <a:off x="3452813" y="4395789"/>
            <a:ext cx="469900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29" name="Rectangle 42"/>
          <p:cNvSpPr>
            <a:spLocks noChangeArrowheads="1"/>
          </p:cNvSpPr>
          <p:nvPr/>
        </p:nvSpPr>
        <p:spPr bwMode="auto">
          <a:xfrm>
            <a:off x="3922713" y="4395789"/>
            <a:ext cx="468312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30" name="Rectangle 43"/>
          <p:cNvSpPr>
            <a:spLocks noChangeArrowheads="1"/>
          </p:cNvSpPr>
          <p:nvPr/>
        </p:nvSpPr>
        <p:spPr bwMode="auto">
          <a:xfrm>
            <a:off x="4373564" y="4395789"/>
            <a:ext cx="471487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31" name="Rectangle 44"/>
          <p:cNvSpPr>
            <a:spLocks noChangeArrowheads="1"/>
          </p:cNvSpPr>
          <p:nvPr/>
        </p:nvSpPr>
        <p:spPr bwMode="auto">
          <a:xfrm>
            <a:off x="4845051" y="4395789"/>
            <a:ext cx="468313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70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32" name="Rectangle 45"/>
          <p:cNvSpPr>
            <a:spLocks noChangeArrowheads="1"/>
          </p:cNvSpPr>
          <p:nvPr/>
        </p:nvSpPr>
        <p:spPr bwMode="auto">
          <a:xfrm>
            <a:off x="2044700" y="4867276"/>
            <a:ext cx="471488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33" name="Rectangle 46"/>
          <p:cNvSpPr>
            <a:spLocks noChangeArrowheads="1"/>
          </p:cNvSpPr>
          <p:nvPr/>
        </p:nvSpPr>
        <p:spPr bwMode="auto">
          <a:xfrm>
            <a:off x="2516188" y="48672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34" name="Rectangle 47"/>
          <p:cNvSpPr>
            <a:spLocks noChangeArrowheads="1"/>
          </p:cNvSpPr>
          <p:nvPr/>
        </p:nvSpPr>
        <p:spPr bwMode="auto">
          <a:xfrm>
            <a:off x="2984501" y="48672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35" name="Rectangle 48"/>
          <p:cNvSpPr>
            <a:spLocks noChangeArrowheads="1"/>
          </p:cNvSpPr>
          <p:nvPr/>
        </p:nvSpPr>
        <p:spPr bwMode="auto">
          <a:xfrm>
            <a:off x="3452813" y="4867276"/>
            <a:ext cx="469900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36" name="Rectangle 49"/>
          <p:cNvSpPr>
            <a:spLocks noChangeArrowheads="1"/>
          </p:cNvSpPr>
          <p:nvPr/>
        </p:nvSpPr>
        <p:spPr bwMode="auto">
          <a:xfrm>
            <a:off x="3922713" y="48672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37" name="Rectangle 50"/>
          <p:cNvSpPr>
            <a:spLocks noChangeArrowheads="1"/>
          </p:cNvSpPr>
          <p:nvPr/>
        </p:nvSpPr>
        <p:spPr bwMode="auto">
          <a:xfrm>
            <a:off x="4373564" y="4867276"/>
            <a:ext cx="471487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38" name="Rectangle 51"/>
          <p:cNvSpPr>
            <a:spLocks noChangeArrowheads="1"/>
          </p:cNvSpPr>
          <p:nvPr/>
        </p:nvSpPr>
        <p:spPr bwMode="auto">
          <a:xfrm>
            <a:off x="4845051" y="48672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72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89139" name="Line 52"/>
          <p:cNvSpPr>
            <a:spLocks noChangeShapeType="1"/>
          </p:cNvSpPr>
          <p:nvPr/>
        </p:nvSpPr>
        <p:spPr bwMode="auto">
          <a:xfrm>
            <a:off x="2044700" y="2093913"/>
            <a:ext cx="3657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9140" name="Line 53"/>
          <p:cNvSpPr>
            <a:spLocks noChangeShapeType="1"/>
          </p:cNvSpPr>
          <p:nvPr/>
        </p:nvSpPr>
        <p:spPr bwMode="auto">
          <a:xfrm rot="5400000">
            <a:off x="184944" y="3953669"/>
            <a:ext cx="3719512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9141" name="Text Box 54"/>
          <p:cNvSpPr txBox="1">
            <a:spLocks noChangeArrowheads="1"/>
          </p:cNvSpPr>
          <p:nvPr/>
        </p:nvSpPr>
        <p:spPr bwMode="auto">
          <a:xfrm>
            <a:off x="1917700" y="1720850"/>
            <a:ext cx="22012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Original Image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142" name="Text Box 55"/>
          <p:cNvSpPr txBox="1">
            <a:spLocks noChangeArrowheads="1"/>
          </p:cNvSpPr>
          <p:nvPr/>
        </p:nvSpPr>
        <p:spPr bwMode="auto">
          <a:xfrm>
            <a:off x="5513388" y="1752600"/>
            <a:ext cx="3449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x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143" name="Text Box 56"/>
          <p:cNvSpPr txBox="1">
            <a:spLocks noChangeArrowheads="1"/>
          </p:cNvSpPr>
          <p:nvPr/>
        </p:nvSpPr>
        <p:spPr bwMode="auto">
          <a:xfrm>
            <a:off x="1762125" y="5556250"/>
            <a:ext cx="3690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y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144" name="Text Box 57"/>
          <p:cNvSpPr txBox="1">
            <a:spLocks noChangeArrowheads="1"/>
          </p:cNvSpPr>
          <p:nvPr/>
        </p:nvSpPr>
        <p:spPr bwMode="auto">
          <a:xfrm>
            <a:off x="3963989" y="5335588"/>
            <a:ext cx="20329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Image f (x, y)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9145" name="Group 58"/>
          <p:cNvGrpSpPr>
            <a:grpSpLocks/>
          </p:cNvGrpSpPr>
          <p:nvPr/>
        </p:nvGrpSpPr>
        <p:grpSpPr bwMode="auto">
          <a:xfrm>
            <a:off x="6335711" y="1719264"/>
            <a:ext cx="4243386" cy="4221163"/>
            <a:chOff x="3031" y="1083"/>
            <a:chExt cx="2673" cy="2659"/>
          </a:xfrm>
        </p:grpSpPr>
        <p:sp>
          <p:nvSpPr>
            <p:cNvPr id="89147" name="Rectangle 59"/>
            <p:cNvSpPr>
              <a:spLocks noChangeArrowheads="1"/>
            </p:cNvSpPr>
            <p:nvPr/>
          </p:nvSpPr>
          <p:spPr bwMode="auto">
            <a:xfrm>
              <a:off x="3209" y="1328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48" name="Rectangle 60"/>
            <p:cNvSpPr>
              <a:spLocks noChangeArrowheads="1"/>
            </p:cNvSpPr>
            <p:nvPr/>
          </p:nvSpPr>
          <p:spPr bwMode="auto">
            <a:xfrm>
              <a:off x="3506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49" name="Rectangle 61"/>
            <p:cNvSpPr>
              <a:spLocks noChangeArrowheads="1"/>
            </p:cNvSpPr>
            <p:nvPr/>
          </p:nvSpPr>
          <p:spPr bwMode="auto">
            <a:xfrm>
              <a:off x="3801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50" name="Rectangle 62"/>
            <p:cNvSpPr>
              <a:spLocks noChangeArrowheads="1"/>
            </p:cNvSpPr>
            <p:nvPr/>
          </p:nvSpPr>
          <p:spPr bwMode="auto">
            <a:xfrm>
              <a:off x="4096" y="1328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51" name="Rectangle 63"/>
            <p:cNvSpPr>
              <a:spLocks noChangeArrowheads="1"/>
            </p:cNvSpPr>
            <p:nvPr/>
          </p:nvSpPr>
          <p:spPr bwMode="auto">
            <a:xfrm>
              <a:off x="4392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52" name="Rectangle 64"/>
            <p:cNvSpPr>
              <a:spLocks noChangeArrowheads="1"/>
            </p:cNvSpPr>
            <p:nvPr/>
          </p:nvSpPr>
          <p:spPr bwMode="auto">
            <a:xfrm>
              <a:off x="4676" y="1328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53" name="Rectangle 65"/>
            <p:cNvSpPr>
              <a:spLocks noChangeArrowheads="1"/>
            </p:cNvSpPr>
            <p:nvPr/>
          </p:nvSpPr>
          <p:spPr bwMode="auto">
            <a:xfrm>
              <a:off x="4973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54" name="Rectangle 66"/>
            <p:cNvSpPr>
              <a:spLocks noChangeArrowheads="1"/>
            </p:cNvSpPr>
            <p:nvPr/>
          </p:nvSpPr>
          <p:spPr bwMode="auto">
            <a:xfrm>
              <a:off x="3209" y="1618"/>
              <a:ext cx="297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55" name="Rectangle 67"/>
            <p:cNvSpPr>
              <a:spLocks noChangeArrowheads="1"/>
            </p:cNvSpPr>
            <p:nvPr/>
          </p:nvSpPr>
          <p:spPr bwMode="auto">
            <a:xfrm>
              <a:off x="3506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56" name="Rectangle 68"/>
            <p:cNvSpPr>
              <a:spLocks noChangeArrowheads="1"/>
            </p:cNvSpPr>
            <p:nvPr/>
          </p:nvSpPr>
          <p:spPr bwMode="auto">
            <a:xfrm>
              <a:off x="3801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57" name="Rectangle 69"/>
            <p:cNvSpPr>
              <a:spLocks noChangeArrowheads="1"/>
            </p:cNvSpPr>
            <p:nvPr/>
          </p:nvSpPr>
          <p:spPr bwMode="auto">
            <a:xfrm>
              <a:off x="4096" y="1618"/>
              <a:ext cx="296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58" name="Rectangle 70"/>
            <p:cNvSpPr>
              <a:spLocks noChangeArrowheads="1"/>
            </p:cNvSpPr>
            <p:nvPr/>
          </p:nvSpPr>
          <p:spPr bwMode="auto">
            <a:xfrm>
              <a:off x="4392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59" name="Rectangle 71"/>
            <p:cNvSpPr>
              <a:spLocks noChangeArrowheads="1"/>
            </p:cNvSpPr>
            <p:nvPr/>
          </p:nvSpPr>
          <p:spPr bwMode="auto">
            <a:xfrm>
              <a:off x="4676" y="1618"/>
              <a:ext cx="297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60" name="Rectangle 72"/>
            <p:cNvSpPr>
              <a:spLocks noChangeArrowheads="1"/>
            </p:cNvSpPr>
            <p:nvPr/>
          </p:nvSpPr>
          <p:spPr bwMode="auto">
            <a:xfrm>
              <a:off x="4973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61" name="Rectangle 73"/>
            <p:cNvSpPr>
              <a:spLocks noChangeArrowheads="1"/>
            </p:cNvSpPr>
            <p:nvPr/>
          </p:nvSpPr>
          <p:spPr bwMode="auto">
            <a:xfrm>
              <a:off x="3209" y="1915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62" name="Rectangle 74"/>
            <p:cNvSpPr>
              <a:spLocks noChangeArrowheads="1"/>
            </p:cNvSpPr>
            <p:nvPr/>
          </p:nvSpPr>
          <p:spPr bwMode="auto">
            <a:xfrm>
              <a:off x="3506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63" name="Rectangle 75"/>
            <p:cNvSpPr>
              <a:spLocks noChangeArrowheads="1"/>
            </p:cNvSpPr>
            <p:nvPr/>
          </p:nvSpPr>
          <p:spPr bwMode="auto">
            <a:xfrm>
              <a:off x="3801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64" name="Rectangle 76"/>
            <p:cNvSpPr>
              <a:spLocks noChangeArrowheads="1"/>
            </p:cNvSpPr>
            <p:nvPr/>
          </p:nvSpPr>
          <p:spPr bwMode="auto">
            <a:xfrm>
              <a:off x="4096" y="1915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65" name="Rectangle 77"/>
            <p:cNvSpPr>
              <a:spLocks noChangeArrowheads="1"/>
            </p:cNvSpPr>
            <p:nvPr/>
          </p:nvSpPr>
          <p:spPr bwMode="auto">
            <a:xfrm>
              <a:off x="4392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66" name="Rectangle 78"/>
            <p:cNvSpPr>
              <a:spLocks noChangeArrowheads="1"/>
            </p:cNvSpPr>
            <p:nvPr/>
          </p:nvSpPr>
          <p:spPr bwMode="auto">
            <a:xfrm>
              <a:off x="4676" y="1915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67" name="Rectangle 79"/>
            <p:cNvSpPr>
              <a:spLocks noChangeArrowheads="1"/>
            </p:cNvSpPr>
            <p:nvPr/>
          </p:nvSpPr>
          <p:spPr bwMode="auto">
            <a:xfrm>
              <a:off x="4973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68" name="Rectangle 80"/>
            <p:cNvSpPr>
              <a:spLocks noChangeArrowheads="1"/>
            </p:cNvSpPr>
            <p:nvPr/>
          </p:nvSpPr>
          <p:spPr bwMode="auto">
            <a:xfrm>
              <a:off x="3209" y="220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69" name="Rectangle 81"/>
            <p:cNvSpPr>
              <a:spLocks noChangeArrowheads="1"/>
            </p:cNvSpPr>
            <p:nvPr/>
          </p:nvSpPr>
          <p:spPr bwMode="auto">
            <a:xfrm>
              <a:off x="3506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70" name="Rectangle 82"/>
            <p:cNvSpPr>
              <a:spLocks noChangeArrowheads="1"/>
            </p:cNvSpPr>
            <p:nvPr/>
          </p:nvSpPr>
          <p:spPr bwMode="auto">
            <a:xfrm>
              <a:off x="3801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71" name="Rectangle 83"/>
            <p:cNvSpPr>
              <a:spLocks noChangeArrowheads="1"/>
            </p:cNvSpPr>
            <p:nvPr/>
          </p:nvSpPr>
          <p:spPr bwMode="auto">
            <a:xfrm>
              <a:off x="4096" y="2207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72" name="Rectangle 84"/>
            <p:cNvSpPr>
              <a:spLocks noChangeArrowheads="1"/>
            </p:cNvSpPr>
            <p:nvPr/>
          </p:nvSpPr>
          <p:spPr bwMode="auto">
            <a:xfrm>
              <a:off x="4392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73" name="Rectangle 85"/>
            <p:cNvSpPr>
              <a:spLocks noChangeArrowheads="1"/>
            </p:cNvSpPr>
            <p:nvPr/>
          </p:nvSpPr>
          <p:spPr bwMode="auto">
            <a:xfrm>
              <a:off x="4676" y="220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74" name="Rectangle 86"/>
            <p:cNvSpPr>
              <a:spLocks noChangeArrowheads="1"/>
            </p:cNvSpPr>
            <p:nvPr/>
          </p:nvSpPr>
          <p:spPr bwMode="auto">
            <a:xfrm>
              <a:off x="4973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75" name="Rectangle 87"/>
            <p:cNvSpPr>
              <a:spLocks noChangeArrowheads="1"/>
            </p:cNvSpPr>
            <p:nvPr/>
          </p:nvSpPr>
          <p:spPr bwMode="auto">
            <a:xfrm>
              <a:off x="3209" y="248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76" name="Rectangle 88"/>
            <p:cNvSpPr>
              <a:spLocks noChangeArrowheads="1"/>
            </p:cNvSpPr>
            <p:nvPr/>
          </p:nvSpPr>
          <p:spPr bwMode="auto">
            <a:xfrm>
              <a:off x="3506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77" name="Rectangle 89"/>
            <p:cNvSpPr>
              <a:spLocks noChangeArrowheads="1"/>
            </p:cNvSpPr>
            <p:nvPr/>
          </p:nvSpPr>
          <p:spPr bwMode="auto">
            <a:xfrm>
              <a:off x="3801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78" name="Rectangle 90"/>
            <p:cNvSpPr>
              <a:spLocks noChangeArrowheads="1"/>
            </p:cNvSpPr>
            <p:nvPr/>
          </p:nvSpPr>
          <p:spPr bwMode="auto">
            <a:xfrm>
              <a:off x="4096" y="2487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79" name="Rectangle 91"/>
            <p:cNvSpPr>
              <a:spLocks noChangeArrowheads="1"/>
            </p:cNvSpPr>
            <p:nvPr/>
          </p:nvSpPr>
          <p:spPr bwMode="auto">
            <a:xfrm>
              <a:off x="4392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80" name="Rectangle 92"/>
            <p:cNvSpPr>
              <a:spLocks noChangeArrowheads="1"/>
            </p:cNvSpPr>
            <p:nvPr/>
          </p:nvSpPr>
          <p:spPr bwMode="auto">
            <a:xfrm>
              <a:off x="4676" y="248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81" name="Rectangle 93"/>
            <p:cNvSpPr>
              <a:spLocks noChangeArrowheads="1"/>
            </p:cNvSpPr>
            <p:nvPr/>
          </p:nvSpPr>
          <p:spPr bwMode="auto">
            <a:xfrm>
              <a:off x="4973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82" name="Rectangle 94"/>
            <p:cNvSpPr>
              <a:spLocks noChangeArrowheads="1"/>
            </p:cNvSpPr>
            <p:nvPr/>
          </p:nvSpPr>
          <p:spPr bwMode="auto">
            <a:xfrm>
              <a:off x="3209" y="2779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83" name="Rectangle 95"/>
            <p:cNvSpPr>
              <a:spLocks noChangeArrowheads="1"/>
            </p:cNvSpPr>
            <p:nvPr/>
          </p:nvSpPr>
          <p:spPr bwMode="auto">
            <a:xfrm>
              <a:off x="3506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84" name="Rectangle 96"/>
            <p:cNvSpPr>
              <a:spLocks noChangeArrowheads="1"/>
            </p:cNvSpPr>
            <p:nvPr/>
          </p:nvSpPr>
          <p:spPr bwMode="auto">
            <a:xfrm>
              <a:off x="3801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85" name="Rectangle 97"/>
            <p:cNvSpPr>
              <a:spLocks noChangeArrowheads="1"/>
            </p:cNvSpPr>
            <p:nvPr/>
          </p:nvSpPr>
          <p:spPr bwMode="auto">
            <a:xfrm>
              <a:off x="4096" y="2779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86" name="Rectangle 98"/>
            <p:cNvSpPr>
              <a:spLocks noChangeArrowheads="1"/>
            </p:cNvSpPr>
            <p:nvPr/>
          </p:nvSpPr>
          <p:spPr bwMode="auto">
            <a:xfrm>
              <a:off x="4392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87" name="Rectangle 99"/>
            <p:cNvSpPr>
              <a:spLocks noChangeArrowheads="1"/>
            </p:cNvSpPr>
            <p:nvPr/>
          </p:nvSpPr>
          <p:spPr bwMode="auto">
            <a:xfrm>
              <a:off x="4676" y="2779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88" name="Rectangle 100"/>
            <p:cNvSpPr>
              <a:spLocks noChangeArrowheads="1"/>
            </p:cNvSpPr>
            <p:nvPr/>
          </p:nvSpPr>
          <p:spPr bwMode="auto">
            <a:xfrm>
              <a:off x="4973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89" name="Rectangle 101"/>
            <p:cNvSpPr>
              <a:spLocks noChangeArrowheads="1"/>
            </p:cNvSpPr>
            <p:nvPr/>
          </p:nvSpPr>
          <p:spPr bwMode="auto">
            <a:xfrm>
              <a:off x="3209" y="3074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90" name="Rectangle 102"/>
            <p:cNvSpPr>
              <a:spLocks noChangeArrowheads="1"/>
            </p:cNvSpPr>
            <p:nvPr/>
          </p:nvSpPr>
          <p:spPr bwMode="auto">
            <a:xfrm>
              <a:off x="3506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91" name="Rectangle 103"/>
            <p:cNvSpPr>
              <a:spLocks noChangeArrowheads="1"/>
            </p:cNvSpPr>
            <p:nvPr/>
          </p:nvSpPr>
          <p:spPr bwMode="auto">
            <a:xfrm>
              <a:off x="3801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92" name="Rectangle 104"/>
            <p:cNvSpPr>
              <a:spLocks noChangeArrowheads="1"/>
            </p:cNvSpPr>
            <p:nvPr/>
          </p:nvSpPr>
          <p:spPr bwMode="auto">
            <a:xfrm>
              <a:off x="4096" y="3074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93" name="Rectangle 105"/>
            <p:cNvSpPr>
              <a:spLocks noChangeArrowheads="1"/>
            </p:cNvSpPr>
            <p:nvPr/>
          </p:nvSpPr>
          <p:spPr bwMode="auto">
            <a:xfrm>
              <a:off x="4392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94" name="Rectangle 106"/>
            <p:cNvSpPr>
              <a:spLocks noChangeArrowheads="1"/>
            </p:cNvSpPr>
            <p:nvPr/>
          </p:nvSpPr>
          <p:spPr bwMode="auto">
            <a:xfrm>
              <a:off x="4676" y="3074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95" name="Rectangle 107"/>
            <p:cNvSpPr>
              <a:spLocks noChangeArrowheads="1"/>
            </p:cNvSpPr>
            <p:nvPr/>
          </p:nvSpPr>
          <p:spPr bwMode="auto">
            <a:xfrm>
              <a:off x="4973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9196" name="Line 108"/>
            <p:cNvSpPr>
              <a:spLocks noChangeShapeType="1"/>
            </p:cNvSpPr>
            <p:nvPr/>
          </p:nvSpPr>
          <p:spPr bwMode="auto">
            <a:xfrm>
              <a:off x="3209" y="1328"/>
              <a:ext cx="230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9197" name="Line 109"/>
            <p:cNvSpPr>
              <a:spLocks noChangeShapeType="1"/>
            </p:cNvSpPr>
            <p:nvPr/>
          </p:nvSpPr>
          <p:spPr bwMode="auto">
            <a:xfrm rot="5400000">
              <a:off x="2037" y="2500"/>
              <a:ext cx="234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9198" name="Text Box 110"/>
            <p:cNvSpPr txBox="1">
              <a:spLocks noChangeArrowheads="1"/>
            </p:cNvSpPr>
            <p:nvPr/>
          </p:nvSpPr>
          <p:spPr bwMode="auto">
            <a:xfrm>
              <a:off x="3154" y="1083"/>
              <a:ext cx="11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</a:rPr>
                <a:t>Filtered</a:t>
              </a:r>
              <a:r>
                <a:rPr lang="en-IE" altLang="en-US" sz="1800">
                  <a:solidFill>
                    <a:srgbClr val="000000"/>
                  </a:solidFill>
                </a:rPr>
                <a:t> </a:t>
              </a: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199" name="Text Box 111"/>
            <p:cNvSpPr txBox="1">
              <a:spLocks noChangeArrowheads="1"/>
            </p:cNvSpPr>
            <p:nvPr/>
          </p:nvSpPr>
          <p:spPr bwMode="auto">
            <a:xfrm>
              <a:off x="5394" y="1104"/>
              <a:ext cx="21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200" name="Text Box 112"/>
            <p:cNvSpPr txBox="1">
              <a:spLocks noChangeArrowheads="1"/>
            </p:cNvSpPr>
            <p:nvPr/>
          </p:nvSpPr>
          <p:spPr bwMode="auto">
            <a:xfrm>
              <a:off x="3031" y="3509"/>
              <a:ext cx="23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201" name="Text Box 113"/>
            <p:cNvSpPr txBox="1">
              <a:spLocks noChangeArrowheads="1"/>
            </p:cNvSpPr>
            <p:nvPr/>
          </p:nvSpPr>
          <p:spPr bwMode="auto">
            <a:xfrm>
              <a:off x="4423" y="3361"/>
              <a:ext cx="12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 f (x, y)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</p:grpSp>
      <p:pic>
        <p:nvPicPr>
          <p:cNvPr id="89146" name="Picture 114" descr="MCj031081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900" y="149226"/>
            <a:ext cx="1042988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6573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Midpoint Filter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IE" altLang="en-US" b="1" smtClean="0">
                <a:ea typeface="ＭＳ Ｐゴシック" panose="020B0600070205080204" pitchFamily="34" charset="-128"/>
              </a:rPr>
              <a:t>Midpoint Filter:</a:t>
            </a:r>
          </a:p>
          <a:p>
            <a:pPr marL="0" indent="0" eaLnBrk="1" hangingPunct="1">
              <a:buNone/>
            </a:pPr>
            <a:endParaRPr lang="en-IE" altLang="en-US" b="1" smtClean="0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endParaRPr lang="en-IE" altLang="en-US" b="1" smtClean="0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Good for random Gaussian and uniform noise</a:t>
            </a:r>
          </a:p>
        </p:txBody>
      </p:sp>
      <p:graphicFrame>
        <p:nvGraphicFramePr>
          <p:cNvPr id="91139" name="Object 2"/>
          <p:cNvGraphicFramePr>
            <a:graphicFrameLocks noChangeAspect="1"/>
          </p:cNvGraphicFramePr>
          <p:nvPr/>
        </p:nvGraphicFramePr>
        <p:xfrm>
          <a:off x="2608264" y="1946275"/>
          <a:ext cx="7564437" cy="120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4" imgW="2705100" imgH="431800" progId="Equation.3">
                  <p:embed/>
                </p:oleObj>
              </mc:Choice>
              <mc:Fallback>
                <p:oleObj name="Equation" r:id="rId4" imgW="2705100" imgH="431800" progId="Equation.3">
                  <p:embed/>
                  <p:pic>
                    <p:nvPicPr>
                      <p:cNvPr id="9113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264" y="1946275"/>
                        <a:ext cx="7564437" cy="1208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6318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Corruption Example</a:t>
            </a:r>
            <a:endParaRPr lang="en-GB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93186" name="Rectangle 3"/>
          <p:cNvSpPr>
            <a:spLocks noChangeArrowheads="1"/>
          </p:cNvSpPr>
          <p:nvPr/>
        </p:nvSpPr>
        <p:spPr bwMode="auto">
          <a:xfrm>
            <a:off x="2044700" y="2093913"/>
            <a:ext cx="471488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187" name="Rectangle 4"/>
          <p:cNvSpPr>
            <a:spLocks noChangeArrowheads="1"/>
          </p:cNvSpPr>
          <p:nvPr/>
        </p:nvSpPr>
        <p:spPr bwMode="auto">
          <a:xfrm>
            <a:off x="2516188" y="20939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188" name="Rectangle 5"/>
          <p:cNvSpPr>
            <a:spLocks noChangeArrowheads="1"/>
          </p:cNvSpPr>
          <p:nvPr/>
        </p:nvSpPr>
        <p:spPr bwMode="auto">
          <a:xfrm>
            <a:off x="2984501" y="20939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189" name="Rectangle 6"/>
          <p:cNvSpPr>
            <a:spLocks noChangeArrowheads="1"/>
          </p:cNvSpPr>
          <p:nvPr/>
        </p:nvSpPr>
        <p:spPr bwMode="auto">
          <a:xfrm>
            <a:off x="3452813" y="2093913"/>
            <a:ext cx="469900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190" name="Rectangle 7"/>
          <p:cNvSpPr>
            <a:spLocks noChangeArrowheads="1"/>
          </p:cNvSpPr>
          <p:nvPr/>
        </p:nvSpPr>
        <p:spPr bwMode="auto">
          <a:xfrm>
            <a:off x="3922713" y="20939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56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191" name="Rectangle 8"/>
          <p:cNvSpPr>
            <a:spLocks noChangeArrowheads="1"/>
          </p:cNvSpPr>
          <p:nvPr/>
        </p:nvSpPr>
        <p:spPr bwMode="auto">
          <a:xfrm>
            <a:off x="4373564" y="2093913"/>
            <a:ext cx="471487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192" name="Rectangle 9"/>
          <p:cNvSpPr>
            <a:spLocks noChangeArrowheads="1"/>
          </p:cNvSpPr>
          <p:nvPr/>
        </p:nvSpPr>
        <p:spPr bwMode="auto">
          <a:xfrm>
            <a:off x="4845051" y="20939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193" name="Rectangle 10"/>
          <p:cNvSpPr>
            <a:spLocks noChangeArrowheads="1"/>
          </p:cNvSpPr>
          <p:nvPr/>
        </p:nvSpPr>
        <p:spPr bwMode="auto">
          <a:xfrm>
            <a:off x="2044700" y="2555875"/>
            <a:ext cx="471488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194" name="Rectangle 11"/>
          <p:cNvSpPr>
            <a:spLocks noChangeArrowheads="1"/>
          </p:cNvSpPr>
          <p:nvPr/>
        </p:nvSpPr>
        <p:spPr bwMode="auto">
          <a:xfrm>
            <a:off x="2516188" y="2555875"/>
            <a:ext cx="468312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195" name="Rectangle 12"/>
          <p:cNvSpPr>
            <a:spLocks noChangeArrowheads="1"/>
          </p:cNvSpPr>
          <p:nvPr/>
        </p:nvSpPr>
        <p:spPr bwMode="auto">
          <a:xfrm>
            <a:off x="2984501" y="2555875"/>
            <a:ext cx="468313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196" name="Rectangle 13"/>
          <p:cNvSpPr>
            <a:spLocks noChangeArrowheads="1"/>
          </p:cNvSpPr>
          <p:nvPr/>
        </p:nvSpPr>
        <p:spPr bwMode="auto">
          <a:xfrm>
            <a:off x="3452813" y="2555875"/>
            <a:ext cx="469900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197" name="Rectangle 14"/>
          <p:cNvSpPr>
            <a:spLocks noChangeArrowheads="1"/>
          </p:cNvSpPr>
          <p:nvPr/>
        </p:nvSpPr>
        <p:spPr bwMode="auto">
          <a:xfrm>
            <a:off x="3922713" y="2555875"/>
            <a:ext cx="468312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198" name="Rectangle 15"/>
          <p:cNvSpPr>
            <a:spLocks noChangeArrowheads="1"/>
          </p:cNvSpPr>
          <p:nvPr/>
        </p:nvSpPr>
        <p:spPr bwMode="auto">
          <a:xfrm>
            <a:off x="4373564" y="2555875"/>
            <a:ext cx="471487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199" name="Rectangle 16"/>
          <p:cNvSpPr>
            <a:spLocks noChangeArrowheads="1"/>
          </p:cNvSpPr>
          <p:nvPr/>
        </p:nvSpPr>
        <p:spPr bwMode="auto">
          <a:xfrm>
            <a:off x="4845051" y="2555875"/>
            <a:ext cx="468313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00" name="Rectangle 17"/>
          <p:cNvSpPr>
            <a:spLocks noChangeArrowheads="1"/>
          </p:cNvSpPr>
          <p:nvPr/>
        </p:nvSpPr>
        <p:spPr bwMode="auto">
          <a:xfrm>
            <a:off x="2044700" y="3025776"/>
            <a:ext cx="471488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01" name="Rectangle 18"/>
          <p:cNvSpPr>
            <a:spLocks noChangeArrowheads="1"/>
          </p:cNvSpPr>
          <p:nvPr/>
        </p:nvSpPr>
        <p:spPr bwMode="auto">
          <a:xfrm>
            <a:off x="2516188" y="30257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204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02" name="Rectangle 19"/>
          <p:cNvSpPr>
            <a:spLocks noChangeArrowheads="1"/>
          </p:cNvSpPr>
          <p:nvPr/>
        </p:nvSpPr>
        <p:spPr bwMode="auto">
          <a:xfrm>
            <a:off x="2984501" y="30257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03" name="Rectangle 20"/>
          <p:cNvSpPr>
            <a:spLocks noChangeArrowheads="1"/>
          </p:cNvSpPr>
          <p:nvPr/>
        </p:nvSpPr>
        <p:spPr bwMode="auto">
          <a:xfrm>
            <a:off x="3452813" y="3025776"/>
            <a:ext cx="469900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04" name="Rectangle 21"/>
          <p:cNvSpPr>
            <a:spLocks noChangeArrowheads="1"/>
          </p:cNvSpPr>
          <p:nvPr/>
        </p:nvSpPr>
        <p:spPr bwMode="auto">
          <a:xfrm>
            <a:off x="3922713" y="30257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05" name="Rectangle 22"/>
          <p:cNvSpPr>
            <a:spLocks noChangeArrowheads="1"/>
          </p:cNvSpPr>
          <p:nvPr/>
        </p:nvSpPr>
        <p:spPr bwMode="auto">
          <a:xfrm>
            <a:off x="4373564" y="3025776"/>
            <a:ext cx="471487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06" name="Rectangle 23"/>
          <p:cNvSpPr>
            <a:spLocks noChangeArrowheads="1"/>
          </p:cNvSpPr>
          <p:nvPr/>
        </p:nvSpPr>
        <p:spPr bwMode="auto">
          <a:xfrm>
            <a:off x="4845051" y="30257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07" name="Rectangle 24"/>
          <p:cNvSpPr>
            <a:spLocks noChangeArrowheads="1"/>
          </p:cNvSpPr>
          <p:nvPr/>
        </p:nvSpPr>
        <p:spPr bwMode="auto">
          <a:xfrm>
            <a:off x="2044700" y="3486150"/>
            <a:ext cx="471488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08" name="Rectangle 25"/>
          <p:cNvSpPr>
            <a:spLocks noChangeArrowheads="1"/>
          </p:cNvSpPr>
          <p:nvPr/>
        </p:nvSpPr>
        <p:spPr bwMode="auto">
          <a:xfrm>
            <a:off x="2516188" y="3486150"/>
            <a:ext cx="468312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09" name="Rectangle 26"/>
          <p:cNvSpPr>
            <a:spLocks noChangeArrowheads="1"/>
          </p:cNvSpPr>
          <p:nvPr/>
        </p:nvSpPr>
        <p:spPr bwMode="auto">
          <a:xfrm>
            <a:off x="2984501" y="3486150"/>
            <a:ext cx="468313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10" name="Rectangle 27"/>
          <p:cNvSpPr>
            <a:spLocks noChangeArrowheads="1"/>
          </p:cNvSpPr>
          <p:nvPr/>
        </p:nvSpPr>
        <p:spPr bwMode="auto">
          <a:xfrm>
            <a:off x="3452813" y="3486150"/>
            <a:ext cx="469900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11" name="Rectangle 28"/>
          <p:cNvSpPr>
            <a:spLocks noChangeArrowheads="1"/>
          </p:cNvSpPr>
          <p:nvPr/>
        </p:nvSpPr>
        <p:spPr bwMode="auto">
          <a:xfrm>
            <a:off x="3922713" y="3486150"/>
            <a:ext cx="468312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12" name="Rectangle 29"/>
          <p:cNvSpPr>
            <a:spLocks noChangeArrowheads="1"/>
          </p:cNvSpPr>
          <p:nvPr/>
        </p:nvSpPr>
        <p:spPr bwMode="auto">
          <a:xfrm>
            <a:off x="4373564" y="3486150"/>
            <a:ext cx="471487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13" name="Rectangle 30"/>
          <p:cNvSpPr>
            <a:spLocks noChangeArrowheads="1"/>
          </p:cNvSpPr>
          <p:nvPr/>
        </p:nvSpPr>
        <p:spPr bwMode="auto">
          <a:xfrm>
            <a:off x="4845051" y="3486150"/>
            <a:ext cx="468313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14" name="Rectangle 31"/>
          <p:cNvSpPr>
            <a:spLocks noChangeArrowheads="1"/>
          </p:cNvSpPr>
          <p:nvPr/>
        </p:nvSpPr>
        <p:spPr bwMode="auto">
          <a:xfrm>
            <a:off x="2044700" y="3935413"/>
            <a:ext cx="471488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15" name="Rectangle 32"/>
          <p:cNvSpPr>
            <a:spLocks noChangeArrowheads="1"/>
          </p:cNvSpPr>
          <p:nvPr/>
        </p:nvSpPr>
        <p:spPr bwMode="auto">
          <a:xfrm>
            <a:off x="2516188" y="39354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16" name="Rectangle 33"/>
          <p:cNvSpPr>
            <a:spLocks noChangeArrowheads="1"/>
          </p:cNvSpPr>
          <p:nvPr/>
        </p:nvSpPr>
        <p:spPr bwMode="auto">
          <a:xfrm>
            <a:off x="2984501" y="39354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17" name="Rectangle 34"/>
          <p:cNvSpPr>
            <a:spLocks noChangeArrowheads="1"/>
          </p:cNvSpPr>
          <p:nvPr/>
        </p:nvSpPr>
        <p:spPr bwMode="auto">
          <a:xfrm>
            <a:off x="3452813" y="3935413"/>
            <a:ext cx="469900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18" name="Rectangle 35"/>
          <p:cNvSpPr>
            <a:spLocks noChangeArrowheads="1"/>
          </p:cNvSpPr>
          <p:nvPr/>
        </p:nvSpPr>
        <p:spPr bwMode="auto">
          <a:xfrm>
            <a:off x="3922713" y="39354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19" name="Rectangle 36"/>
          <p:cNvSpPr>
            <a:spLocks noChangeArrowheads="1"/>
          </p:cNvSpPr>
          <p:nvPr/>
        </p:nvSpPr>
        <p:spPr bwMode="auto">
          <a:xfrm>
            <a:off x="4373564" y="3935413"/>
            <a:ext cx="471487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20" name="Rectangle 37"/>
          <p:cNvSpPr>
            <a:spLocks noChangeArrowheads="1"/>
          </p:cNvSpPr>
          <p:nvPr/>
        </p:nvSpPr>
        <p:spPr bwMode="auto">
          <a:xfrm>
            <a:off x="4845051" y="39354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21" name="Rectangle 38"/>
          <p:cNvSpPr>
            <a:spLocks noChangeArrowheads="1"/>
          </p:cNvSpPr>
          <p:nvPr/>
        </p:nvSpPr>
        <p:spPr bwMode="auto">
          <a:xfrm>
            <a:off x="2044700" y="4395789"/>
            <a:ext cx="471488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22" name="Rectangle 39"/>
          <p:cNvSpPr>
            <a:spLocks noChangeArrowheads="1"/>
          </p:cNvSpPr>
          <p:nvPr/>
        </p:nvSpPr>
        <p:spPr bwMode="auto">
          <a:xfrm>
            <a:off x="2516188" y="4395789"/>
            <a:ext cx="468312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23" name="Rectangle 40"/>
          <p:cNvSpPr>
            <a:spLocks noChangeArrowheads="1"/>
          </p:cNvSpPr>
          <p:nvPr/>
        </p:nvSpPr>
        <p:spPr bwMode="auto">
          <a:xfrm>
            <a:off x="2984501" y="4395789"/>
            <a:ext cx="468313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24" name="Rectangle 41"/>
          <p:cNvSpPr>
            <a:spLocks noChangeArrowheads="1"/>
          </p:cNvSpPr>
          <p:nvPr/>
        </p:nvSpPr>
        <p:spPr bwMode="auto">
          <a:xfrm>
            <a:off x="3452813" y="4395789"/>
            <a:ext cx="469900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25" name="Rectangle 42"/>
          <p:cNvSpPr>
            <a:spLocks noChangeArrowheads="1"/>
          </p:cNvSpPr>
          <p:nvPr/>
        </p:nvSpPr>
        <p:spPr bwMode="auto">
          <a:xfrm>
            <a:off x="3922713" y="4395789"/>
            <a:ext cx="468312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26" name="Rectangle 43"/>
          <p:cNvSpPr>
            <a:spLocks noChangeArrowheads="1"/>
          </p:cNvSpPr>
          <p:nvPr/>
        </p:nvSpPr>
        <p:spPr bwMode="auto">
          <a:xfrm>
            <a:off x="4373564" y="4395789"/>
            <a:ext cx="471487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27" name="Rectangle 44"/>
          <p:cNvSpPr>
            <a:spLocks noChangeArrowheads="1"/>
          </p:cNvSpPr>
          <p:nvPr/>
        </p:nvSpPr>
        <p:spPr bwMode="auto">
          <a:xfrm>
            <a:off x="4845051" y="4395789"/>
            <a:ext cx="468313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70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28" name="Rectangle 45"/>
          <p:cNvSpPr>
            <a:spLocks noChangeArrowheads="1"/>
          </p:cNvSpPr>
          <p:nvPr/>
        </p:nvSpPr>
        <p:spPr bwMode="auto">
          <a:xfrm>
            <a:off x="2044700" y="4867276"/>
            <a:ext cx="471488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29" name="Rectangle 46"/>
          <p:cNvSpPr>
            <a:spLocks noChangeArrowheads="1"/>
          </p:cNvSpPr>
          <p:nvPr/>
        </p:nvSpPr>
        <p:spPr bwMode="auto">
          <a:xfrm>
            <a:off x="2516188" y="48672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30" name="Rectangle 47"/>
          <p:cNvSpPr>
            <a:spLocks noChangeArrowheads="1"/>
          </p:cNvSpPr>
          <p:nvPr/>
        </p:nvSpPr>
        <p:spPr bwMode="auto">
          <a:xfrm>
            <a:off x="2984501" y="48672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31" name="Rectangle 48"/>
          <p:cNvSpPr>
            <a:spLocks noChangeArrowheads="1"/>
          </p:cNvSpPr>
          <p:nvPr/>
        </p:nvSpPr>
        <p:spPr bwMode="auto">
          <a:xfrm>
            <a:off x="3452813" y="4867276"/>
            <a:ext cx="469900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32" name="Rectangle 49"/>
          <p:cNvSpPr>
            <a:spLocks noChangeArrowheads="1"/>
          </p:cNvSpPr>
          <p:nvPr/>
        </p:nvSpPr>
        <p:spPr bwMode="auto">
          <a:xfrm>
            <a:off x="3922713" y="48672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33" name="Rectangle 50"/>
          <p:cNvSpPr>
            <a:spLocks noChangeArrowheads="1"/>
          </p:cNvSpPr>
          <p:nvPr/>
        </p:nvSpPr>
        <p:spPr bwMode="auto">
          <a:xfrm>
            <a:off x="4373564" y="4867276"/>
            <a:ext cx="471487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34" name="Rectangle 51"/>
          <p:cNvSpPr>
            <a:spLocks noChangeArrowheads="1"/>
          </p:cNvSpPr>
          <p:nvPr/>
        </p:nvSpPr>
        <p:spPr bwMode="auto">
          <a:xfrm>
            <a:off x="4845051" y="48672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72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93235" name="Line 52"/>
          <p:cNvSpPr>
            <a:spLocks noChangeShapeType="1"/>
          </p:cNvSpPr>
          <p:nvPr/>
        </p:nvSpPr>
        <p:spPr bwMode="auto">
          <a:xfrm>
            <a:off x="2044700" y="2093913"/>
            <a:ext cx="3657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3236" name="Line 53"/>
          <p:cNvSpPr>
            <a:spLocks noChangeShapeType="1"/>
          </p:cNvSpPr>
          <p:nvPr/>
        </p:nvSpPr>
        <p:spPr bwMode="auto">
          <a:xfrm rot="5400000">
            <a:off x="184944" y="3953669"/>
            <a:ext cx="3719512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3237" name="Text Box 54"/>
          <p:cNvSpPr txBox="1">
            <a:spLocks noChangeArrowheads="1"/>
          </p:cNvSpPr>
          <p:nvPr/>
        </p:nvSpPr>
        <p:spPr bwMode="auto">
          <a:xfrm>
            <a:off x="1917700" y="1720850"/>
            <a:ext cx="22012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Original Image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238" name="Text Box 55"/>
          <p:cNvSpPr txBox="1">
            <a:spLocks noChangeArrowheads="1"/>
          </p:cNvSpPr>
          <p:nvPr/>
        </p:nvSpPr>
        <p:spPr bwMode="auto">
          <a:xfrm>
            <a:off x="5513388" y="1752600"/>
            <a:ext cx="3449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x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239" name="Text Box 56"/>
          <p:cNvSpPr txBox="1">
            <a:spLocks noChangeArrowheads="1"/>
          </p:cNvSpPr>
          <p:nvPr/>
        </p:nvSpPr>
        <p:spPr bwMode="auto">
          <a:xfrm>
            <a:off x="1762125" y="5556250"/>
            <a:ext cx="3690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y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240" name="Text Box 57"/>
          <p:cNvSpPr txBox="1">
            <a:spLocks noChangeArrowheads="1"/>
          </p:cNvSpPr>
          <p:nvPr/>
        </p:nvSpPr>
        <p:spPr bwMode="auto">
          <a:xfrm>
            <a:off x="3963989" y="5335588"/>
            <a:ext cx="20329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Image f (x, y)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3241" name="Group 58"/>
          <p:cNvGrpSpPr>
            <a:grpSpLocks/>
          </p:cNvGrpSpPr>
          <p:nvPr/>
        </p:nvGrpSpPr>
        <p:grpSpPr bwMode="auto">
          <a:xfrm>
            <a:off x="6335711" y="1719264"/>
            <a:ext cx="4243386" cy="4221163"/>
            <a:chOff x="3031" y="1083"/>
            <a:chExt cx="2673" cy="2659"/>
          </a:xfrm>
        </p:grpSpPr>
        <p:sp>
          <p:nvSpPr>
            <p:cNvPr id="93243" name="Rectangle 59"/>
            <p:cNvSpPr>
              <a:spLocks noChangeArrowheads="1"/>
            </p:cNvSpPr>
            <p:nvPr/>
          </p:nvSpPr>
          <p:spPr bwMode="auto">
            <a:xfrm>
              <a:off x="3209" y="1328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44" name="Rectangle 60"/>
            <p:cNvSpPr>
              <a:spLocks noChangeArrowheads="1"/>
            </p:cNvSpPr>
            <p:nvPr/>
          </p:nvSpPr>
          <p:spPr bwMode="auto">
            <a:xfrm>
              <a:off x="3506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45" name="Rectangle 61"/>
            <p:cNvSpPr>
              <a:spLocks noChangeArrowheads="1"/>
            </p:cNvSpPr>
            <p:nvPr/>
          </p:nvSpPr>
          <p:spPr bwMode="auto">
            <a:xfrm>
              <a:off x="3801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46" name="Rectangle 62"/>
            <p:cNvSpPr>
              <a:spLocks noChangeArrowheads="1"/>
            </p:cNvSpPr>
            <p:nvPr/>
          </p:nvSpPr>
          <p:spPr bwMode="auto">
            <a:xfrm>
              <a:off x="4096" y="1328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47" name="Rectangle 63"/>
            <p:cNvSpPr>
              <a:spLocks noChangeArrowheads="1"/>
            </p:cNvSpPr>
            <p:nvPr/>
          </p:nvSpPr>
          <p:spPr bwMode="auto">
            <a:xfrm>
              <a:off x="4392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48" name="Rectangle 64"/>
            <p:cNvSpPr>
              <a:spLocks noChangeArrowheads="1"/>
            </p:cNvSpPr>
            <p:nvPr/>
          </p:nvSpPr>
          <p:spPr bwMode="auto">
            <a:xfrm>
              <a:off x="4676" y="1328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49" name="Rectangle 65"/>
            <p:cNvSpPr>
              <a:spLocks noChangeArrowheads="1"/>
            </p:cNvSpPr>
            <p:nvPr/>
          </p:nvSpPr>
          <p:spPr bwMode="auto">
            <a:xfrm>
              <a:off x="4973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50" name="Rectangle 66"/>
            <p:cNvSpPr>
              <a:spLocks noChangeArrowheads="1"/>
            </p:cNvSpPr>
            <p:nvPr/>
          </p:nvSpPr>
          <p:spPr bwMode="auto">
            <a:xfrm>
              <a:off x="3209" y="1618"/>
              <a:ext cx="297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51" name="Rectangle 67"/>
            <p:cNvSpPr>
              <a:spLocks noChangeArrowheads="1"/>
            </p:cNvSpPr>
            <p:nvPr/>
          </p:nvSpPr>
          <p:spPr bwMode="auto">
            <a:xfrm>
              <a:off x="3506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52" name="Rectangle 68"/>
            <p:cNvSpPr>
              <a:spLocks noChangeArrowheads="1"/>
            </p:cNvSpPr>
            <p:nvPr/>
          </p:nvSpPr>
          <p:spPr bwMode="auto">
            <a:xfrm>
              <a:off x="3801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53" name="Rectangle 69"/>
            <p:cNvSpPr>
              <a:spLocks noChangeArrowheads="1"/>
            </p:cNvSpPr>
            <p:nvPr/>
          </p:nvSpPr>
          <p:spPr bwMode="auto">
            <a:xfrm>
              <a:off x="4096" y="1618"/>
              <a:ext cx="296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54" name="Rectangle 70"/>
            <p:cNvSpPr>
              <a:spLocks noChangeArrowheads="1"/>
            </p:cNvSpPr>
            <p:nvPr/>
          </p:nvSpPr>
          <p:spPr bwMode="auto">
            <a:xfrm>
              <a:off x="4392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55" name="Rectangle 71"/>
            <p:cNvSpPr>
              <a:spLocks noChangeArrowheads="1"/>
            </p:cNvSpPr>
            <p:nvPr/>
          </p:nvSpPr>
          <p:spPr bwMode="auto">
            <a:xfrm>
              <a:off x="4676" y="1618"/>
              <a:ext cx="297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56" name="Rectangle 72"/>
            <p:cNvSpPr>
              <a:spLocks noChangeArrowheads="1"/>
            </p:cNvSpPr>
            <p:nvPr/>
          </p:nvSpPr>
          <p:spPr bwMode="auto">
            <a:xfrm>
              <a:off x="4973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57" name="Rectangle 73"/>
            <p:cNvSpPr>
              <a:spLocks noChangeArrowheads="1"/>
            </p:cNvSpPr>
            <p:nvPr/>
          </p:nvSpPr>
          <p:spPr bwMode="auto">
            <a:xfrm>
              <a:off x="3209" y="1915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58" name="Rectangle 74"/>
            <p:cNvSpPr>
              <a:spLocks noChangeArrowheads="1"/>
            </p:cNvSpPr>
            <p:nvPr/>
          </p:nvSpPr>
          <p:spPr bwMode="auto">
            <a:xfrm>
              <a:off x="3506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59" name="Rectangle 75"/>
            <p:cNvSpPr>
              <a:spLocks noChangeArrowheads="1"/>
            </p:cNvSpPr>
            <p:nvPr/>
          </p:nvSpPr>
          <p:spPr bwMode="auto">
            <a:xfrm>
              <a:off x="3801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60" name="Rectangle 76"/>
            <p:cNvSpPr>
              <a:spLocks noChangeArrowheads="1"/>
            </p:cNvSpPr>
            <p:nvPr/>
          </p:nvSpPr>
          <p:spPr bwMode="auto">
            <a:xfrm>
              <a:off x="4096" y="1915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61" name="Rectangle 77"/>
            <p:cNvSpPr>
              <a:spLocks noChangeArrowheads="1"/>
            </p:cNvSpPr>
            <p:nvPr/>
          </p:nvSpPr>
          <p:spPr bwMode="auto">
            <a:xfrm>
              <a:off x="4392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62" name="Rectangle 78"/>
            <p:cNvSpPr>
              <a:spLocks noChangeArrowheads="1"/>
            </p:cNvSpPr>
            <p:nvPr/>
          </p:nvSpPr>
          <p:spPr bwMode="auto">
            <a:xfrm>
              <a:off x="4676" y="1915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63" name="Rectangle 79"/>
            <p:cNvSpPr>
              <a:spLocks noChangeArrowheads="1"/>
            </p:cNvSpPr>
            <p:nvPr/>
          </p:nvSpPr>
          <p:spPr bwMode="auto">
            <a:xfrm>
              <a:off x="4973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64" name="Rectangle 80"/>
            <p:cNvSpPr>
              <a:spLocks noChangeArrowheads="1"/>
            </p:cNvSpPr>
            <p:nvPr/>
          </p:nvSpPr>
          <p:spPr bwMode="auto">
            <a:xfrm>
              <a:off x="3209" y="220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65" name="Rectangle 81"/>
            <p:cNvSpPr>
              <a:spLocks noChangeArrowheads="1"/>
            </p:cNvSpPr>
            <p:nvPr/>
          </p:nvSpPr>
          <p:spPr bwMode="auto">
            <a:xfrm>
              <a:off x="3506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66" name="Rectangle 82"/>
            <p:cNvSpPr>
              <a:spLocks noChangeArrowheads="1"/>
            </p:cNvSpPr>
            <p:nvPr/>
          </p:nvSpPr>
          <p:spPr bwMode="auto">
            <a:xfrm>
              <a:off x="3801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67" name="Rectangle 83"/>
            <p:cNvSpPr>
              <a:spLocks noChangeArrowheads="1"/>
            </p:cNvSpPr>
            <p:nvPr/>
          </p:nvSpPr>
          <p:spPr bwMode="auto">
            <a:xfrm>
              <a:off x="4096" y="2207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68" name="Rectangle 84"/>
            <p:cNvSpPr>
              <a:spLocks noChangeArrowheads="1"/>
            </p:cNvSpPr>
            <p:nvPr/>
          </p:nvSpPr>
          <p:spPr bwMode="auto">
            <a:xfrm>
              <a:off x="4392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69" name="Rectangle 85"/>
            <p:cNvSpPr>
              <a:spLocks noChangeArrowheads="1"/>
            </p:cNvSpPr>
            <p:nvPr/>
          </p:nvSpPr>
          <p:spPr bwMode="auto">
            <a:xfrm>
              <a:off x="4676" y="220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70" name="Rectangle 86"/>
            <p:cNvSpPr>
              <a:spLocks noChangeArrowheads="1"/>
            </p:cNvSpPr>
            <p:nvPr/>
          </p:nvSpPr>
          <p:spPr bwMode="auto">
            <a:xfrm>
              <a:off x="4973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71" name="Rectangle 87"/>
            <p:cNvSpPr>
              <a:spLocks noChangeArrowheads="1"/>
            </p:cNvSpPr>
            <p:nvPr/>
          </p:nvSpPr>
          <p:spPr bwMode="auto">
            <a:xfrm>
              <a:off x="3209" y="248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72" name="Rectangle 88"/>
            <p:cNvSpPr>
              <a:spLocks noChangeArrowheads="1"/>
            </p:cNvSpPr>
            <p:nvPr/>
          </p:nvSpPr>
          <p:spPr bwMode="auto">
            <a:xfrm>
              <a:off x="3506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73" name="Rectangle 89"/>
            <p:cNvSpPr>
              <a:spLocks noChangeArrowheads="1"/>
            </p:cNvSpPr>
            <p:nvPr/>
          </p:nvSpPr>
          <p:spPr bwMode="auto">
            <a:xfrm>
              <a:off x="3801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74" name="Rectangle 90"/>
            <p:cNvSpPr>
              <a:spLocks noChangeArrowheads="1"/>
            </p:cNvSpPr>
            <p:nvPr/>
          </p:nvSpPr>
          <p:spPr bwMode="auto">
            <a:xfrm>
              <a:off x="4096" y="2487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75" name="Rectangle 91"/>
            <p:cNvSpPr>
              <a:spLocks noChangeArrowheads="1"/>
            </p:cNvSpPr>
            <p:nvPr/>
          </p:nvSpPr>
          <p:spPr bwMode="auto">
            <a:xfrm>
              <a:off x="4392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76" name="Rectangle 92"/>
            <p:cNvSpPr>
              <a:spLocks noChangeArrowheads="1"/>
            </p:cNvSpPr>
            <p:nvPr/>
          </p:nvSpPr>
          <p:spPr bwMode="auto">
            <a:xfrm>
              <a:off x="4676" y="248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77" name="Rectangle 93"/>
            <p:cNvSpPr>
              <a:spLocks noChangeArrowheads="1"/>
            </p:cNvSpPr>
            <p:nvPr/>
          </p:nvSpPr>
          <p:spPr bwMode="auto">
            <a:xfrm>
              <a:off x="4973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78" name="Rectangle 94"/>
            <p:cNvSpPr>
              <a:spLocks noChangeArrowheads="1"/>
            </p:cNvSpPr>
            <p:nvPr/>
          </p:nvSpPr>
          <p:spPr bwMode="auto">
            <a:xfrm>
              <a:off x="3209" y="2779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79" name="Rectangle 95"/>
            <p:cNvSpPr>
              <a:spLocks noChangeArrowheads="1"/>
            </p:cNvSpPr>
            <p:nvPr/>
          </p:nvSpPr>
          <p:spPr bwMode="auto">
            <a:xfrm>
              <a:off x="3506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80" name="Rectangle 96"/>
            <p:cNvSpPr>
              <a:spLocks noChangeArrowheads="1"/>
            </p:cNvSpPr>
            <p:nvPr/>
          </p:nvSpPr>
          <p:spPr bwMode="auto">
            <a:xfrm>
              <a:off x="3801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81" name="Rectangle 97"/>
            <p:cNvSpPr>
              <a:spLocks noChangeArrowheads="1"/>
            </p:cNvSpPr>
            <p:nvPr/>
          </p:nvSpPr>
          <p:spPr bwMode="auto">
            <a:xfrm>
              <a:off x="4096" y="2779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82" name="Rectangle 98"/>
            <p:cNvSpPr>
              <a:spLocks noChangeArrowheads="1"/>
            </p:cNvSpPr>
            <p:nvPr/>
          </p:nvSpPr>
          <p:spPr bwMode="auto">
            <a:xfrm>
              <a:off x="4392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83" name="Rectangle 99"/>
            <p:cNvSpPr>
              <a:spLocks noChangeArrowheads="1"/>
            </p:cNvSpPr>
            <p:nvPr/>
          </p:nvSpPr>
          <p:spPr bwMode="auto">
            <a:xfrm>
              <a:off x="4676" y="2779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84" name="Rectangle 100"/>
            <p:cNvSpPr>
              <a:spLocks noChangeArrowheads="1"/>
            </p:cNvSpPr>
            <p:nvPr/>
          </p:nvSpPr>
          <p:spPr bwMode="auto">
            <a:xfrm>
              <a:off x="4973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85" name="Rectangle 101"/>
            <p:cNvSpPr>
              <a:spLocks noChangeArrowheads="1"/>
            </p:cNvSpPr>
            <p:nvPr/>
          </p:nvSpPr>
          <p:spPr bwMode="auto">
            <a:xfrm>
              <a:off x="3209" y="3074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86" name="Rectangle 102"/>
            <p:cNvSpPr>
              <a:spLocks noChangeArrowheads="1"/>
            </p:cNvSpPr>
            <p:nvPr/>
          </p:nvSpPr>
          <p:spPr bwMode="auto">
            <a:xfrm>
              <a:off x="3506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87" name="Rectangle 103"/>
            <p:cNvSpPr>
              <a:spLocks noChangeArrowheads="1"/>
            </p:cNvSpPr>
            <p:nvPr/>
          </p:nvSpPr>
          <p:spPr bwMode="auto">
            <a:xfrm>
              <a:off x="3801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88" name="Rectangle 104"/>
            <p:cNvSpPr>
              <a:spLocks noChangeArrowheads="1"/>
            </p:cNvSpPr>
            <p:nvPr/>
          </p:nvSpPr>
          <p:spPr bwMode="auto">
            <a:xfrm>
              <a:off x="4096" y="3074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89" name="Rectangle 105"/>
            <p:cNvSpPr>
              <a:spLocks noChangeArrowheads="1"/>
            </p:cNvSpPr>
            <p:nvPr/>
          </p:nvSpPr>
          <p:spPr bwMode="auto">
            <a:xfrm>
              <a:off x="4392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90" name="Rectangle 106"/>
            <p:cNvSpPr>
              <a:spLocks noChangeArrowheads="1"/>
            </p:cNvSpPr>
            <p:nvPr/>
          </p:nvSpPr>
          <p:spPr bwMode="auto">
            <a:xfrm>
              <a:off x="4676" y="3074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91" name="Rectangle 107"/>
            <p:cNvSpPr>
              <a:spLocks noChangeArrowheads="1"/>
            </p:cNvSpPr>
            <p:nvPr/>
          </p:nvSpPr>
          <p:spPr bwMode="auto">
            <a:xfrm>
              <a:off x="4973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3292" name="Line 108"/>
            <p:cNvSpPr>
              <a:spLocks noChangeShapeType="1"/>
            </p:cNvSpPr>
            <p:nvPr/>
          </p:nvSpPr>
          <p:spPr bwMode="auto">
            <a:xfrm>
              <a:off x="3209" y="1328"/>
              <a:ext cx="230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3293" name="Line 109"/>
            <p:cNvSpPr>
              <a:spLocks noChangeShapeType="1"/>
            </p:cNvSpPr>
            <p:nvPr/>
          </p:nvSpPr>
          <p:spPr bwMode="auto">
            <a:xfrm rot="5400000">
              <a:off x="2037" y="2500"/>
              <a:ext cx="234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3294" name="Text Box 110"/>
            <p:cNvSpPr txBox="1">
              <a:spLocks noChangeArrowheads="1"/>
            </p:cNvSpPr>
            <p:nvPr/>
          </p:nvSpPr>
          <p:spPr bwMode="auto">
            <a:xfrm>
              <a:off x="3154" y="1083"/>
              <a:ext cx="11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</a:rPr>
                <a:t>Filtered</a:t>
              </a:r>
              <a:r>
                <a:rPr lang="en-IE" altLang="en-US" sz="1800">
                  <a:solidFill>
                    <a:srgbClr val="000000"/>
                  </a:solidFill>
                </a:rPr>
                <a:t> </a:t>
              </a: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95" name="Text Box 111"/>
            <p:cNvSpPr txBox="1">
              <a:spLocks noChangeArrowheads="1"/>
            </p:cNvSpPr>
            <p:nvPr/>
          </p:nvSpPr>
          <p:spPr bwMode="auto">
            <a:xfrm>
              <a:off x="5394" y="1104"/>
              <a:ext cx="21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96" name="Text Box 112"/>
            <p:cNvSpPr txBox="1">
              <a:spLocks noChangeArrowheads="1"/>
            </p:cNvSpPr>
            <p:nvPr/>
          </p:nvSpPr>
          <p:spPr bwMode="auto">
            <a:xfrm>
              <a:off x="3031" y="3509"/>
              <a:ext cx="23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97" name="Text Box 113"/>
            <p:cNvSpPr txBox="1">
              <a:spLocks noChangeArrowheads="1"/>
            </p:cNvSpPr>
            <p:nvPr/>
          </p:nvSpPr>
          <p:spPr bwMode="auto">
            <a:xfrm>
              <a:off x="4423" y="3361"/>
              <a:ext cx="12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 f (x, y)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</p:grpSp>
      <p:pic>
        <p:nvPicPr>
          <p:cNvPr id="93242" name="Picture 114" descr="MCj031081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900" y="149226"/>
            <a:ext cx="1042988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5357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Alpha-Trimmed Mean Filter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952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IE" altLang="en-US" b="1" smtClean="0">
                <a:ea typeface="ＭＳ Ｐゴシック" panose="020B0600070205080204" pitchFamily="34" charset="-128"/>
              </a:rPr>
              <a:t>Alpha-Trimmed Mean Filter:</a:t>
            </a:r>
          </a:p>
          <a:p>
            <a:pPr marL="0" indent="0" eaLnBrk="1" hangingPunct="1">
              <a:buNone/>
            </a:pPr>
            <a:endParaRPr lang="en-IE" altLang="en-US" b="1" smtClean="0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endParaRPr lang="en-IE" altLang="en-US" b="1" smtClean="0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endParaRPr lang="en-IE" altLang="en-US" sz="1600" b="1"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We can delete the </a:t>
            </a:r>
            <a:r>
              <a:rPr lang="en-IE" altLang="en-US" i="1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d/2 </a:t>
            </a:r>
            <a:r>
              <a:rPr lang="en-IE" altLang="en-US" smtClean="0">
                <a:ea typeface="ＭＳ Ｐゴシック" panose="020B0600070205080204" pitchFamily="34" charset="-128"/>
              </a:rPr>
              <a:t>lowest and </a:t>
            </a:r>
            <a:r>
              <a:rPr lang="en-IE" altLang="en-US" i="1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d/2</a:t>
            </a:r>
            <a:r>
              <a:rPr lang="en-IE" altLang="en-US" smtClean="0">
                <a:ea typeface="ＭＳ Ｐゴシック" panose="020B0600070205080204" pitchFamily="34" charset="-128"/>
              </a:rPr>
              <a:t> highest grey levels</a:t>
            </a:r>
          </a:p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So </a:t>
            </a:r>
            <a:r>
              <a:rPr lang="en-IE" altLang="en-US" i="1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g</a:t>
            </a:r>
            <a:r>
              <a:rPr lang="en-IE" altLang="en-US" i="1" baseline="-25000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r</a:t>
            </a:r>
            <a:r>
              <a:rPr lang="en-IE" altLang="en-US" i="1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(s, t)</a:t>
            </a:r>
            <a:r>
              <a:rPr lang="en-IE" altLang="en-US" smtClean="0">
                <a:ea typeface="ＭＳ Ｐゴシック" panose="020B0600070205080204" pitchFamily="34" charset="-128"/>
              </a:rPr>
              <a:t> represents the remaining </a:t>
            </a:r>
            <a:r>
              <a:rPr lang="en-IE" altLang="en-US" i="1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mn – d</a:t>
            </a:r>
            <a:r>
              <a:rPr lang="en-IE" altLang="en-US" smtClean="0">
                <a:ea typeface="ＭＳ Ｐゴシック" panose="020B0600070205080204" pitchFamily="34" charset="-128"/>
              </a:rPr>
              <a:t> pixels</a:t>
            </a:r>
          </a:p>
        </p:txBody>
      </p:sp>
      <p:graphicFrame>
        <p:nvGraphicFramePr>
          <p:cNvPr id="95235" name="Object 2"/>
          <p:cNvGraphicFramePr>
            <a:graphicFrameLocks noChangeAspect="1"/>
          </p:cNvGraphicFramePr>
          <p:nvPr/>
        </p:nvGraphicFramePr>
        <p:xfrm>
          <a:off x="2609851" y="1974851"/>
          <a:ext cx="5006975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Equation" r:id="rId4" imgW="1790700" imgH="457200" progId="Equation.3">
                  <p:embed/>
                </p:oleObj>
              </mc:Choice>
              <mc:Fallback>
                <p:oleObj name="Equation" r:id="rId4" imgW="1790700" imgH="457200" progId="Equation.3">
                  <p:embed/>
                  <p:pic>
                    <p:nvPicPr>
                      <p:cNvPr id="9523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851" y="1974851"/>
                        <a:ext cx="5006975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5045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Alpha-Trimmed Mean Filter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9728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163" y="1192213"/>
            <a:ext cx="8813800" cy="561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2780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Alpha-Trimmed Mean Filter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9933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950" y="1125538"/>
            <a:ext cx="6115050" cy="560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1320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Corruption Example</a:t>
            </a:r>
            <a:endParaRPr lang="en-GB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101378" name="Rectangle 3"/>
          <p:cNvSpPr>
            <a:spLocks noChangeArrowheads="1"/>
          </p:cNvSpPr>
          <p:nvPr/>
        </p:nvSpPr>
        <p:spPr bwMode="auto">
          <a:xfrm>
            <a:off x="2044700" y="2093913"/>
            <a:ext cx="471488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379" name="Rectangle 4"/>
          <p:cNvSpPr>
            <a:spLocks noChangeArrowheads="1"/>
          </p:cNvSpPr>
          <p:nvPr/>
        </p:nvSpPr>
        <p:spPr bwMode="auto">
          <a:xfrm>
            <a:off x="2516188" y="20939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380" name="Rectangle 5"/>
          <p:cNvSpPr>
            <a:spLocks noChangeArrowheads="1"/>
          </p:cNvSpPr>
          <p:nvPr/>
        </p:nvSpPr>
        <p:spPr bwMode="auto">
          <a:xfrm>
            <a:off x="2984501" y="20939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381" name="Rectangle 6"/>
          <p:cNvSpPr>
            <a:spLocks noChangeArrowheads="1"/>
          </p:cNvSpPr>
          <p:nvPr/>
        </p:nvSpPr>
        <p:spPr bwMode="auto">
          <a:xfrm>
            <a:off x="3452813" y="2093913"/>
            <a:ext cx="469900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382" name="Rectangle 7"/>
          <p:cNvSpPr>
            <a:spLocks noChangeArrowheads="1"/>
          </p:cNvSpPr>
          <p:nvPr/>
        </p:nvSpPr>
        <p:spPr bwMode="auto">
          <a:xfrm>
            <a:off x="3922713" y="20939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56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383" name="Rectangle 8"/>
          <p:cNvSpPr>
            <a:spLocks noChangeArrowheads="1"/>
          </p:cNvSpPr>
          <p:nvPr/>
        </p:nvSpPr>
        <p:spPr bwMode="auto">
          <a:xfrm>
            <a:off x="4373564" y="2093913"/>
            <a:ext cx="471487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384" name="Rectangle 9"/>
          <p:cNvSpPr>
            <a:spLocks noChangeArrowheads="1"/>
          </p:cNvSpPr>
          <p:nvPr/>
        </p:nvSpPr>
        <p:spPr bwMode="auto">
          <a:xfrm>
            <a:off x="4845051" y="20939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385" name="Rectangle 10"/>
          <p:cNvSpPr>
            <a:spLocks noChangeArrowheads="1"/>
          </p:cNvSpPr>
          <p:nvPr/>
        </p:nvSpPr>
        <p:spPr bwMode="auto">
          <a:xfrm>
            <a:off x="2044700" y="2555875"/>
            <a:ext cx="471488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386" name="Rectangle 11"/>
          <p:cNvSpPr>
            <a:spLocks noChangeArrowheads="1"/>
          </p:cNvSpPr>
          <p:nvPr/>
        </p:nvSpPr>
        <p:spPr bwMode="auto">
          <a:xfrm>
            <a:off x="2516188" y="2555875"/>
            <a:ext cx="468312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387" name="Rectangle 12"/>
          <p:cNvSpPr>
            <a:spLocks noChangeArrowheads="1"/>
          </p:cNvSpPr>
          <p:nvPr/>
        </p:nvSpPr>
        <p:spPr bwMode="auto">
          <a:xfrm>
            <a:off x="2984501" y="2555875"/>
            <a:ext cx="468313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388" name="Rectangle 13"/>
          <p:cNvSpPr>
            <a:spLocks noChangeArrowheads="1"/>
          </p:cNvSpPr>
          <p:nvPr/>
        </p:nvSpPr>
        <p:spPr bwMode="auto">
          <a:xfrm>
            <a:off x="3452813" y="2555875"/>
            <a:ext cx="469900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389" name="Rectangle 14"/>
          <p:cNvSpPr>
            <a:spLocks noChangeArrowheads="1"/>
          </p:cNvSpPr>
          <p:nvPr/>
        </p:nvSpPr>
        <p:spPr bwMode="auto">
          <a:xfrm>
            <a:off x="3922713" y="2555875"/>
            <a:ext cx="468312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390" name="Rectangle 15"/>
          <p:cNvSpPr>
            <a:spLocks noChangeArrowheads="1"/>
          </p:cNvSpPr>
          <p:nvPr/>
        </p:nvSpPr>
        <p:spPr bwMode="auto">
          <a:xfrm>
            <a:off x="4373564" y="2555875"/>
            <a:ext cx="471487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391" name="Rectangle 16"/>
          <p:cNvSpPr>
            <a:spLocks noChangeArrowheads="1"/>
          </p:cNvSpPr>
          <p:nvPr/>
        </p:nvSpPr>
        <p:spPr bwMode="auto">
          <a:xfrm>
            <a:off x="4845051" y="2555875"/>
            <a:ext cx="468313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392" name="Rectangle 17"/>
          <p:cNvSpPr>
            <a:spLocks noChangeArrowheads="1"/>
          </p:cNvSpPr>
          <p:nvPr/>
        </p:nvSpPr>
        <p:spPr bwMode="auto">
          <a:xfrm>
            <a:off x="2044700" y="3025776"/>
            <a:ext cx="471488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393" name="Rectangle 18"/>
          <p:cNvSpPr>
            <a:spLocks noChangeArrowheads="1"/>
          </p:cNvSpPr>
          <p:nvPr/>
        </p:nvSpPr>
        <p:spPr bwMode="auto">
          <a:xfrm>
            <a:off x="2516188" y="30257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204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394" name="Rectangle 19"/>
          <p:cNvSpPr>
            <a:spLocks noChangeArrowheads="1"/>
          </p:cNvSpPr>
          <p:nvPr/>
        </p:nvSpPr>
        <p:spPr bwMode="auto">
          <a:xfrm>
            <a:off x="2984501" y="30257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395" name="Rectangle 20"/>
          <p:cNvSpPr>
            <a:spLocks noChangeArrowheads="1"/>
          </p:cNvSpPr>
          <p:nvPr/>
        </p:nvSpPr>
        <p:spPr bwMode="auto">
          <a:xfrm>
            <a:off x="3452813" y="3025776"/>
            <a:ext cx="469900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396" name="Rectangle 21"/>
          <p:cNvSpPr>
            <a:spLocks noChangeArrowheads="1"/>
          </p:cNvSpPr>
          <p:nvPr/>
        </p:nvSpPr>
        <p:spPr bwMode="auto">
          <a:xfrm>
            <a:off x="3922713" y="30257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397" name="Rectangle 22"/>
          <p:cNvSpPr>
            <a:spLocks noChangeArrowheads="1"/>
          </p:cNvSpPr>
          <p:nvPr/>
        </p:nvSpPr>
        <p:spPr bwMode="auto">
          <a:xfrm>
            <a:off x="4373564" y="3025776"/>
            <a:ext cx="471487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398" name="Rectangle 23"/>
          <p:cNvSpPr>
            <a:spLocks noChangeArrowheads="1"/>
          </p:cNvSpPr>
          <p:nvPr/>
        </p:nvSpPr>
        <p:spPr bwMode="auto">
          <a:xfrm>
            <a:off x="4845051" y="30257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399" name="Rectangle 24"/>
          <p:cNvSpPr>
            <a:spLocks noChangeArrowheads="1"/>
          </p:cNvSpPr>
          <p:nvPr/>
        </p:nvSpPr>
        <p:spPr bwMode="auto">
          <a:xfrm>
            <a:off x="2044700" y="3486150"/>
            <a:ext cx="471488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00" name="Rectangle 25"/>
          <p:cNvSpPr>
            <a:spLocks noChangeArrowheads="1"/>
          </p:cNvSpPr>
          <p:nvPr/>
        </p:nvSpPr>
        <p:spPr bwMode="auto">
          <a:xfrm>
            <a:off x="2516188" y="3486150"/>
            <a:ext cx="468312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01" name="Rectangle 26"/>
          <p:cNvSpPr>
            <a:spLocks noChangeArrowheads="1"/>
          </p:cNvSpPr>
          <p:nvPr/>
        </p:nvSpPr>
        <p:spPr bwMode="auto">
          <a:xfrm>
            <a:off x="2984501" y="3486150"/>
            <a:ext cx="468313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02" name="Rectangle 27"/>
          <p:cNvSpPr>
            <a:spLocks noChangeArrowheads="1"/>
          </p:cNvSpPr>
          <p:nvPr/>
        </p:nvSpPr>
        <p:spPr bwMode="auto">
          <a:xfrm>
            <a:off x="3452813" y="3486150"/>
            <a:ext cx="469900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03" name="Rectangle 28"/>
          <p:cNvSpPr>
            <a:spLocks noChangeArrowheads="1"/>
          </p:cNvSpPr>
          <p:nvPr/>
        </p:nvSpPr>
        <p:spPr bwMode="auto">
          <a:xfrm>
            <a:off x="3922713" y="3486150"/>
            <a:ext cx="468312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04" name="Rectangle 29"/>
          <p:cNvSpPr>
            <a:spLocks noChangeArrowheads="1"/>
          </p:cNvSpPr>
          <p:nvPr/>
        </p:nvSpPr>
        <p:spPr bwMode="auto">
          <a:xfrm>
            <a:off x="4373564" y="3486150"/>
            <a:ext cx="471487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05" name="Rectangle 30"/>
          <p:cNvSpPr>
            <a:spLocks noChangeArrowheads="1"/>
          </p:cNvSpPr>
          <p:nvPr/>
        </p:nvSpPr>
        <p:spPr bwMode="auto">
          <a:xfrm>
            <a:off x="4845051" y="3486150"/>
            <a:ext cx="468313" cy="471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06" name="Rectangle 31"/>
          <p:cNvSpPr>
            <a:spLocks noChangeArrowheads="1"/>
          </p:cNvSpPr>
          <p:nvPr/>
        </p:nvSpPr>
        <p:spPr bwMode="auto">
          <a:xfrm>
            <a:off x="2044700" y="3935413"/>
            <a:ext cx="471488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49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07" name="Rectangle 32"/>
          <p:cNvSpPr>
            <a:spLocks noChangeArrowheads="1"/>
          </p:cNvSpPr>
          <p:nvPr/>
        </p:nvSpPr>
        <p:spPr bwMode="auto">
          <a:xfrm>
            <a:off x="2516188" y="39354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08" name="Rectangle 33"/>
          <p:cNvSpPr>
            <a:spLocks noChangeArrowheads="1"/>
          </p:cNvSpPr>
          <p:nvPr/>
        </p:nvSpPr>
        <p:spPr bwMode="auto">
          <a:xfrm>
            <a:off x="2984501" y="39354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09" name="Rectangle 34"/>
          <p:cNvSpPr>
            <a:spLocks noChangeArrowheads="1"/>
          </p:cNvSpPr>
          <p:nvPr/>
        </p:nvSpPr>
        <p:spPr bwMode="auto">
          <a:xfrm>
            <a:off x="3452813" y="3935413"/>
            <a:ext cx="469900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10" name="Rectangle 35"/>
          <p:cNvSpPr>
            <a:spLocks noChangeArrowheads="1"/>
          </p:cNvSpPr>
          <p:nvPr/>
        </p:nvSpPr>
        <p:spPr bwMode="auto">
          <a:xfrm>
            <a:off x="3922713" y="3935413"/>
            <a:ext cx="468312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58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11" name="Rectangle 36"/>
          <p:cNvSpPr>
            <a:spLocks noChangeArrowheads="1"/>
          </p:cNvSpPr>
          <p:nvPr/>
        </p:nvSpPr>
        <p:spPr bwMode="auto">
          <a:xfrm>
            <a:off x="4373564" y="3935413"/>
            <a:ext cx="471487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12" name="Rectangle 37"/>
          <p:cNvSpPr>
            <a:spLocks noChangeArrowheads="1"/>
          </p:cNvSpPr>
          <p:nvPr/>
        </p:nvSpPr>
        <p:spPr bwMode="auto">
          <a:xfrm>
            <a:off x="4845051" y="3935413"/>
            <a:ext cx="468313" cy="468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13" name="Rectangle 38"/>
          <p:cNvSpPr>
            <a:spLocks noChangeArrowheads="1"/>
          </p:cNvSpPr>
          <p:nvPr/>
        </p:nvSpPr>
        <p:spPr bwMode="auto">
          <a:xfrm>
            <a:off x="2044700" y="4395789"/>
            <a:ext cx="471488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14" name="Rectangle 39"/>
          <p:cNvSpPr>
            <a:spLocks noChangeArrowheads="1"/>
          </p:cNvSpPr>
          <p:nvPr/>
        </p:nvSpPr>
        <p:spPr bwMode="auto">
          <a:xfrm>
            <a:off x="2516188" y="4395789"/>
            <a:ext cx="468312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54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15" name="Rectangle 40"/>
          <p:cNvSpPr>
            <a:spLocks noChangeArrowheads="1"/>
          </p:cNvSpPr>
          <p:nvPr/>
        </p:nvSpPr>
        <p:spPr bwMode="auto">
          <a:xfrm>
            <a:off x="2984501" y="4395789"/>
            <a:ext cx="468313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16" name="Rectangle 41"/>
          <p:cNvSpPr>
            <a:spLocks noChangeArrowheads="1"/>
          </p:cNvSpPr>
          <p:nvPr/>
        </p:nvSpPr>
        <p:spPr bwMode="auto">
          <a:xfrm>
            <a:off x="3452813" y="4395789"/>
            <a:ext cx="469900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17" name="Rectangle 42"/>
          <p:cNvSpPr>
            <a:spLocks noChangeArrowheads="1"/>
          </p:cNvSpPr>
          <p:nvPr/>
        </p:nvSpPr>
        <p:spPr bwMode="auto">
          <a:xfrm>
            <a:off x="3922713" y="4395789"/>
            <a:ext cx="468312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63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18" name="Rectangle 43"/>
          <p:cNvSpPr>
            <a:spLocks noChangeArrowheads="1"/>
          </p:cNvSpPr>
          <p:nvPr/>
        </p:nvSpPr>
        <p:spPr bwMode="auto">
          <a:xfrm>
            <a:off x="4373564" y="4395789"/>
            <a:ext cx="471487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67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19" name="Rectangle 44"/>
          <p:cNvSpPr>
            <a:spLocks noChangeArrowheads="1"/>
          </p:cNvSpPr>
          <p:nvPr/>
        </p:nvSpPr>
        <p:spPr bwMode="auto">
          <a:xfrm>
            <a:off x="4845051" y="4395789"/>
            <a:ext cx="468313" cy="471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70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20" name="Rectangle 45"/>
          <p:cNvSpPr>
            <a:spLocks noChangeArrowheads="1"/>
          </p:cNvSpPr>
          <p:nvPr/>
        </p:nvSpPr>
        <p:spPr bwMode="auto">
          <a:xfrm>
            <a:off x="2044700" y="4867276"/>
            <a:ext cx="471488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51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21" name="Rectangle 46"/>
          <p:cNvSpPr>
            <a:spLocks noChangeArrowheads="1"/>
          </p:cNvSpPr>
          <p:nvPr/>
        </p:nvSpPr>
        <p:spPr bwMode="auto">
          <a:xfrm>
            <a:off x="2516188" y="48672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22" name="Rectangle 47"/>
          <p:cNvSpPr>
            <a:spLocks noChangeArrowheads="1"/>
          </p:cNvSpPr>
          <p:nvPr/>
        </p:nvSpPr>
        <p:spPr bwMode="auto">
          <a:xfrm>
            <a:off x="2984501" y="48672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59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23" name="Rectangle 48"/>
          <p:cNvSpPr>
            <a:spLocks noChangeArrowheads="1"/>
          </p:cNvSpPr>
          <p:nvPr/>
        </p:nvSpPr>
        <p:spPr bwMode="auto">
          <a:xfrm>
            <a:off x="3452813" y="4867276"/>
            <a:ext cx="469900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24" name="Rectangle 49"/>
          <p:cNvSpPr>
            <a:spLocks noChangeArrowheads="1"/>
          </p:cNvSpPr>
          <p:nvPr/>
        </p:nvSpPr>
        <p:spPr bwMode="auto">
          <a:xfrm>
            <a:off x="3922713" y="4867276"/>
            <a:ext cx="468312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65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25" name="Rectangle 50"/>
          <p:cNvSpPr>
            <a:spLocks noChangeArrowheads="1"/>
          </p:cNvSpPr>
          <p:nvPr/>
        </p:nvSpPr>
        <p:spPr bwMode="auto">
          <a:xfrm>
            <a:off x="4373564" y="4867276"/>
            <a:ext cx="471487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69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26" name="Rectangle 51"/>
          <p:cNvSpPr>
            <a:spLocks noChangeArrowheads="1"/>
          </p:cNvSpPr>
          <p:nvPr/>
        </p:nvSpPr>
        <p:spPr bwMode="auto">
          <a:xfrm>
            <a:off x="4845051" y="4867276"/>
            <a:ext cx="468313" cy="46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>
                <a:solidFill>
                  <a:srgbClr val="000000"/>
                </a:solidFill>
              </a:rPr>
              <a:t>72</a:t>
            </a:r>
            <a:endParaRPr lang="en-GB" altLang="en-US" sz="1800">
              <a:solidFill>
                <a:srgbClr val="000000"/>
              </a:solidFill>
            </a:endParaRPr>
          </a:p>
        </p:txBody>
      </p:sp>
      <p:sp>
        <p:nvSpPr>
          <p:cNvPr id="101427" name="Line 52"/>
          <p:cNvSpPr>
            <a:spLocks noChangeShapeType="1"/>
          </p:cNvSpPr>
          <p:nvPr/>
        </p:nvSpPr>
        <p:spPr bwMode="auto">
          <a:xfrm>
            <a:off x="2044700" y="2093913"/>
            <a:ext cx="3657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01428" name="Line 53"/>
          <p:cNvSpPr>
            <a:spLocks noChangeShapeType="1"/>
          </p:cNvSpPr>
          <p:nvPr/>
        </p:nvSpPr>
        <p:spPr bwMode="auto">
          <a:xfrm rot="5400000">
            <a:off x="184944" y="3953669"/>
            <a:ext cx="3719512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01429" name="Text Box 54"/>
          <p:cNvSpPr txBox="1">
            <a:spLocks noChangeArrowheads="1"/>
          </p:cNvSpPr>
          <p:nvPr/>
        </p:nvSpPr>
        <p:spPr bwMode="auto">
          <a:xfrm>
            <a:off x="1917700" y="1720850"/>
            <a:ext cx="22012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Original Image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430" name="Text Box 55"/>
          <p:cNvSpPr txBox="1">
            <a:spLocks noChangeArrowheads="1"/>
          </p:cNvSpPr>
          <p:nvPr/>
        </p:nvSpPr>
        <p:spPr bwMode="auto">
          <a:xfrm>
            <a:off x="5513388" y="1752600"/>
            <a:ext cx="3449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x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431" name="Text Box 56"/>
          <p:cNvSpPr txBox="1">
            <a:spLocks noChangeArrowheads="1"/>
          </p:cNvSpPr>
          <p:nvPr/>
        </p:nvSpPr>
        <p:spPr bwMode="auto">
          <a:xfrm>
            <a:off x="1762125" y="5556250"/>
            <a:ext cx="3690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y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432" name="Text Box 57"/>
          <p:cNvSpPr txBox="1">
            <a:spLocks noChangeArrowheads="1"/>
          </p:cNvSpPr>
          <p:nvPr/>
        </p:nvSpPr>
        <p:spPr bwMode="auto">
          <a:xfrm>
            <a:off x="3963989" y="5335588"/>
            <a:ext cx="20329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Image f (x, y)</a:t>
            </a:r>
            <a:endParaRPr lang="en-US" altLang="en-US" sz="1800" b="1" i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1433" name="Group 58"/>
          <p:cNvGrpSpPr>
            <a:grpSpLocks/>
          </p:cNvGrpSpPr>
          <p:nvPr/>
        </p:nvGrpSpPr>
        <p:grpSpPr bwMode="auto">
          <a:xfrm>
            <a:off x="6335711" y="1719264"/>
            <a:ext cx="4243386" cy="4221163"/>
            <a:chOff x="3031" y="1083"/>
            <a:chExt cx="2673" cy="2659"/>
          </a:xfrm>
        </p:grpSpPr>
        <p:sp>
          <p:nvSpPr>
            <p:cNvPr id="101435" name="Rectangle 59"/>
            <p:cNvSpPr>
              <a:spLocks noChangeArrowheads="1"/>
            </p:cNvSpPr>
            <p:nvPr/>
          </p:nvSpPr>
          <p:spPr bwMode="auto">
            <a:xfrm>
              <a:off x="3209" y="1328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36" name="Rectangle 60"/>
            <p:cNvSpPr>
              <a:spLocks noChangeArrowheads="1"/>
            </p:cNvSpPr>
            <p:nvPr/>
          </p:nvSpPr>
          <p:spPr bwMode="auto">
            <a:xfrm>
              <a:off x="3506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37" name="Rectangle 61"/>
            <p:cNvSpPr>
              <a:spLocks noChangeArrowheads="1"/>
            </p:cNvSpPr>
            <p:nvPr/>
          </p:nvSpPr>
          <p:spPr bwMode="auto">
            <a:xfrm>
              <a:off x="3801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38" name="Rectangle 62"/>
            <p:cNvSpPr>
              <a:spLocks noChangeArrowheads="1"/>
            </p:cNvSpPr>
            <p:nvPr/>
          </p:nvSpPr>
          <p:spPr bwMode="auto">
            <a:xfrm>
              <a:off x="4096" y="1328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39" name="Rectangle 63"/>
            <p:cNvSpPr>
              <a:spLocks noChangeArrowheads="1"/>
            </p:cNvSpPr>
            <p:nvPr/>
          </p:nvSpPr>
          <p:spPr bwMode="auto">
            <a:xfrm>
              <a:off x="4392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40" name="Rectangle 64"/>
            <p:cNvSpPr>
              <a:spLocks noChangeArrowheads="1"/>
            </p:cNvSpPr>
            <p:nvPr/>
          </p:nvSpPr>
          <p:spPr bwMode="auto">
            <a:xfrm>
              <a:off x="4676" y="1328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41" name="Rectangle 65"/>
            <p:cNvSpPr>
              <a:spLocks noChangeArrowheads="1"/>
            </p:cNvSpPr>
            <p:nvPr/>
          </p:nvSpPr>
          <p:spPr bwMode="auto">
            <a:xfrm>
              <a:off x="4973" y="1328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42" name="Rectangle 66"/>
            <p:cNvSpPr>
              <a:spLocks noChangeArrowheads="1"/>
            </p:cNvSpPr>
            <p:nvPr/>
          </p:nvSpPr>
          <p:spPr bwMode="auto">
            <a:xfrm>
              <a:off x="3209" y="1618"/>
              <a:ext cx="297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43" name="Rectangle 67"/>
            <p:cNvSpPr>
              <a:spLocks noChangeArrowheads="1"/>
            </p:cNvSpPr>
            <p:nvPr/>
          </p:nvSpPr>
          <p:spPr bwMode="auto">
            <a:xfrm>
              <a:off x="3506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44" name="Rectangle 68"/>
            <p:cNvSpPr>
              <a:spLocks noChangeArrowheads="1"/>
            </p:cNvSpPr>
            <p:nvPr/>
          </p:nvSpPr>
          <p:spPr bwMode="auto">
            <a:xfrm>
              <a:off x="3801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45" name="Rectangle 69"/>
            <p:cNvSpPr>
              <a:spLocks noChangeArrowheads="1"/>
            </p:cNvSpPr>
            <p:nvPr/>
          </p:nvSpPr>
          <p:spPr bwMode="auto">
            <a:xfrm>
              <a:off x="4096" y="1618"/>
              <a:ext cx="296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46" name="Rectangle 70"/>
            <p:cNvSpPr>
              <a:spLocks noChangeArrowheads="1"/>
            </p:cNvSpPr>
            <p:nvPr/>
          </p:nvSpPr>
          <p:spPr bwMode="auto">
            <a:xfrm>
              <a:off x="4392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47" name="Rectangle 71"/>
            <p:cNvSpPr>
              <a:spLocks noChangeArrowheads="1"/>
            </p:cNvSpPr>
            <p:nvPr/>
          </p:nvSpPr>
          <p:spPr bwMode="auto">
            <a:xfrm>
              <a:off x="4676" y="1618"/>
              <a:ext cx="297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48" name="Rectangle 72"/>
            <p:cNvSpPr>
              <a:spLocks noChangeArrowheads="1"/>
            </p:cNvSpPr>
            <p:nvPr/>
          </p:nvSpPr>
          <p:spPr bwMode="auto">
            <a:xfrm>
              <a:off x="4973" y="1618"/>
              <a:ext cx="295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49" name="Rectangle 73"/>
            <p:cNvSpPr>
              <a:spLocks noChangeArrowheads="1"/>
            </p:cNvSpPr>
            <p:nvPr/>
          </p:nvSpPr>
          <p:spPr bwMode="auto">
            <a:xfrm>
              <a:off x="3209" y="1915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50" name="Rectangle 74"/>
            <p:cNvSpPr>
              <a:spLocks noChangeArrowheads="1"/>
            </p:cNvSpPr>
            <p:nvPr/>
          </p:nvSpPr>
          <p:spPr bwMode="auto">
            <a:xfrm>
              <a:off x="3506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51" name="Rectangle 75"/>
            <p:cNvSpPr>
              <a:spLocks noChangeArrowheads="1"/>
            </p:cNvSpPr>
            <p:nvPr/>
          </p:nvSpPr>
          <p:spPr bwMode="auto">
            <a:xfrm>
              <a:off x="3801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52" name="Rectangle 76"/>
            <p:cNvSpPr>
              <a:spLocks noChangeArrowheads="1"/>
            </p:cNvSpPr>
            <p:nvPr/>
          </p:nvSpPr>
          <p:spPr bwMode="auto">
            <a:xfrm>
              <a:off x="4096" y="1915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53" name="Rectangle 77"/>
            <p:cNvSpPr>
              <a:spLocks noChangeArrowheads="1"/>
            </p:cNvSpPr>
            <p:nvPr/>
          </p:nvSpPr>
          <p:spPr bwMode="auto">
            <a:xfrm>
              <a:off x="4392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54" name="Rectangle 78"/>
            <p:cNvSpPr>
              <a:spLocks noChangeArrowheads="1"/>
            </p:cNvSpPr>
            <p:nvPr/>
          </p:nvSpPr>
          <p:spPr bwMode="auto">
            <a:xfrm>
              <a:off x="4676" y="1915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55" name="Rectangle 79"/>
            <p:cNvSpPr>
              <a:spLocks noChangeArrowheads="1"/>
            </p:cNvSpPr>
            <p:nvPr/>
          </p:nvSpPr>
          <p:spPr bwMode="auto">
            <a:xfrm>
              <a:off x="4973" y="1915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56" name="Rectangle 80"/>
            <p:cNvSpPr>
              <a:spLocks noChangeArrowheads="1"/>
            </p:cNvSpPr>
            <p:nvPr/>
          </p:nvSpPr>
          <p:spPr bwMode="auto">
            <a:xfrm>
              <a:off x="3209" y="220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57" name="Rectangle 81"/>
            <p:cNvSpPr>
              <a:spLocks noChangeArrowheads="1"/>
            </p:cNvSpPr>
            <p:nvPr/>
          </p:nvSpPr>
          <p:spPr bwMode="auto">
            <a:xfrm>
              <a:off x="3506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58" name="Rectangle 82"/>
            <p:cNvSpPr>
              <a:spLocks noChangeArrowheads="1"/>
            </p:cNvSpPr>
            <p:nvPr/>
          </p:nvSpPr>
          <p:spPr bwMode="auto">
            <a:xfrm>
              <a:off x="3801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59" name="Rectangle 83"/>
            <p:cNvSpPr>
              <a:spLocks noChangeArrowheads="1"/>
            </p:cNvSpPr>
            <p:nvPr/>
          </p:nvSpPr>
          <p:spPr bwMode="auto">
            <a:xfrm>
              <a:off x="4096" y="2207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60" name="Rectangle 84"/>
            <p:cNvSpPr>
              <a:spLocks noChangeArrowheads="1"/>
            </p:cNvSpPr>
            <p:nvPr/>
          </p:nvSpPr>
          <p:spPr bwMode="auto">
            <a:xfrm>
              <a:off x="4392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61" name="Rectangle 85"/>
            <p:cNvSpPr>
              <a:spLocks noChangeArrowheads="1"/>
            </p:cNvSpPr>
            <p:nvPr/>
          </p:nvSpPr>
          <p:spPr bwMode="auto">
            <a:xfrm>
              <a:off x="4676" y="220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62" name="Rectangle 86"/>
            <p:cNvSpPr>
              <a:spLocks noChangeArrowheads="1"/>
            </p:cNvSpPr>
            <p:nvPr/>
          </p:nvSpPr>
          <p:spPr bwMode="auto">
            <a:xfrm>
              <a:off x="4973" y="220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63" name="Rectangle 87"/>
            <p:cNvSpPr>
              <a:spLocks noChangeArrowheads="1"/>
            </p:cNvSpPr>
            <p:nvPr/>
          </p:nvSpPr>
          <p:spPr bwMode="auto">
            <a:xfrm>
              <a:off x="3209" y="248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64" name="Rectangle 88"/>
            <p:cNvSpPr>
              <a:spLocks noChangeArrowheads="1"/>
            </p:cNvSpPr>
            <p:nvPr/>
          </p:nvSpPr>
          <p:spPr bwMode="auto">
            <a:xfrm>
              <a:off x="3506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65" name="Rectangle 89"/>
            <p:cNvSpPr>
              <a:spLocks noChangeArrowheads="1"/>
            </p:cNvSpPr>
            <p:nvPr/>
          </p:nvSpPr>
          <p:spPr bwMode="auto">
            <a:xfrm>
              <a:off x="3801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66" name="Rectangle 90"/>
            <p:cNvSpPr>
              <a:spLocks noChangeArrowheads="1"/>
            </p:cNvSpPr>
            <p:nvPr/>
          </p:nvSpPr>
          <p:spPr bwMode="auto">
            <a:xfrm>
              <a:off x="4096" y="2487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67" name="Rectangle 91"/>
            <p:cNvSpPr>
              <a:spLocks noChangeArrowheads="1"/>
            </p:cNvSpPr>
            <p:nvPr/>
          </p:nvSpPr>
          <p:spPr bwMode="auto">
            <a:xfrm>
              <a:off x="4392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68" name="Rectangle 92"/>
            <p:cNvSpPr>
              <a:spLocks noChangeArrowheads="1"/>
            </p:cNvSpPr>
            <p:nvPr/>
          </p:nvSpPr>
          <p:spPr bwMode="auto">
            <a:xfrm>
              <a:off x="4676" y="2487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69" name="Rectangle 93"/>
            <p:cNvSpPr>
              <a:spLocks noChangeArrowheads="1"/>
            </p:cNvSpPr>
            <p:nvPr/>
          </p:nvSpPr>
          <p:spPr bwMode="auto">
            <a:xfrm>
              <a:off x="4973" y="2487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70" name="Rectangle 94"/>
            <p:cNvSpPr>
              <a:spLocks noChangeArrowheads="1"/>
            </p:cNvSpPr>
            <p:nvPr/>
          </p:nvSpPr>
          <p:spPr bwMode="auto">
            <a:xfrm>
              <a:off x="3209" y="2779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71" name="Rectangle 95"/>
            <p:cNvSpPr>
              <a:spLocks noChangeArrowheads="1"/>
            </p:cNvSpPr>
            <p:nvPr/>
          </p:nvSpPr>
          <p:spPr bwMode="auto">
            <a:xfrm>
              <a:off x="3506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72" name="Rectangle 96"/>
            <p:cNvSpPr>
              <a:spLocks noChangeArrowheads="1"/>
            </p:cNvSpPr>
            <p:nvPr/>
          </p:nvSpPr>
          <p:spPr bwMode="auto">
            <a:xfrm>
              <a:off x="3801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73" name="Rectangle 97"/>
            <p:cNvSpPr>
              <a:spLocks noChangeArrowheads="1"/>
            </p:cNvSpPr>
            <p:nvPr/>
          </p:nvSpPr>
          <p:spPr bwMode="auto">
            <a:xfrm>
              <a:off x="4096" y="2779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74" name="Rectangle 98"/>
            <p:cNvSpPr>
              <a:spLocks noChangeArrowheads="1"/>
            </p:cNvSpPr>
            <p:nvPr/>
          </p:nvSpPr>
          <p:spPr bwMode="auto">
            <a:xfrm>
              <a:off x="4392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75" name="Rectangle 99"/>
            <p:cNvSpPr>
              <a:spLocks noChangeArrowheads="1"/>
            </p:cNvSpPr>
            <p:nvPr/>
          </p:nvSpPr>
          <p:spPr bwMode="auto">
            <a:xfrm>
              <a:off x="4676" y="2779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76" name="Rectangle 100"/>
            <p:cNvSpPr>
              <a:spLocks noChangeArrowheads="1"/>
            </p:cNvSpPr>
            <p:nvPr/>
          </p:nvSpPr>
          <p:spPr bwMode="auto">
            <a:xfrm>
              <a:off x="4973" y="2779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77" name="Rectangle 101"/>
            <p:cNvSpPr>
              <a:spLocks noChangeArrowheads="1"/>
            </p:cNvSpPr>
            <p:nvPr/>
          </p:nvSpPr>
          <p:spPr bwMode="auto">
            <a:xfrm>
              <a:off x="3209" y="3074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78" name="Rectangle 102"/>
            <p:cNvSpPr>
              <a:spLocks noChangeArrowheads="1"/>
            </p:cNvSpPr>
            <p:nvPr/>
          </p:nvSpPr>
          <p:spPr bwMode="auto">
            <a:xfrm>
              <a:off x="3506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79" name="Rectangle 103"/>
            <p:cNvSpPr>
              <a:spLocks noChangeArrowheads="1"/>
            </p:cNvSpPr>
            <p:nvPr/>
          </p:nvSpPr>
          <p:spPr bwMode="auto">
            <a:xfrm>
              <a:off x="3801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80" name="Rectangle 104"/>
            <p:cNvSpPr>
              <a:spLocks noChangeArrowheads="1"/>
            </p:cNvSpPr>
            <p:nvPr/>
          </p:nvSpPr>
          <p:spPr bwMode="auto">
            <a:xfrm>
              <a:off x="4096" y="3074"/>
              <a:ext cx="296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81" name="Rectangle 105"/>
            <p:cNvSpPr>
              <a:spLocks noChangeArrowheads="1"/>
            </p:cNvSpPr>
            <p:nvPr/>
          </p:nvSpPr>
          <p:spPr bwMode="auto">
            <a:xfrm>
              <a:off x="4392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82" name="Rectangle 106"/>
            <p:cNvSpPr>
              <a:spLocks noChangeArrowheads="1"/>
            </p:cNvSpPr>
            <p:nvPr/>
          </p:nvSpPr>
          <p:spPr bwMode="auto">
            <a:xfrm>
              <a:off x="4676" y="3074"/>
              <a:ext cx="297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83" name="Rectangle 107"/>
            <p:cNvSpPr>
              <a:spLocks noChangeArrowheads="1"/>
            </p:cNvSpPr>
            <p:nvPr/>
          </p:nvSpPr>
          <p:spPr bwMode="auto">
            <a:xfrm>
              <a:off x="4973" y="3074"/>
              <a:ext cx="295" cy="2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GB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01484" name="Line 108"/>
            <p:cNvSpPr>
              <a:spLocks noChangeShapeType="1"/>
            </p:cNvSpPr>
            <p:nvPr/>
          </p:nvSpPr>
          <p:spPr bwMode="auto">
            <a:xfrm>
              <a:off x="3209" y="1328"/>
              <a:ext cx="230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01485" name="Line 109"/>
            <p:cNvSpPr>
              <a:spLocks noChangeShapeType="1"/>
            </p:cNvSpPr>
            <p:nvPr/>
          </p:nvSpPr>
          <p:spPr bwMode="auto">
            <a:xfrm rot="5400000">
              <a:off x="2037" y="2500"/>
              <a:ext cx="234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01486" name="Text Box 110"/>
            <p:cNvSpPr txBox="1">
              <a:spLocks noChangeArrowheads="1"/>
            </p:cNvSpPr>
            <p:nvPr/>
          </p:nvSpPr>
          <p:spPr bwMode="auto">
            <a:xfrm>
              <a:off x="3154" y="1083"/>
              <a:ext cx="11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</a:rPr>
                <a:t>Filtered</a:t>
              </a:r>
              <a:r>
                <a:rPr lang="en-IE" altLang="en-US" sz="1800">
                  <a:solidFill>
                    <a:srgbClr val="000000"/>
                  </a:solidFill>
                </a:rPr>
                <a:t> </a:t>
              </a: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1487" name="Text Box 111"/>
            <p:cNvSpPr txBox="1">
              <a:spLocks noChangeArrowheads="1"/>
            </p:cNvSpPr>
            <p:nvPr/>
          </p:nvSpPr>
          <p:spPr bwMode="auto">
            <a:xfrm>
              <a:off x="5394" y="1104"/>
              <a:ext cx="21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1488" name="Text Box 112"/>
            <p:cNvSpPr txBox="1">
              <a:spLocks noChangeArrowheads="1"/>
            </p:cNvSpPr>
            <p:nvPr/>
          </p:nvSpPr>
          <p:spPr bwMode="auto">
            <a:xfrm>
              <a:off x="3031" y="3509"/>
              <a:ext cx="23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1489" name="Text Box 113"/>
            <p:cNvSpPr txBox="1">
              <a:spLocks noChangeArrowheads="1"/>
            </p:cNvSpPr>
            <p:nvPr/>
          </p:nvSpPr>
          <p:spPr bwMode="auto">
            <a:xfrm>
              <a:off x="4423" y="3361"/>
              <a:ext cx="12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 f (x, y)</a:t>
              </a:r>
              <a:endParaRPr lang="en-US" altLang="en-US" sz="1800" b="1" i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</p:grpSp>
      <p:pic>
        <p:nvPicPr>
          <p:cNvPr id="101434" name="Picture 114" descr="MCj031081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900" y="149226"/>
            <a:ext cx="1042988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6754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Removal Examples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grpSp>
        <p:nvGrpSpPr>
          <p:cNvPr id="103426" name="Group 6"/>
          <p:cNvGrpSpPr>
            <a:grpSpLocks/>
          </p:cNvGrpSpPr>
          <p:nvPr/>
        </p:nvGrpSpPr>
        <p:grpSpPr bwMode="auto">
          <a:xfrm>
            <a:off x="1520825" y="1631951"/>
            <a:ext cx="260350" cy="5229225"/>
            <a:chOff x="-2" y="1034"/>
            <a:chExt cx="164" cy="3294"/>
          </a:xfrm>
        </p:grpSpPr>
        <p:pic>
          <p:nvPicPr>
            <p:cNvPr id="103432" name="Picture 7" descr="book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33" name="Rectangle 8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  <a:endParaRPr lang="en-US" altLang="en-US" sz="1200">
                <a:solidFill>
                  <a:srgbClr val="FFFFFF"/>
                </a:solidFill>
              </a:endParaRPr>
            </a:p>
          </p:txBody>
        </p:sp>
      </p:grpSp>
      <p:pic>
        <p:nvPicPr>
          <p:cNvPr id="1034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21"/>
          <a:stretch>
            <a:fillRect/>
          </a:stretch>
        </p:blipFill>
        <p:spPr bwMode="auto">
          <a:xfrm>
            <a:off x="3751263" y="1446214"/>
            <a:ext cx="5065712" cy="486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28" name="Text Box 9"/>
          <p:cNvSpPr txBox="1">
            <a:spLocks noChangeArrowheads="1"/>
          </p:cNvSpPr>
          <p:nvPr/>
        </p:nvSpPr>
        <p:spPr bwMode="auto">
          <a:xfrm>
            <a:off x="1861540" y="1941513"/>
            <a:ext cx="1867499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Image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Corrupted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By Salt And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Pepper Noise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3429" name="Text Box 10"/>
          <p:cNvSpPr txBox="1">
            <a:spLocks noChangeArrowheads="1"/>
          </p:cNvSpPr>
          <p:nvPr/>
        </p:nvSpPr>
        <p:spPr bwMode="auto">
          <a:xfrm>
            <a:off x="8826500" y="1939925"/>
            <a:ext cx="1726114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Result of 1 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Pass With A 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3*3 Median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Filter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3430" name="Text Box 11"/>
          <p:cNvSpPr txBox="1">
            <a:spLocks noChangeArrowheads="1"/>
          </p:cNvSpPr>
          <p:nvPr/>
        </p:nvSpPr>
        <p:spPr bwMode="auto">
          <a:xfrm>
            <a:off x="1896166" y="4360863"/>
            <a:ext cx="1832873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Result of 2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Passes With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A 3*3 Median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Filter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3431" name="Text Box 12"/>
          <p:cNvSpPr txBox="1">
            <a:spLocks noChangeArrowheads="1"/>
          </p:cNvSpPr>
          <p:nvPr/>
        </p:nvSpPr>
        <p:spPr bwMode="auto">
          <a:xfrm>
            <a:off x="8826500" y="4360863"/>
            <a:ext cx="1832874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Result of 3 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Passes With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A 3*3 Median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Filter</a:t>
            </a:r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82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Removal Examples (cont…)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grpSp>
        <p:nvGrpSpPr>
          <p:cNvPr id="105474" name="Group 6"/>
          <p:cNvGrpSpPr>
            <a:grpSpLocks/>
          </p:cNvGrpSpPr>
          <p:nvPr/>
        </p:nvGrpSpPr>
        <p:grpSpPr bwMode="auto">
          <a:xfrm>
            <a:off x="1520825" y="1631951"/>
            <a:ext cx="260350" cy="5229225"/>
            <a:chOff x="-2" y="1034"/>
            <a:chExt cx="164" cy="3294"/>
          </a:xfrm>
        </p:grpSpPr>
        <p:pic>
          <p:nvPicPr>
            <p:cNvPr id="105482" name="Picture 7" descr="book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5483" name="Rectangle 8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  <a:endParaRPr lang="en-US" altLang="en-US" sz="1200">
                <a:solidFill>
                  <a:srgbClr val="FFFFFF"/>
                </a:solidFill>
              </a:endParaRPr>
            </a:p>
          </p:txBody>
        </p:sp>
      </p:grpSp>
      <p:pic>
        <p:nvPicPr>
          <p:cNvPr id="1054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849"/>
          <a:stretch>
            <a:fillRect/>
          </a:stretch>
        </p:blipFill>
        <p:spPr bwMode="auto">
          <a:xfrm>
            <a:off x="3651251" y="3938588"/>
            <a:ext cx="5032375" cy="243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76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4" r="40025" b="50261"/>
          <a:stretch>
            <a:fillRect/>
          </a:stretch>
        </p:blipFill>
        <p:spPr bwMode="auto">
          <a:xfrm>
            <a:off x="3651250" y="1497013"/>
            <a:ext cx="2533650" cy="241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77" name="Text Box 10"/>
          <p:cNvSpPr txBox="1">
            <a:spLocks noChangeArrowheads="1"/>
          </p:cNvSpPr>
          <p:nvPr/>
        </p:nvSpPr>
        <p:spPr bwMode="auto">
          <a:xfrm>
            <a:off x="2165731" y="2032000"/>
            <a:ext cx="1437894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Image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Corrupted</a:t>
            </a:r>
          </a:p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By Pepper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Noise</a:t>
            </a:r>
            <a:endParaRPr lang="en-US" altLang="en-US">
              <a:solidFill>
                <a:srgbClr val="000000"/>
              </a:solidFill>
            </a:endParaRPr>
          </a:p>
        </p:txBody>
      </p:sp>
      <p:pic>
        <p:nvPicPr>
          <p:cNvPr id="105478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72" b="49934"/>
          <a:stretch>
            <a:fillRect/>
          </a:stretch>
        </p:blipFill>
        <p:spPr bwMode="auto">
          <a:xfrm>
            <a:off x="6135689" y="1497014"/>
            <a:ext cx="2547937" cy="243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79" name="Text Box 12"/>
          <p:cNvSpPr txBox="1">
            <a:spLocks noChangeArrowheads="1"/>
          </p:cNvSpPr>
          <p:nvPr/>
        </p:nvSpPr>
        <p:spPr bwMode="auto">
          <a:xfrm>
            <a:off x="8689975" y="1987550"/>
            <a:ext cx="1370568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Image</a:t>
            </a:r>
            <a:br>
              <a:rPr lang="en-US" altLang="en-US">
                <a:solidFill>
                  <a:srgbClr val="000000"/>
                </a:solidFill>
              </a:rPr>
            </a:br>
            <a:r>
              <a:rPr lang="en-US" altLang="en-US">
                <a:solidFill>
                  <a:srgbClr val="000000"/>
                </a:solidFill>
              </a:rPr>
              <a:t>Corrupted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By Salt</a:t>
            </a:r>
            <a:br>
              <a:rPr lang="en-US" altLang="en-US">
                <a:solidFill>
                  <a:srgbClr val="000000"/>
                </a:solidFill>
              </a:rPr>
            </a:br>
            <a:r>
              <a:rPr lang="en-US" altLang="en-US">
                <a:solidFill>
                  <a:srgbClr val="000000"/>
                </a:solidFill>
              </a:rPr>
              <a:t>Noise</a:t>
            </a:r>
          </a:p>
        </p:txBody>
      </p:sp>
      <p:sp>
        <p:nvSpPr>
          <p:cNvPr id="105480" name="Text Box 13"/>
          <p:cNvSpPr txBox="1">
            <a:spLocks noChangeArrowheads="1"/>
          </p:cNvSpPr>
          <p:nvPr/>
        </p:nvSpPr>
        <p:spPr bwMode="auto">
          <a:xfrm>
            <a:off x="8689976" y="4276726"/>
            <a:ext cx="1504899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Result Of 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Filtering 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Above 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With A 3*3 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Min Filter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5481" name="Text Box 14"/>
          <p:cNvSpPr txBox="1">
            <a:spLocks noChangeArrowheads="1"/>
          </p:cNvSpPr>
          <p:nvPr/>
        </p:nvSpPr>
        <p:spPr bwMode="auto">
          <a:xfrm>
            <a:off x="2183687" y="4240214"/>
            <a:ext cx="1419939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Result Of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Filtering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Above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With A 3*3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Max Filter</a:t>
            </a:r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92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Noise Removal Examples (cont…)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grpSp>
        <p:nvGrpSpPr>
          <p:cNvPr id="107522" name="Group 7"/>
          <p:cNvGrpSpPr>
            <a:grpSpLocks/>
          </p:cNvGrpSpPr>
          <p:nvPr/>
        </p:nvGrpSpPr>
        <p:grpSpPr bwMode="auto">
          <a:xfrm>
            <a:off x="1520825" y="1631951"/>
            <a:ext cx="260350" cy="5229225"/>
            <a:chOff x="-2" y="1034"/>
            <a:chExt cx="164" cy="3294"/>
          </a:xfrm>
        </p:grpSpPr>
        <p:pic>
          <p:nvPicPr>
            <p:cNvPr id="107530" name="Picture 8" descr="book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531" name="Rectangle 9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  <a:endParaRPr lang="en-US" altLang="en-US" sz="1200">
                <a:solidFill>
                  <a:srgbClr val="FFFFFF"/>
                </a:solidFill>
              </a:endParaRPr>
            </a:p>
          </p:txBody>
        </p:sp>
      </p:grpSp>
      <p:pic>
        <p:nvPicPr>
          <p:cNvPr id="1075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163" y="1352550"/>
            <a:ext cx="3738562" cy="538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24" name="Text Box 10"/>
          <p:cNvSpPr txBox="1">
            <a:spLocks noChangeArrowheads="1"/>
          </p:cNvSpPr>
          <p:nvPr/>
        </p:nvSpPr>
        <p:spPr bwMode="auto">
          <a:xfrm>
            <a:off x="2552261" y="1511300"/>
            <a:ext cx="1522853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Image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Corrupted</a:t>
            </a:r>
          </a:p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By Uniform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Noise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7525" name="Text Box 11"/>
          <p:cNvSpPr txBox="1">
            <a:spLocks noChangeArrowheads="1"/>
          </p:cNvSpPr>
          <p:nvPr/>
        </p:nvSpPr>
        <p:spPr bwMode="auto">
          <a:xfrm>
            <a:off x="7853363" y="1538288"/>
            <a:ext cx="1933222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Image Further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Corrupted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By Salt and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Pepper Noise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7526" name="Text Box 12"/>
          <p:cNvSpPr txBox="1">
            <a:spLocks noChangeArrowheads="1"/>
          </p:cNvSpPr>
          <p:nvPr/>
        </p:nvSpPr>
        <p:spPr bwMode="auto">
          <a:xfrm>
            <a:off x="2174915" y="3457575"/>
            <a:ext cx="1900199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Filtered By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5*5 Arithmetic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Mean Filter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7527" name="Text Box 13"/>
          <p:cNvSpPr txBox="1">
            <a:spLocks noChangeArrowheads="1"/>
          </p:cNvSpPr>
          <p:nvPr/>
        </p:nvSpPr>
        <p:spPr bwMode="auto">
          <a:xfrm>
            <a:off x="2515391" y="5281613"/>
            <a:ext cx="1559722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Filtered By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5*5 Median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Filter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7528" name="Text Box 14"/>
          <p:cNvSpPr txBox="1">
            <a:spLocks noChangeArrowheads="1"/>
          </p:cNvSpPr>
          <p:nvPr/>
        </p:nvSpPr>
        <p:spPr bwMode="auto">
          <a:xfrm>
            <a:off x="7853363" y="3503613"/>
            <a:ext cx="1968488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Filtered By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5*5 Geometric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Mean Filter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7529" name="Text Box 15"/>
          <p:cNvSpPr txBox="1">
            <a:spLocks noChangeArrowheads="1"/>
          </p:cNvSpPr>
          <p:nvPr/>
        </p:nvSpPr>
        <p:spPr bwMode="auto">
          <a:xfrm>
            <a:off x="7853363" y="5308600"/>
            <a:ext cx="2626168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Filtered By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5*5 Alpha-Trimmed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Mean Filter</a:t>
            </a:r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946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Periodic Noise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1095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333500"/>
            <a:ext cx="5257800" cy="55245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Typically arises due to </a:t>
            </a:r>
            <a:br>
              <a:rPr lang="en-IE" altLang="en-US" smtClean="0">
                <a:ea typeface="ＭＳ Ｐゴシック" panose="020B0600070205080204" pitchFamily="34" charset="-128"/>
              </a:rPr>
            </a:br>
            <a:r>
              <a:rPr lang="en-IE" altLang="en-US" smtClean="0">
                <a:ea typeface="ＭＳ Ｐゴシック" panose="020B0600070205080204" pitchFamily="34" charset="-128"/>
              </a:rPr>
              <a:t>electrical or electromagnetic </a:t>
            </a:r>
            <a:br>
              <a:rPr lang="en-IE" altLang="en-US" smtClean="0">
                <a:ea typeface="ＭＳ Ｐゴシック" panose="020B0600070205080204" pitchFamily="34" charset="-128"/>
              </a:rPr>
            </a:br>
            <a:r>
              <a:rPr lang="en-IE" altLang="en-US" smtClean="0">
                <a:ea typeface="ＭＳ Ｐゴシック" panose="020B0600070205080204" pitchFamily="34" charset="-128"/>
              </a:rPr>
              <a:t>interference</a:t>
            </a:r>
          </a:p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Gives rise to regular noise </a:t>
            </a:r>
            <a:br>
              <a:rPr lang="en-IE" altLang="en-US" smtClean="0">
                <a:ea typeface="ＭＳ Ｐゴシック" panose="020B0600070205080204" pitchFamily="34" charset="-128"/>
              </a:rPr>
            </a:br>
            <a:r>
              <a:rPr lang="en-IE" altLang="en-US" smtClean="0">
                <a:ea typeface="ＭＳ Ｐゴシック" panose="020B0600070205080204" pitchFamily="34" charset="-128"/>
              </a:rPr>
              <a:t>patterns in an image</a:t>
            </a:r>
          </a:p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Frequency domain techniques in the Fourier domain are most effective at removing periodic noise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10957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28" b="-401"/>
          <a:stretch>
            <a:fillRect/>
          </a:stretch>
        </p:blipFill>
        <p:spPr bwMode="auto">
          <a:xfrm>
            <a:off x="7175501" y="1427163"/>
            <a:ext cx="3222625" cy="481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9572" name="Group 5"/>
          <p:cNvGrpSpPr>
            <a:grpSpLocks/>
          </p:cNvGrpSpPr>
          <p:nvPr/>
        </p:nvGrpSpPr>
        <p:grpSpPr bwMode="auto">
          <a:xfrm>
            <a:off x="1520825" y="1631951"/>
            <a:ext cx="260350" cy="5229225"/>
            <a:chOff x="-2" y="1034"/>
            <a:chExt cx="164" cy="3294"/>
          </a:xfrm>
        </p:grpSpPr>
        <p:pic>
          <p:nvPicPr>
            <p:cNvPr id="109573" name="Picture 6" descr="book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9574" name="Rectangle 7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  <a:endParaRPr lang="en-US" altLang="en-US" sz="120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589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Band Reject Filters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1116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333500"/>
            <a:ext cx="8686800" cy="55245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Removing periodic noise form an image involves removing a particular range of frequencies from that image</a:t>
            </a:r>
          </a:p>
          <a:p>
            <a:pPr marL="0" indent="0" eaLnBrk="1" hangingPunct="1">
              <a:buNone/>
            </a:pPr>
            <a:r>
              <a:rPr lang="en-IE" altLang="en-US" i="1" smtClean="0">
                <a:ea typeface="ＭＳ Ｐゴシック" panose="020B0600070205080204" pitchFamily="34" charset="-128"/>
              </a:rPr>
              <a:t>Band reject</a:t>
            </a:r>
            <a:r>
              <a:rPr lang="en-IE" altLang="en-US" smtClean="0">
                <a:ea typeface="ＭＳ Ｐゴシック" panose="020B0600070205080204" pitchFamily="34" charset="-128"/>
              </a:rPr>
              <a:t> filters can be used for this purpose</a:t>
            </a:r>
          </a:p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An ideal band reject filter is given as follows: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graphicFrame>
        <p:nvGraphicFramePr>
          <p:cNvPr id="111619" name="Object 2"/>
          <p:cNvGraphicFramePr>
            <a:graphicFrameLocks noChangeAspect="1"/>
          </p:cNvGraphicFramePr>
          <p:nvPr/>
        </p:nvGraphicFramePr>
        <p:xfrm>
          <a:off x="2566989" y="4057651"/>
          <a:ext cx="6529387" cy="272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4" imgW="2743200" imgH="1143000" progId="Equation.3">
                  <p:embed/>
                </p:oleObj>
              </mc:Choice>
              <mc:Fallback>
                <p:oleObj name="Equation" r:id="rId4" imgW="2743200" imgH="1143000" progId="Equation.3">
                  <p:embed/>
                  <p:pic>
                    <p:nvPicPr>
                      <p:cNvPr id="11161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9" y="4057651"/>
                        <a:ext cx="6529387" cy="272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6192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Band Reject Filters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pic>
        <p:nvPicPr>
          <p:cNvPr id="113666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2522538"/>
            <a:ext cx="8916988" cy="269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6345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Band Reject Filters (cont…)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11571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The ideal band reject filter is shown below, along with Butterworth and Gaussian versions of the filter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grpSp>
        <p:nvGrpSpPr>
          <p:cNvPr id="115715" name="Group 6"/>
          <p:cNvGrpSpPr>
            <a:grpSpLocks/>
          </p:cNvGrpSpPr>
          <p:nvPr/>
        </p:nvGrpSpPr>
        <p:grpSpPr bwMode="auto">
          <a:xfrm>
            <a:off x="1520825" y="1631951"/>
            <a:ext cx="260350" cy="5229225"/>
            <a:chOff x="-2" y="1034"/>
            <a:chExt cx="164" cy="3294"/>
          </a:xfrm>
        </p:grpSpPr>
        <p:pic>
          <p:nvPicPr>
            <p:cNvPr id="115720" name="Picture 7" descr="book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5721" name="Rectangle 8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  <a:endParaRPr lang="en-US" altLang="en-US" sz="1200">
                <a:solidFill>
                  <a:srgbClr val="FFFFFF"/>
                </a:solidFill>
              </a:endParaRPr>
            </a:p>
          </p:txBody>
        </p:sp>
      </p:grpSp>
      <p:pic>
        <p:nvPicPr>
          <p:cNvPr id="11571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049"/>
          <a:stretch>
            <a:fillRect/>
          </a:stretch>
        </p:blipFill>
        <p:spPr bwMode="auto">
          <a:xfrm>
            <a:off x="2243138" y="3048000"/>
            <a:ext cx="803275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7" name="Text Box 9"/>
          <p:cNvSpPr txBox="1">
            <a:spLocks noChangeArrowheads="1"/>
          </p:cNvSpPr>
          <p:nvPr/>
        </p:nvSpPr>
        <p:spPr bwMode="auto">
          <a:xfrm>
            <a:off x="2492110" y="4602164"/>
            <a:ext cx="182774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Ideal Band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Reject Filter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15718" name="Text Box 10"/>
          <p:cNvSpPr txBox="1">
            <a:spLocks noChangeArrowheads="1"/>
          </p:cNvSpPr>
          <p:nvPr/>
        </p:nvSpPr>
        <p:spPr bwMode="auto">
          <a:xfrm>
            <a:off x="4974996" y="4602164"/>
            <a:ext cx="247696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Butterworth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Band Reject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Filter (of order 1)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15719" name="Text Box 11"/>
          <p:cNvSpPr txBox="1">
            <a:spLocks noChangeArrowheads="1"/>
          </p:cNvSpPr>
          <p:nvPr/>
        </p:nvSpPr>
        <p:spPr bwMode="auto">
          <a:xfrm>
            <a:off x="8108515" y="4602164"/>
            <a:ext cx="186301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>
                <a:solidFill>
                  <a:srgbClr val="000000"/>
                </a:solidFill>
              </a:rPr>
              <a:t>Gaussian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Band Reject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Filter</a:t>
            </a:r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962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Band Reject Filter Example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grpSp>
        <p:nvGrpSpPr>
          <p:cNvPr id="117762" name="Group 6"/>
          <p:cNvGrpSpPr>
            <a:grpSpLocks/>
          </p:cNvGrpSpPr>
          <p:nvPr/>
        </p:nvGrpSpPr>
        <p:grpSpPr bwMode="auto">
          <a:xfrm>
            <a:off x="1520825" y="1631951"/>
            <a:ext cx="260350" cy="5229225"/>
            <a:chOff x="-2" y="1034"/>
            <a:chExt cx="164" cy="3294"/>
          </a:xfrm>
        </p:grpSpPr>
        <p:pic>
          <p:nvPicPr>
            <p:cNvPr id="117768" name="Picture 7" descr="book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769" name="Rectangle 8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  <a:endParaRPr lang="en-US" altLang="en-US" sz="1200">
                <a:solidFill>
                  <a:srgbClr val="FFFFFF"/>
                </a:solidFill>
              </a:endParaRPr>
            </a:p>
          </p:txBody>
        </p:sp>
      </p:grpSp>
      <p:pic>
        <p:nvPicPr>
          <p:cNvPr id="11776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155"/>
          <a:stretch>
            <a:fillRect/>
          </a:stretch>
        </p:blipFill>
        <p:spPr bwMode="auto">
          <a:xfrm>
            <a:off x="3660775" y="2174876"/>
            <a:ext cx="5037138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7764" name="Text Box 9"/>
          <p:cNvSpPr txBox="1">
            <a:spLocks noChangeArrowheads="1"/>
          </p:cNvSpPr>
          <p:nvPr/>
        </p:nvSpPr>
        <p:spPr bwMode="auto">
          <a:xfrm>
            <a:off x="3686175" y="1517651"/>
            <a:ext cx="24399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2000">
                <a:solidFill>
                  <a:srgbClr val="000000"/>
                </a:solidFill>
              </a:rPr>
              <a:t>Image corrupted by sinusoidal noise</a:t>
            </a:r>
            <a:endParaRPr lang="en-US" altLang="en-US" sz="2000">
              <a:solidFill>
                <a:srgbClr val="000000"/>
              </a:solidFill>
            </a:endParaRPr>
          </a:p>
        </p:txBody>
      </p:sp>
      <p:sp>
        <p:nvSpPr>
          <p:cNvPr id="117765" name="Text Box 10"/>
          <p:cNvSpPr txBox="1">
            <a:spLocks noChangeArrowheads="1"/>
          </p:cNvSpPr>
          <p:nvPr/>
        </p:nvSpPr>
        <p:spPr bwMode="auto">
          <a:xfrm>
            <a:off x="6188075" y="1517651"/>
            <a:ext cx="24399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2000">
                <a:solidFill>
                  <a:srgbClr val="000000"/>
                </a:solidFill>
              </a:rPr>
              <a:t>Fourier spectrum of corrupted image</a:t>
            </a:r>
            <a:endParaRPr lang="en-US" altLang="en-US" sz="2000">
              <a:solidFill>
                <a:srgbClr val="000000"/>
              </a:solidFill>
            </a:endParaRPr>
          </a:p>
        </p:txBody>
      </p:sp>
      <p:sp>
        <p:nvSpPr>
          <p:cNvPr id="117766" name="Text Box 11"/>
          <p:cNvSpPr txBox="1">
            <a:spLocks noChangeArrowheads="1"/>
          </p:cNvSpPr>
          <p:nvPr/>
        </p:nvSpPr>
        <p:spPr bwMode="auto">
          <a:xfrm>
            <a:off x="3659189" y="5935664"/>
            <a:ext cx="2439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2000">
                <a:solidFill>
                  <a:srgbClr val="000000"/>
                </a:solidFill>
              </a:rPr>
              <a:t>Butterworth band reject filter</a:t>
            </a:r>
            <a:endParaRPr lang="en-US" altLang="en-US" sz="2000">
              <a:solidFill>
                <a:srgbClr val="000000"/>
              </a:solidFill>
            </a:endParaRPr>
          </a:p>
        </p:txBody>
      </p:sp>
      <p:sp>
        <p:nvSpPr>
          <p:cNvPr id="117767" name="Text Box 12"/>
          <p:cNvSpPr txBox="1">
            <a:spLocks noChangeArrowheads="1"/>
          </p:cNvSpPr>
          <p:nvPr/>
        </p:nvSpPr>
        <p:spPr bwMode="auto">
          <a:xfrm>
            <a:off x="6203950" y="5935664"/>
            <a:ext cx="24399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IE" altLang="en-US" sz="2000">
                <a:solidFill>
                  <a:srgbClr val="000000"/>
                </a:solidFill>
              </a:rPr>
              <a:t>Filtered image</a:t>
            </a:r>
            <a:endParaRPr lang="en-US" altLang="en-US" sz="2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249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mtClean="0">
                <a:ea typeface="ＭＳ Ｐゴシック" panose="020B0600070205080204" pitchFamily="34" charset="-128"/>
              </a:rPr>
              <a:t>Summary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1198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333500"/>
            <a:ext cx="8686800" cy="55245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In this lecture we will look at image restoration for noise removal</a:t>
            </a:r>
          </a:p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Restoration is slightly more objective than enhancement </a:t>
            </a:r>
          </a:p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Spatial domain techniques are particularly useful for removing random noise</a:t>
            </a:r>
          </a:p>
          <a:p>
            <a:pPr marL="0" indent="0" eaLnBrk="1" hangingPunct="1">
              <a:buNone/>
            </a:pPr>
            <a:r>
              <a:rPr lang="en-IE" altLang="en-US" smtClean="0">
                <a:ea typeface="ＭＳ Ｐゴシック" panose="020B0600070205080204" pitchFamily="34" charset="-128"/>
              </a:rPr>
              <a:t>Frequency domain techniques are particularly useful for removing periodic noise</a:t>
            </a:r>
          </a:p>
        </p:txBody>
      </p:sp>
    </p:spTree>
    <p:extLst>
      <p:ext uri="{BB962C8B-B14F-4D97-AF65-F5344CB8AC3E}">
        <p14:creationId xmlns:p14="http://schemas.microsoft.com/office/powerpoint/2010/main" val="2233517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Why we need image compression? </a:t>
            </a:r>
          </a:p>
        </p:txBody>
      </p:sp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614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138" y="1519238"/>
            <a:ext cx="89789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7299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 Image Compression </a:t>
            </a: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819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1757364"/>
            <a:ext cx="9061450" cy="420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56520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 Lossy Vs. Lossless Compression </a:t>
            </a:r>
          </a:p>
        </p:txBody>
      </p:sp>
      <p:sp>
        <p:nvSpPr>
          <p:cNvPr id="1024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1024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476" y="1581151"/>
            <a:ext cx="8969375" cy="447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00647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 Image Compression </a:t>
            </a:r>
          </a:p>
        </p:txBody>
      </p:sp>
      <p:sp>
        <p:nvSpPr>
          <p:cNvPr id="1229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1229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50988"/>
            <a:ext cx="902493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20239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 Image Compression </a:t>
            </a:r>
          </a:p>
        </p:txBody>
      </p:sp>
      <p:sp>
        <p:nvSpPr>
          <p:cNvPr id="1433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1434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5913" y="1682750"/>
            <a:ext cx="8997950" cy="438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219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 Coding Redundancy </a:t>
            </a:r>
          </a:p>
        </p:txBody>
      </p:sp>
      <p:sp>
        <p:nvSpPr>
          <p:cNvPr id="1638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1638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1565276"/>
            <a:ext cx="9080500" cy="475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12505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 Coding Redundancy </a:t>
            </a:r>
          </a:p>
        </p:txBody>
      </p:sp>
      <p:sp>
        <p:nvSpPr>
          <p:cNvPr id="1843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1843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51" y="1327151"/>
            <a:ext cx="8861425" cy="539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74027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 Coding Redundancy </a:t>
            </a:r>
          </a:p>
        </p:txBody>
      </p:sp>
      <p:sp>
        <p:nvSpPr>
          <p:cNvPr id="2048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2048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6" y="1778000"/>
            <a:ext cx="8842375" cy="407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35793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 Coding Redundancy </a:t>
            </a:r>
          </a:p>
        </p:txBody>
      </p:sp>
      <p:sp>
        <p:nvSpPr>
          <p:cNvPr id="2253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2253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788" y="1525589"/>
            <a:ext cx="9034462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1475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 Huffman coding</a:t>
            </a:r>
          </a:p>
        </p:txBody>
      </p:sp>
      <p:sp>
        <p:nvSpPr>
          <p:cNvPr id="2457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2458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2768601"/>
            <a:ext cx="8623300" cy="201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15527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 Huffman coding</a:t>
            </a:r>
          </a:p>
        </p:txBody>
      </p:sp>
      <p:sp>
        <p:nvSpPr>
          <p:cNvPr id="2662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2662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1385889"/>
            <a:ext cx="9043988" cy="539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23906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 Huffman coding</a:t>
            </a:r>
          </a:p>
        </p:txBody>
      </p:sp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2867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989" y="1198564"/>
            <a:ext cx="9051925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867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526" y="5599114"/>
            <a:ext cx="6988175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3907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 Interpixel / Interframe Redundancy</a:t>
            </a:r>
          </a:p>
        </p:txBody>
      </p:sp>
      <p:sp>
        <p:nvSpPr>
          <p:cNvPr id="3072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3072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976" y="1190625"/>
            <a:ext cx="8924925" cy="561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03317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 Interpixel / Interframe Redundancy</a:t>
            </a:r>
          </a:p>
        </p:txBody>
      </p:sp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3277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1" y="1490664"/>
            <a:ext cx="9007475" cy="515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88175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 Interpixel / Interframe Redundancy</a:t>
            </a:r>
          </a:p>
        </p:txBody>
      </p:sp>
      <p:sp>
        <p:nvSpPr>
          <p:cNvPr id="3481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3482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300" y="1295401"/>
            <a:ext cx="8193088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3482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5675313"/>
            <a:ext cx="2660650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34822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864" y="5700714"/>
            <a:ext cx="2611437" cy="101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91696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 Run Length Coding</a:t>
            </a:r>
          </a:p>
        </p:txBody>
      </p:sp>
      <p:sp>
        <p:nvSpPr>
          <p:cNvPr id="3686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3686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350" y="1374775"/>
            <a:ext cx="8229600" cy="501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3686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313" y="3578225"/>
            <a:ext cx="2449512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17300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Psychovisual Redundancy</a:t>
            </a:r>
          </a:p>
        </p:txBody>
      </p:sp>
      <p:sp>
        <p:nvSpPr>
          <p:cNvPr id="3891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3891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1" y="1835151"/>
            <a:ext cx="9007475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60293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Psychovisual Redundancy</a:t>
            </a: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4096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789" y="1266825"/>
            <a:ext cx="898842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89253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Psychovisual Redundancy</a:t>
            </a:r>
          </a:p>
        </p:txBody>
      </p:sp>
      <p:sp>
        <p:nvSpPr>
          <p:cNvPr id="4301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430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25" y="1511301"/>
            <a:ext cx="9024938" cy="489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64878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Bit Plane Coding</a:t>
            </a:r>
          </a:p>
        </p:txBody>
      </p:sp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4506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388" y="1436688"/>
            <a:ext cx="8120062" cy="490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89890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Bit Plane Coding</a:t>
            </a:r>
          </a:p>
        </p:txBody>
      </p:sp>
      <p:sp>
        <p:nvSpPr>
          <p:cNvPr id="4710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4710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350" y="1355726"/>
            <a:ext cx="7854950" cy="534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84849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Gray Coded Bit Planes</a:t>
            </a:r>
          </a:p>
        </p:txBody>
      </p:sp>
      <p:sp>
        <p:nvSpPr>
          <p:cNvPr id="4915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4915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050" y="1452563"/>
            <a:ext cx="7818438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35362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Gray Coded Bit Planes</a:t>
            </a:r>
          </a:p>
        </p:txBody>
      </p:sp>
      <p:sp>
        <p:nvSpPr>
          <p:cNvPr id="5120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5120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789" y="1260475"/>
            <a:ext cx="805497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56198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Image Compression Models</a:t>
            </a:r>
          </a:p>
        </p:txBody>
      </p:sp>
      <p:sp>
        <p:nvSpPr>
          <p:cNvPr id="5325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5325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1" y="1530350"/>
            <a:ext cx="896937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18085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Source Encoder and Decoder Models</a:t>
            </a:r>
          </a:p>
        </p:txBody>
      </p:sp>
      <p:sp>
        <p:nvSpPr>
          <p:cNvPr id="5529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5530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089" y="1263650"/>
            <a:ext cx="8339137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7966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Error-Free Compression (Lossless)</a:t>
            </a:r>
          </a:p>
        </p:txBody>
      </p:sp>
      <p:sp>
        <p:nvSpPr>
          <p:cNvPr id="5734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5734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1308100"/>
            <a:ext cx="8604250" cy="384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24838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Lossless Predictive Coding Model</a:t>
            </a:r>
          </a:p>
        </p:txBody>
      </p:sp>
      <p:sp>
        <p:nvSpPr>
          <p:cNvPr id="5939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5939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388" y="1098550"/>
            <a:ext cx="89789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5939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850" y="4916488"/>
            <a:ext cx="2541588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59398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788" y="2511426"/>
            <a:ext cx="2881312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59399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1" y="5245101"/>
            <a:ext cx="43529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297479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Lossless Predictive Coding Model</a:t>
            </a:r>
          </a:p>
        </p:txBody>
      </p:sp>
      <p:sp>
        <p:nvSpPr>
          <p:cNvPr id="6144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6144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789" y="1393825"/>
            <a:ext cx="8823325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94446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Lossy Compression</a:t>
            </a:r>
          </a:p>
        </p:txBody>
      </p:sp>
      <p:sp>
        <p:nvSpPr>
          <p:cNvPr id="6349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6349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864" y="1312864"/>
            <a:ext cx="8942387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19989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Lossy Compression</a:t>
            </a:r>
          </a:p>
        </p:txBody>
      </p:sp>
      <p:sp>
        <p:nvSpPr>
          <p:cNvPr id="6553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6554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851" y="1336676"/>
            <a:ext cx="8988425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85313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Lossy Compression</a:t>
            </a:r>
          </a:p>
        </p:txBody>
      </p:sp>
      <p:sp>
        <p:nvSpPr>
          <p:cNvPr id="6758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6758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1" y="1600201"/>
            <a:ext cx="8951913" cy="447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26182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Lossy Compression</a:t>
            </a:r>
          </a:p>
        </p:txBody>
      </p:sp>
      <p:sp>
        <p:nvSpPr>
          <p:cNvPr id="6963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0" y="1397001"/>
          <a:ext cx="6324600" cy="393700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04337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-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-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-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9701" name="Object 3"/>
          <p:cNvGraphicFramePr>
            <a:graphicFrameLocks noChangeAspect="1"/>
          </p:cNvGraphicFramePr>
          <p:nvPr/>
        </p:nvGraphicFramePr>
        <p:xfrm>
          <a:off x="5410200" y="1447800"/>
          <a:ext cx="457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" name="Equation" r:id="rId4" imgW="164957" imgH="241091" progId="Equation.3">
                  <p:embed/>
                </p:oleObj>
              </mc:Choice>
              <mc:Fallback>
                <p:oleObj name="Equation" r:id="rId4" imgW="164957" imgH="241091" progId="Equation.3">
                  <p:embed/>
                  <p:pic>
                    <p:nvPicPr>
                      <p:cNvPr id="6970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447800"/>
                        <a:ext cx="4572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702" name="Object 5"/>
          <p:cNvGraphicFramePr>
            <a:graphicFrameLocks noChangeAspect="1"/>
          </p:cNvGraphicFramePr>
          <p:nvPr/>
        </p:nvGraphicFramePr>
        <p:xfrm>
          <a:off x="4343400" y="1489075"/>
          <a:ext cx="4572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2" name="Equation" r:id="rId6" imgW="164957" imgH="203024" progId="Equation.3">
                  <p:embed/>
                </p:oleObj>
              </mc:Choice>
              <mc:Fallback>
                <p:oleObj name="Equation" r:id="rId6" imgW="164957" imgH="203024" progId="Equation.3">
                  <p:embed/>
                  <p:pic>
                    <p:nvPicPr>
                      <p:cNvPr id="6970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489075"/>
                        <a:ext cx="457200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703" name="Object 6"/>
          <p:cNvGraphicFramePr>
            <a:graphicFrameLocks noChangeAspect="1"/>
          </p:cNvGraphicFramePr>
          <p:nvPr/>
        </p:nvGraphicFramePr>
        <p:xfrm>
          <a:off x="3475038" y="1608139"/>
          <a:ext cx="411162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3" name="Equation" r:id="rId8" imgW="114102" imgH="126780" progId="Equation.3">
                  <p:embed/>
                </p:oleObj>
              </mc:Choice>
              <mc:Fallback>
                <p:oleObj name="Equation" r:id="rId8" imgW="114102" imgH="126780" progId="Equation.3">
                  <p:embed/>
                  <p:pic>
                    <p:nvPicPr>
                      <p:cNvPr id="6970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5038" y="1608139"/>
                        <a:ext cx="411162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704" name="Object 7"/>
          <p:cNvGraphicFramePr>
            <a:graphicFrameLocks noChangeAspect="1"/>
          </p:cNvGraphicFramePr>
          <p:nvPr/>
        </p:nvGraphicFramePr>
        <p:xfrm>
          <a:off x="6488114" y="1524000"/>
          <a:ext cx="446087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4" name="Equation" r:id="rId10" imgW="152268" imgH="203024" progId="Equation.3">
                  <p:embed/>
                </p:oleObj>
              </mc:Choice>
              <mc:Fallback>
                <p:oleObj name="Equation" r:id="rId10" imgW="152268" imgH="203024" progId="Equation.3">
                  <p:embed/>
                  <p:pic>
                    <p:nvPicPr>
                      <p:cNvPr id="6970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8114" y="1524000"/>
                        <a:ext cx="446087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705" name="Object 8"/>
          <p:cNvGraphicFramePr>
            <a:graphicFrameLocks noChangeAspect="1"/>
          </p:cNvGraphicFramePr>
          <p:nvPr/>
        </p:nvGraphicFramePr>
        <p:xfrm>
          <a:off x="7402514" y="1524000"/>
          <a:ext cx="446087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5" name="Equation" r:id="rId12" imgW="152268" imgH="203024" progId="Equation.3">
                  <p:embed/>
                </p:oleObj>
              </mc:Choice>
              <mc:Fallback>
                <p:oleObj name="Equation" r:id="rId12" imgW="152268" imgH="203024" progId="Equation.3">
                  <p:embed/>
                  <p:pic>
                    <p:nvPicPr>
                      <p:cNvPr id="6970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2514" y="1524000"/>
                        <a:ext cx="446087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706" name="Object 9"/>
          <p:cNvGraphicFramePr>
            <a:graphicFrameLocks noChangeAspect="1"/>
          </p:cNvGraphicFramePr>
          <p:nvPr/>
        </p:nvGraphicFramePr>
        <p:xfrm>
          <a:off x="8458200" y="1462089"/>
          <a:ext cx="457200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6" name="Equation" r:id="rId14" imgW="165028" imgH="228501" progId="Equation.3">
                  <p:embed/>
                </p:oleObj>
              </mc:Choice>
              <mc:Fallback>
                <p:oleObj name="Equation" r:id="rId14" imgW="165028" imgH="228501" progId="Equation.3">
                  <p:embed/>
                  <p:pic>
                    <p:nvPicPr>
                      <p:cNvPr id="6970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1462089"/>
                        <a:ext cx="457200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707" name="Object 10"/>
          <p:cNvGraphicFramePr>
            <a:graphicFrameLocks noChangeAspect="1"/>
          </p:cNvGraphicFramePr>
          <p:nvPr/>
        </p:nvGraphicFramePr>
        <p:xfrm>
          <a:off x="3962401" y="5410200"/>
          <a:ext cx="457041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7" name="Equation" r:id="rId16" imgW="1295400" imgH="228600" progId="Equation.3">
                  <p:embed/>
                </p:oleObj>
              </mc:Choice>
              <mc:Fallback>
                <p:oleObj name="Equation" r:id="rId16" imgW="1295400" imgH="228600" progId="Equation.3">
                  <p:embed/>
                  <p:pic>
                    <p:nvPicPr>
                      <p:cNvPr id="6970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5410200"/>
                        <a:ext cx="4570413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21292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Lossy Compression</a:t>
            </a:r>
          </a:p>
        </p:txBody>
      </p:sp>
      <p:sp>
        <p:nvSpPr>
          <p:cNvPr id="7168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7168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76" y="1343026"/>
            <a:ext cx="8924925" cy="429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01292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Lossy Compression</a:t>
            </a:r>
          </a:p>
        </p:txBody>
      </p:sp>
      <p:sp>
        <p:nvSpPr>
          <p:cNvPr id="7373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7373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0" y="1419225"/>
            <a:ext cx="866775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14105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Lossy Compression</a:t>
            </a:r>
          </a:p>
        </p:txBody>
      </p:sp>
      <p:sp>
        <p:nvSpPr>
          <p:cNvPr id="7577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7578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1708150"/>
            <a:ext cx="9043988" cy="301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80950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Lossy Compression</a:t>
            </a:r>
          </a:p>
        </p:txBody>
      </p:sp>
      <p:sp>
        <p:nvSpPr>
          <p:cNvPr id="7782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7782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601" y="1447801"/>
            <a:ext cx="8969375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67545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Lossy Compression</a:t>
            </a:r>
          </a:p>
        </p:txBody>
      </p:sp>
      <p:sp>
        <p:nvSpPr>
          <p:cNvPr id="79874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0" y="1397001"/>
          <a:ext cx="6324600" cy="309880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04241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6" marB="4571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91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-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-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-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 marT="45716" marB="4571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91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 marT="45716" marB="4571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91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6" marB="4571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91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6" marB="4571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91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16" marB="4571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9926" name="Object 2"/>
          <p:cNvGraphicFramePr>
            <a:graphicFrameLocks noChangeAspect="1"/>
          </p:cNvGraphicFramePr>
          <p:nvPr/>
        </p:nvGraphicFramePr>
        <p:xfrm>
          <a:off x="5410200" y="1447800"/>
          <a:ext cx="457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5" name="Equation" r:id="rId4" imgW="164957" imgH="241091" progId="Equation.3">
                  <p:embed/>
                </p:oleObj>
              </mc:Choice>
              <mc:Fallback>
                <p:oleObj name="Equation" r:id="rId4" imgW="164957" imgH="241091" progId="Equation.3">
                  <p:embed/>
                  <p:pic>
                    <p:nvPicPr>
                      <p:cNvPr id="799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447800"/>
                        <a:ext cx="4572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27" name="Object 3"/>
          <p:cNvGraphicFramePr>
            <a:graphicFrameLocks noChangeAspect="1"/>
          </p:cNvGraphicFramePr>
          <p:nvPr/>
        </p:nvGraphicFramePr>
        <p:xfrm>
          <a:off x="4343400" y="1489075"/>
          <a:ext cx="4572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6" name="Equation" r:id="rId6" imgW="164957" imgH="203024" progId="Equation.3">
                  <p:embed/>
                </p:oleObj>
              </mc:Choice>
              <mc:Fallback>
                <p:oleObj name="Equation" r:id="rId6" imgW="164957" imgH="203024" progId="Equation.3">
                  <p:embed/>
                  <p:pic>
                    <p:nvPicPr>
                      <p:cNvPr id="799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489075"/>
                        <a:ext cx="457200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28" name="Object 4"/>
          <p:cNvGraphicFramePr>
            <a:graphicFrameLocks noChangeAspect="1"/>
          </p:cNvGraphicFramePr>
          <p:nvPr/>
        </p:nvGraphicFramePr>
        <p:xfrm>
          <a:off x="3475038" y="1608139"/>
          <a:ext cx="411162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7" name="Equation" r:id="rId8" imgW="114102" imgH="126780" progId="Equation.3">
                  <p:embed/>
                </p:oleObj>
              </mc:Choice>
              <mc:Fallback>
                <p:oleObj name="Equation" r:id="rId8" imgW="114102" imgH="126780" progId="Equation.3">
                  <p:embed/>
                  <p:pic>
                    <p:nvPicPr>
                      <p:cNvPr id="799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5038" y="1608139"/>
                        <a:ext cx="411162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29" name="Object 5"/>
          <p:cNvGraphicFramePr>
            <a:graphicFrameLocks noChangeAspect="1"/>
          </p:cNvGraphicFramePr>
          <p:nvPr/>
        </p:nvGraphicFramePr>
        <p:xfrm>
          <a:off x="6488114" y="1524000"/>
          <a:ext cx="446087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8" name="Equation" r:id="rId10" imgW="152268" imgH="203024" progId="Equation.3">
                  <p:embed/>
                </p:oleObj>
              </mc:Choice>
              <mc:Fallback>
                <p:oleObj name="Equation" r:id="rId10" imgW="152268" imgH="203024" progId="Equation.3">
                  <p:embed/>
                  <p:pic>
                    <p:nvPicPr>
                      <p:cNvPr id="799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8114" y="1524000"/>
                        <a:ext cx="446087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30" name="Object 6"/>
          <p:cNvGraphicFramePr>
            <a:graphicFrameLocks noChangeAspect="1"/>
          </p:cNvGraphicFramePr>
          <p:nvPr/>
        </p:nvGraphicFramePr>
        <p:xfrm>
          <a:off x="7402514" y="1524000"/>
          <a:ext cx="446087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9" name="Equation" r:id="rId12" imgW="152268" imgH="203024" progId="Equation.3">
                  <p:embed/>
                </p:oleObj>
              </mc:Choice>
              <mc:Fallback>
                <p:oleObj name="Equation" r:id="rId12" imgW="152268" imgH="203024" progId="Equation.3">
                  <p:embed/>
                  <p:pic>
                    <p:nvPicPr>
                      <p:cNvPr id="799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2514" y="1524000"/>
                        <a:ext cx="446087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31" name="Object 7"/>
          <p:cNvGraphicFramePr>
            <a:graphicFrameLocks noChangeAspect="1"/>
          </p:cNvGraphicFramePr>
          <p:nvPr/>
        </p:nvGraphicFramePr>
        <p:xfrm>
          <a:off x="8458200" y="1462089"/>
          <a:ext cx="457200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0" name="Equation" r:id="rId14" imgW="165028" imgH="228501" progId="Equation.3">
                  <p:embed/>
                </p:oleObj>
              </mc:Choice>
              <mc:Fallback>
                <p:oleObj name="Equation" r:id="rId14" imgW="165028" imgH="228501" progId="Equation.3">
                  <p:embed/>
                  <p:pic>
                    <p:nvPicPr>
                      <p:cNvPr id="7993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1462089"/>
                        <a:ext cx="457200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32" name="Object 8"/>
          <p:cNvGraphicFramePr>
            <a:graphicFrameLocks noChangeAspect="1"/>
          </p:cNvGraphicFramePr>
          <p:nvPr/>
        </p:nvGraphicFramePr>
        <p:xfrm>
          <a:off x="2606676" y="4572000"/>
          <a:ext cx="7527925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1" name="Equation" r:id="rId16" imgW="2133600" imgH="482600" progId="Equation.3">
                  <p:embed/>
                </p:oleObj>
              </mc:Choice>
              <mc:Fallback>
                <p:oleObj name="Equation" r:id="rId16" imgW="2133600" imgH="482600" progId="Equation.3">
                  <p:embed/>
                  <p:pic>
                    <p:nvPicPr>
                      <p:cNvPr id="799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676" y="4572000"/>
                        <a:ext cx="7527925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81846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Lossy Compression</a:t>
            </a:r>
          </a:p>
        </p:txBody>
      </p:sp>
      <p:sp>
        <p:nvSpPr>
          <p:cNvPr id="8192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8192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288" y="1284288"/>
            <a:ext cx="860425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8943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Lossless Vs. Lossy Coding</a:t>
            </a:r>
          </a:p>
        </p:txBody>
      </p:sp>
      <p:sp>
        <p:nvSpPr>
          <p:cNvPr id="8397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8397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6" y="1274763"/>
            <a:ext cx="859472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39305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 Transform Coding</a:t>
            </a:r>
          </a:p>
        </p:txBody>
      </p:sp>
      <p:sp>
        <p:nvSpPr>
          <p:cNvPr id="8601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8602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1" y="1363663"/>
            <a:ext cx="8805863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03531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  <a:cs typeface="Arial" panose="020B0604020202020204" pitchFamily="34" charset="0"/>
              </a:rPr>
              <a:t>Transform Coding</a:t>
            </a:r>
          </a:p>
        </p:txBody>
      </p:sp>
      <p:sp>
        <p:nvSpPr>
          <p:cNvPr id="8806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8806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1984376"/>
            <a:ext cx="8888412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7421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Hadamard Transform</a:t>
            </a:r>
          </a:p>
        </p:txBody>
      </p:sp>
      <p:sp>
        <p:nvSpPr>
          <p:cNvPr id="9011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9011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464" y="1284288"/>
            <a:ext cx="8842375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86496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Discrete Cosine Transform</a:t>
            </a:r>
          </a:p>
        </p:txBody>
      </p:sp>
      <p:sp>
        <p:nvSpPr>
          <p:cNvPr id="9216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9216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550" y="1319213"/>
            <a:ext cx="89154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05261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Transform Coding Example</a:t>
            </a:r>
          </a:p>
        </p:txBody>
      </p:sp>
      <p:sp>
        <p:nvSpPr>
          <p:cNvPr id="9421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942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3" y="1270000"/>
            <a:ext cx="808355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82831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IE" altLang="en-US" sz="4000">
                <a:solidFill>
                  <a:srgbClr val="FFFFFF"/>
                </a:solidFill>
              </a:rPr>
              <a:t>Transform Coding Example</a:t>
            </a:r>
          </a:p>
        </p:txBody>
      </p:sp>
      <p:sp>
        <p:nvSpPr>
          <p:cNvPr id="9625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2400">
              <a:solidFill>
                <a:srgbClr val="FFFF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96260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1295400"/>
            <a:ext cx="4476750" cy="377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261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650" y="5334000"/>
            <a:ext cx="6508750" cy="120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36767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riansTemplate">
  <a:themeElements>
    <a:clrScheme name="Brians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rians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2" charset="0"/>
          </a:defRPr>
        </a:defPPr>
      </a:lstStyle>
    </a:lnDef>
  </a:objectDefaults>
  <a:extraClrSchemeLst>
    <a:extraClrScheme>
      <a:clrScheme name="Brians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ans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ans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ans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ans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ans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ians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ians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ians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ians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ians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ians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charset="-128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2004</Words>
  <Application>Microsoft Office PowerPoint</Application>
  <PresentationFormat>Widescreen</PresentationFormat>
  <Paragraphs>999</Paragraphs>
  <Slides>102</Slides>
  <Notes>101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12" baseType="lpstr">
      <vt:lpstr>ＭＳ Ｐゴシック</vt:lpstr>
      <vt:lpstr>ＭＳ Ｐゴシック</vt:lpstr>
      <vt:lpstr>Arial</vt:lpstr>
      <vt:lpstr>Calibri</vt:lpstr>
      <vt:lpstr>Calibri Light</vt:lpstr>
      <vt:lpstr>Times New Roman</vt:lpstr>
      <vt:lpstr>Office Theme</vt:lpstr>
      <vt:lpstr>BriansTemplate</vt:lpstr>
      <vt:lpstr>1_Office Theme</vt:lpstr>
      <vt:lpstr>Equation</vt:lpstr>
      <vt:lpstr>Image Restoration and Compression</vt:lpstr>
      <vt:lpstr>What is Image Restoration?</vt:lpstr>
      <vt:lpstr>Noise and Images</vt:lpstr>
      <vt:lpstr>Noise and Images</vt:lpstr>
      <vt:lpstr>Noise and Images</vt:lpstr>
      <vt:lpstr>Noise and Images</vt:lpstr>
      <vt:lpstr>Noise and Images</vt:lpstr>
      <vt:lpstr>Noise Model</vt:lpstr>
      <vt:lpstr>Noise Corruption Example</vt:lpstr>
      <vt:lpstr>Noise Models</vt:lpstr>
      <vt:lpstr>Noise Models</vt:lpstr>
      <vt:lpstr>Noise Models</vt:lpstr>
      <vt:lpstr>Noise Models</vt:lpstr>
      <vt:lpstr>Noise Models</vt:lpstr>
      <vt:lpstr>Noise Models</vt:lpstr>
      <vt:lpstr>Noise Models</vt:lpstr>
      <vt:lpstr>Noise Models</vt:lpstr>
      <vt:lpstr>Noise Models</vt:lpstr>
      <vt:lpstr>Noise Example</vt:lpstr>
      <vt:lpstr>Noise Example (cont…)</vt:lpstr>
      <vt:lpstr>Noise Example (cont…)</vt:lpstr>
      <vt:lpstr>Noise Models</vt:lpstr>
      <vt:lpstr>Noise Models</vt:lpstr>
      <vt:lpstr>Noise Models</vt:lpstr>
      <vt:lpstr>Filtering to Remove Noise</vt:lpstr>
      <vt:lpstr>Noise Removal Example</vt:lpstr>
      <vt:lpstr>Other Means</vt:lpstr>
      <vt:lpstr>Other Means (cont…)</vt:lpstr>
      <vt:lpstr>Noise Removal Example</vt:lpstr>
      <vt:lpstr>Other Means (cont…)</vt:lpstr>
      <vt:lpstr>Noise Corruption Example</vt:lpstr>
      <vt:lpstr>Other Means (cont…)</vt:lpstr>
      <vt:lpstr>Noise Corruption Example</vt:lpstr>
      <vt:lpstr>Noise Removal Examples</vt:lpstr>
      <vt:lpstr>Noise Removal Examples (cont…)</vt:lpstr>
      <vt:lpstr>Noise Removal Examples (cont…)</vt:lpstr>
      <vt:lpstr>Contraharmonic Filter: Here Be Dragons</vt:lpstr>
      <vt:lpstr>Order Statistics Filters</vt:lpstr>
      <vt:lpstr>Median Filter</vt:lpstr>
      <vt:lpstr>Noise Corruption Example</vt:lpstr>
      <vt:lpstr>Max and Min Filter</vt:lpstr>
      <vt:lpstr>Noise Corruption Example</vt:lpstr>
      <vt:lpstr>Midpoint Filter</vt:lpstr>
      <vt:lpstr>Noise Corruption Example</vt:lpstr>
      <vt:lpstr>Alpha-Trimmed Mean Filter</vt:lpstr>
      <vt:lpstr>Alpha-Trimmed Mean Filter</vt:lpstr>
      <vt:lpstr>Alpha-Trimmed Mean Filter</vt:lpstr>
      <vt:lpstr>Noise Corruption Example</vt:lpstr>
      <vt:lpstr>Noise Removal Examples</vt:lpstr>
      <vt:lpstr>Noise Removal Examples (cont…)</vt:lpstr>
      <vt:lpstr>Noise Removal Examples (cont…)</vt:lpstr>
      <vt:lpstr>Periodic Noise</vt:lpstr>
      <vt:lpstr>Band Reject Filters</vt:lpstr>
      <vt:lpstr>Band Reject Filters</vt:lpstr>
      <vt:lpstr>Band Reject Filters (cont…)</vt:lpstr>
      <vt:lpstr>Band Reject Filter Example</vt:lpstr>
      <vt:lpstr>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nandan</dc:creator>
  <cp:lastModifiedBy>nandan</cp:lastModifiedBy>
  <cp:revision>3</cp:revision>
  <dcterms:created xsi:type="dcterms:W3CDTF">2023-01-05T16:19:19Z</dcterms:created>
  <dcterms:modified xsi:type="dcterms:W3CDTF">2023-01-28T16:31:46Z</dcterms:modified>
</cp:coreProperties>
</file>